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not just building a block — we're building it the RIGHT way. Every decision we make will meet WCAG 2.1 AA. We'll understand WHY each accessibility feature exists, not just copy-paste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nice-to-have. 1 in 6 people need accessible HTML to use the web. The WCAG stats on existing sites are grim — 97.4% have failures. When we build a block, we're baking HTML that could be used on thousands of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is the foundation of WCAG. Every single success criterion maps back to one of these 4 principles. When you're unsure if something is accessible, ask: can the user perceive it, operate it, understand it, and will it work with their assistive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targeting WCAG 2.1 Level AA — it's the legal baseline in the EU, UK, Australia, and increasingly the US. WCAG 2.2 added new criteria in 2023; the most relevant for our block are 2.4.11 (Focus Not Obscured) and 2.4.12 (Focus Not Obscured Enhanced). We'll implement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readers don't see CSS. They traverse the DOM and announce elements by their type. A &lt;div&gt; is completely meaningless. An &lt;h2&gt; tells the user 'this is a heading, level 2.' A &lt;section role=region aria-label=Notice&gt; tells the user they've entered a landmark region called Notice. This is WCAG 1.3.1 Info and Relationships and 4.1.2 Name, Role,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 stands for Accessible Rich Internet Applications. It's a set of HTML attributes that communicate to assistive technologies what something IS and what STATE it's in. The golden rule: always prefer a native HTML element (&lt;button&gt;, &lt;h2&gt;, &lt;nav&gt;) over ARIA. ARIA should fill gaps, not replace proper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is measured as a ratio between foreground and background luminance. 4.5:1 is the AA requirement for body text. You can check ratios with the WebAIM Contrast Checker or the browser devtools accessibility panel. The WordPress core colour palette is pre-checked, but custom colours need manual verification. Also new in WCAG 2.2: focus indicators themselves must have 3:1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 requires all functionality be accessible by keyboard alone. 2.4.7 requires focus to be visible. 2.4.11 (new in 2.2) says the focused element must not be entirely hidden by sticky headers or overlays. In the WordPress block editor, useBlockProps handles much of the editor-side focus management. But any interactive elements you add — buttons, dropdowns — need proper focus styles and keyboard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readers like NVDA (Windows, free), JAWS (Windows, paid), VoiceOver (macOS/iOS, built-in), and TalkBack (Android) all use the browser's accessibility tree. They don't read CSS, they don't see visual layout — they hear the semantic structure. Test with NVDA + Firefox or VoiceOver + Safari for the most representative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4.1.3 (Status Messages) is often overlooked. If your block changes its content dynamically — say a countdown, or a 'saved' confirmation — that change must be announced to screen readers even if focus doesn't move. aria-live='polite' is the tool. Use assertive only for real emergencies — it's very disruptive.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blindness affects about 8% of men and 0.5% of women. WCAG 1.4.1 says colour alone can't convey meaning. For your notice block: if you offer notice 'types' (error, warning, info, success), each type needs a visual differentiator beyond colour — an icon, a text prefix, or a different border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 Non-text content is a Level A requirement — the minimum. The most common failure is missing alt text. The second most common is wrong alt text (describing appearance rather than meaning, or just repeating the filename). Decorative images MUST have alt='' (empty) so screen readers skip them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tools are great for catching clear failures — missing alt text, low contrast, missing form labels. But they can't test whether your keyboard navigation makes logical sense, or whether a screen reader announces things in a useful order. You MUST do manual testing. The keyboard tab test is the fastest and most revealing — just put your mouse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accessible block. Key points: 1) InspectorControls gives the noticeType setting a proper label in the sidebar — it's keyboard accessible and announced correctly. 2) The icon in save.js has aria-hidden=true because the noticeType is already in the aria-label. No duplicate announcements. 3) aria-live=polite means if the content changes, screen readers will be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or share the handout checklist. Before merging any block PR, run through all six categories. The checkbox pattern is intentional — it should be a literal checklist in code review. Tools like axe-core can be added to your Jest tests for automated CI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1.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5852160" y="-1097280"/>
            <a:ext cx="5029200" cy="5029200"/>
          </a:xfrm>
          <a:prstGeom prst="ellipse">
            <a:avLst/>
          </a:prstGeom>
          <a:solidFill>
            <a:srgbClr val="0EA5A0">
              <a:alpha val="12000"/>
            </a:srgbClr>
          </a:solidFill>
          <a:ln w="12700">
            <a:solidFill>
              <a:srgbClr val="0EA5A0">
                <a:alpha val="12000"/>
              </a:srgbClr>
            </a:solidFill>
            <a:prstDash val="solid"/>
          </a:ln>
        </p:spPr>
      </p:sp>
      <p:sp>
        <p:nvSpPr>
          <p:cNvPr id="3" name="Shape 1"/>
          <p:cNvSpPr/>
          <p:nvPr/>
        </p:nvSpPr>
        <p:spPr>
          <a:xfrm>
            <a:off x="6583680" y="-457200"/>
            <a:ext cx="3474720" cy="3474720"/>
          </a:xfrm>
          <a:prstGeom prst="ellipse">
            <a:avLst/>
          </a:prstGeom>
          <a:solidFill>
            <a:srgbClr val="0EA5A0">
              <a:alpha val="22000"/>
            </a:srgbClr>
          </a:solidFill>
          <a:ln w="12700">
            <a:solidFill>
              <a:srgbClr val="0EA5A0">
                <a:alpha val="22000"/>
              </a:srgbClr>
            </a:solidFill>
            <a:prstDash val="solid"/>
          </a:ln>
        </p:spPr>
      </p:sp>
      <p:sp>
        <p:nvSpPr>
          <p:cNvPr id="4" name="Shape 2"/>
          <p:cNvSpPr/>
          <p:nvPr/>
        </p:nvSpPr>
        <p:spPr>
          <a:xfrm>
            <a:off x="457200" y="548640"/>
            <a:ext cx="3474720" cy="329184"/>
          </a:xfrm>
          <a:prstGeom prst="roundRect">
            <a:avLst>
              <a:gd name="adj" fmla="val 13889"/>
            </a:avLst>
          </a:prstGeom>
          <a:solidFill>
            <a:srgbClr val="0EA5A0"/>
          </a:solidFill>
          <a:ln w="12700">
            <a:solidFill>
              <a:srgbClr val="0EA5A0"/>
            </a:solidFill>
            <a:prstDash val="solid"/>
          </a:ln>
        </p:spPr>
      </p:sp>
      <p:sp>
        <p:nvSpPr>
          <p:cNvPr id="5" name="Text 3"/>
          <p:cNvSpPr/>
          <p:nvPr/>
        </p:nvSpPr>
        <p:spPr>
          <a:xfrm>
            <a:off x="457200" y="548640"/>
            <a:ext cx="3474720" cy="329184"/>
          </a:xfrm>
          <a:prstGeom prst="rect">
            <a:avLst/>
          </a:prstGeom>
          <a:noFill/>
          <a:ln/>
        </p:spPr>
        <p:txBody>
          <a:bodyPr wrap="square" lIns="0" tIns="0" rIns="0" bIns="0" rtlCol="0" anchor="ctr"/>
          <a:lstStyle/>
          <a:p>
            <a:pPr algn="ctr" indent="0" marL="0">
              <a:buNone/>
            </a:pPr>
            <a:r>
              <a:rPr lang="en-US" sz="800" b="1" spc="100" kern="0" dirty="0">
                <a:solidFill>
                  <a:srgbClr val="0D1B2A"/>
                </a:solidFill>
              </a:rPr>
              <a:t>WORDPRESS ACCESSIBILITY DAY 2026</a:t>
            </a:r>
            <a:endParaRPr lang="en-US" sz="800" dirty="0"/>
          </a:p>
        </p:txBody>
      </p:sp>
      <p:sp>
        <p:nvSpPr>
          <p:cNvPr id="6" name="Text 4"/>
          <p:cNvSpPr/>
          <p:nvPr/>
        </p:nvSpPr>
        <p:spPr>
          <a:xfrm>
            <a:off x="457200" y="1097280"/>
            <a:ext cx="7132320" cy="2011680"/>
          </a:xfrm>
          <a:prstGeom prst="rect">
            <a:avLst/>
          </a:prstGeom>
          <a:noFill/>
          <a:ln/>
        </p:spPr>
        <p:txBody>
          <a:bodyPr wrap="square" rtlCol="0" anchor="ctr"/>
          <a:lstStyle/>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Building Your First</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Accessible Gutenberg Block</a:t>
            </a:r>
            <a:endParaRPr lang="en-US" sz="3800" dirty="0"/>
          </a:p>
        </p:txBody>
      </p:sp>
      <p:sp>
        <p:nvSpPr>
          <p:cNvPr id="7" name="Text 5"/>
          <p:cNvSpPr/>
          <p:nvPr/>
        </p:nvSpPr>
        <p:spPr>
          <a:xfrm>
            <a:off x="457200" y="3200400"/>
            <a:ext cx="6858000" cy="457200"/>
          </a:xfrm>
          <a:prstGeom prst="rect">
            <a:avLst/>
          </a:prstGeom>
          <a:noFill/>
          <a:ln/>
        </p:spPr>
        <p:txBody>
          <a:bodyPr wrap="square" rtlCol="0" anchor="ctr"/>
          <a:lstStyle/>
          <a:p>
            <a:pPr indent="0" marL="0">
              <a:buNone/>
            </a:pPr>
            <a:r>
              <a:rPr lang="en-US" sz="1400" i="1" dirty="0">
                <a:solidFill>
                  <a:srgbClr val="8DA6B8"/>
                </a:solidFill>
              </a:rPr>
              <a:t>Real accessibility, not an afterthought — WCAG 2.1 AA from line one.</a:t>
            </a:r>
            <a:endParaRPr lang="en-US" sz="1400" dirty="0"/>
          </a:p>
        </p:txBody>
      </p:sp>
      <p:sp>
        <p:nvSpPr>
          <p:cNvPr id="8" name="Text 6"/>
          <p:cNvSpPr/>
          <p:nvPr/>
        </p:nvSpPr>
        <p:spPr>
          <a:xfrm>
            <a:off x="457200" y="3931920"/>
            <a:ext cx="3657600" cy="365760"/>
          </a:xfrm>
          <a:prstGeom prst="rect">
            <a:avLst/>
          </a:prstGeom>
          <a:noFill/>
          <a:ln/>
        </p:spPr>
        <p:txBody>
          <a:bodyPr wrap="square" rtlCol="0" anchor="ctr"/>
          <a:lstStyle/>
          <a:p>
            <a:pPr indent="0" marL="0">
              <a:buNone/>
            </a:pPr>
            <a:r>
              <a:rPr lang="en-US" sz="1300" b="1" dirty="0">
                <a:solidFill>
                  <a:srgbClr val="0EA5A0"/>
                </a:solidFill>
              </a:rPr>
              <a:t>Emilio Dominguez</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THE CASE FOR ACCESSIBILITY</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Why your block's HTML is critical</a:t>
            </a:r>
            <a:endParaRPr lang="en-US" sz="2800" dirty="0"/>
          </a:p>
        </p:txBody>
      </p:sp>
      <p:sp>
        <p:nvSpPr>
          <p:cNvPr id="4" name="Shape 2"/>
          <p:cNvSpPr/>
          <p:nvPr/>
        </p:nvSpPr>
        <p:spPr>
          <a:xfrm>
            <a:off x="365760" y="1280160"/>
            <a:ext cx="2011680" cy="3200400"/>
          </a:xfrm>
          <a:prstGeom prst="roundRect">
            <a:avLst>
              <a:gd name="adj" fmla="val 4545"/>
            </a:avLst>
          </a:prstGeom>
          <a:solidFill>
            <a:srgbClr val="1A2D3F"/>
          </a:solidFill>
          <a:ln w="19050">
            <a:solidFill>
              <a:srgbClr val="0EA5A0"/>
            </a:solidFill>
            <a:prstDash val="solid"/>
          </a:ln>
          <a:effectLst>
            <a:outerShdw sx="100000" sy="100000" kx="0" ky="0" algn="bl" rotWithShape="0" blurRad="63500" dist="25400" dir="2700000">
              <a:srgbClr val="000000">
                <a:alpha val="14000"/>
              </a:srgbClr>
            </a:outerShdw>
          </a:effectLst>
        </p:spPr>
      </p:sp>
      <p:sp>
        <p:nvSpPr>
          <p:cNvPr id="5" name="Text 3"/>
          <p:cNvSpPr/>
          <p:nvPr/>
        </p:nvSpPr>
        <p:spPr>
          <a:xfrm>
            <a:off x="365760" y="1508760"/>
            <a:ext cx="2011680" cy="731520"/>
          </a:xfrm>
          <a:prstGeom prst="rect">
            <a:avLst/>
          </a:prstGeom>
          <a:noFill/>
          <a:ln/>
        </p:spPr>
        <p:txBody>
          <a:bodyPr wrap="square" rtlCol="0" anchor="ctr"/>
          <a:lstStyle/>
          <a:p>
            <a:pPr algn="ctr" indent="0" marL="0">
              <a:buNone/>
            </a:pPr>
            <a:r>
              <a:rPr lang="en-US" sz="2800" b="1" dirty="0">
                <a:solidFill>
                  <a:srgbClr val="0EA5A0"/>
                </a:solidFill>
                <a:latin typeface="Cambria" pitchFamily="34" charset="0"/>
                <a:ea typeface="Cambria" pitchFamily="34" charset="-122"/>
                <a:cs typeface="Cambria" pitchFamily="34" charset="-120"/>
              </a:rPr>
              <a:t>1 in 6</a:t>
            </a:r>
            <a:endParaRPr lang="en-US" sz="2800" dirty="0"/>
          </a:p>
        </p:txBody>
      </p:sp>
      <p:sp>
        <p:nvSpPr>
          <p:cNvPr id="6" name="Text 4"/>
          <p:cNvSpPr/>
          <p:nvPr/>
        </p:nvSpPr>
        <p:spPr>
          <a:xfrm>
            <a:off x="365760" y="2331720"/>
            <a:ext cx="2011680" cy="1005840"/>
          </a:xfrm>
          <a:prstGeom prst="rect">
            <a:avLst/>
          </a:prstGeom>
          <a:noFill/>
          <a:ln/>
        </p:spPr>
        <p:txBody>
          <a:bodyPr wrap="square" rtlCol="0" anchor="ctr"/>
          <a:lstStyle/>
          <a:p>
            <a:pPr algn="ctr" indent="0" marL="0">
              <a:lnSpc>
                <a:spcPct val="130000"/>
              </a:lnSpc>
              <a:buNone/>
            </a:pPr>
            <a:r>
              <a:rPr lang="en-US" sz="1100" dirty="0">
                <a:solidFill>
                  <a:srgbClr val="FFFFFF"/>
                </a:solidFill>
              </a:rPr>
              <a:t>people worldwide</a:t>
            </a:r>
            <a:endParaRPr lang="en-US" sz="1100" dirty="0"/>
          </a:p>
          <a:p>
            <a:pPr algn="ctr" indent="0" marL="0">
              <a:lnSpc>
                <a:spcPct val="130000"/>
              </a:lnSpc>
              <a:buNone/>
            </a:pPr>
            <a:r>
              <a:rPr lang="en-US" sz="1100" dirty="0">
                <a:solidFill>
                  <a:srgbClr val="FFFFFF"/>
                </a:solidFill>
              </a:rPr>
              <a:t>have a disability</a:t>
            </a:r>
            <a:endParaRPr lang="en-US" sz="1100" dirty="0"/>
          </a:p>
        </p:txBody>
      </p:sp>
      <p:sp>
        <p:nvSpPr>
          <p:cNvPr id="7" name="Shape 5"/>
          <p:cNvSpPr/>
          <p:nvPr/>
        </p:nvSpPr>
        <p:spPr>
          <a:xfrm>
            <a:off x="2560320" y="1280160"/>
            <a:ext cx="2011680" cy="3200400"/>
          </a:xfrm>
          <a:prstGeom prst="roundRect">
            <a:avLst>
              <a:gd name="adj" fmla="val 4545"/>
            </a:avLst>
          </a:prstGeom>
          <a:solidFill>
            <a:srgbClr val="1A2D3F"/>
          </a:solidFill>
          <a:ln w="19050">
            <a:solidFill>
              <a:srgbClr val="F0A500"/>
            </a:solidFill>
            <a:prstDash val="solid"/>
          </a:ln>
          <a:effectLst>
            <a:outerShdw sx="100000" sy="100000" kx="0" ky="0" algn="bl" rotWithShape="0" blurRad="63500" dist="25400" dir="2700000">
              <a:srgbClr val="000000">
                <a:alpha val="14000"/>
              </a:srgbClr>
            </a:outerShdw>
          </a:effectLst>
        </p:spPr>
      </p:sp>
      <p:sp>
        <p:nvSpPr>
          <p:cNvPr id="8" name="Text 6"/>
          <p:cNvSpPr/>
          <p:nvPr/>
        </p:nvSpPr>
        <p:spPr>
          <a:xfrm>
            <a:off x="2560320" y="1508760"/>
            <a:ext cx="2011680" cy="731520"/>
          </a:xfrm>
          <a:prstGeom prst="rect">
            <a:avLst/>
          </a:prstGeom>
          <a:noFill/>
          <a:ln/>
        </p:spPr>
        <p:txBody>
          <a:bodyPr wrap="square" rtlCol="0" anchor="ctr"/>
          <a:lstStyle/>
          <a:p>
            <a:pPr algn="ctr" indent="0" marL="0">
              <a:buNone/>
            </a:pPr>
            <a:r>
              <a:rPr lang="en-US" sz="2800" b="1" dirty="0">
                <a:solidFill>
                  <a:srgbClr val="F0A500"/>
                </a:solidFill>
                <a:latin typeface="Cambria" pitchFamily="34" charset="0"/>
                <a:ea typeface="Cambria" pitchFamily="34" charset="-122"/>
                <a:cs typeface="Cambria" pitchFamily="34" charset="-120"/>
              </a:rPr>
              <a:t>97.4%</a:t>
            </a:r>
            <a:endParaRPr lang="en-US" sz="2800" dirty="0"/>
          </a:p>
        </p:txBody>
      </p:sp>
      <p:sp>
        <p:nvSpPr>
          <p:cNvPr id="9" name="Text 7"/>
          <p:cNvSpPr/>
          <p:nvPr/>
        </p:nvSpPr>
        <p:spPr>
          <a:xfrm>
            <a:off x="2560320" y="2331720"/>
            <a:ext cx="2011680" cy="1005840"/>
          </a:xfrm>
          <a:prstGeom prst="rect">
            <a:avLst/>
          </a:prstGeom>
          <a:noFill/>
          <a:ln/>
        </p:spPr>
        <p:txBody>
          <a:bodyPr wrap="square" rtlCol="0" anchor="ctr"/>
          <a:lstStyle/>
          <a:p>
            <a:pPr algn="ctr" indent="0" marL="0">
              <a:lnSpc>
                <a:spcPct val="130000"/>
              </a:lnSpc>
              <a:buNone/>
            </a:pPr>
            <a:r>
              <a:rPr lang="en-US" sz="1100" dirty="0">
                <a:solidFill>
                  <a:srgbClr val="FFFFFF"/>
                </a:solidFill>
              </a:rPr>
              <a:t>of home pages have</a:t>
            </a:r>
            <a:endParaRPr lang="en-US" sz="1100" dirty="0"/>
          </a:p>
          <a:p>
            <a:pPr algn="ctr" indent="0" marL="0">
              <a:lnSpc>
                <a:spcPct val="130000"/>
              </a:lnSpc>
              <a:buNone/>
            </a:pPr>
            <a:r>
              <a:rPr lang="en-US" sz="1100" dirty="0">
                <a:solidFill>
                  <a:srgbClr val="FFFFFF"/>
                </a:solidFill>
              </a:rPr>
              <a:t>WCAG failures</a:t>
            </a:r>
            <a:endParaRPr lang="en-US" sz="1100" dirty="0"/>
          </a:p>
        </p:txBody>
      </p:sp>
      <p:sp>
        <p:nvSpPr>
          <p:cNvPr id="10" name="Shape 8"/>
          <p:cNvSpPr/>
          <p:nvPr/>
        </p:nvSpPr>
        <p:spPr>
          <a:xfrm>
            <a:off x="4754880" y="1280160"/>
            <a:ext cx="2011680" cy="3200400"/>
          </a:xfrm>
          <a:prstGeom prst="roundRect">
            <a:avLst>
              <a:gd name="adj" fmla="val 4545"/>
            </a:avLst>
          </a:prstGeom>
          <a:solidFill>
            <a:srgbClr val="1A2D3F"/>
          </a:solidFill>
          <a:ln w="19050">
            <a:solidFill>
              <a:srgbClr val="EF4444"/>
            </a:solidFill>
            <a:prstDash val="solid"/>
          </a:ln>
          <a:effectLst>
            <a:outerShdw sx="100000" sy="100000" kx="0" ky="0" algn="bl" rotWithShape="0" blurRad="63500" dist="25400" dir="2700000">
              <a:srgbClr val="000000">
                <a:alpha val="14000"/>
              </a:srgbClr>
            </a:outerShdw>
          </a:effectLst>
        </p:spPr>
      </p:sp>
      <p:sp>
        <p:nvSpPr>
          <p:cNvPr id="11" name="Text 9"/>
          <p:cNvSpPr/>
          <p:nvPr/>
        </p:nvSpPr>
        <p:spPr>
          <a:xfrm>
            <a:off x="4754880" y="1508760"/>
            <a:ext cx="2011680" cy="731520"/>
          </a:xfrm>
          <a:prstGeom prst="rect">
            <a:avLst/>
          </a:prstGeom>
          <a:noFill/>
          <a:ln/>
        </p:spPr>
        <p:txBody>
          <a:bodyPr wrap="square" rtlCol="0" anchor="ctr"/>
          <a:lstStyle/>
          <a:p>
            <a:pPr algn="ctr" indent="0" marL="0">
              <a:buNone/>
            </a:pPr>
            <a:r>
              <a:rPr lang="en-US" sz="2800" b="1" dirty="0">
                <a:solidFill>
                  <a:srgbClr val="EF4444"/>
                </a:solidFill>
                <a:latin typeface="Cambria" pitchFamily="34" charset="0"/>
                <a:ea typeface="Cambria" pitchFamily="34" charset="-122"/>
                <a:cs typeface="Cambria" pitchFamily="34" charset="-120"/>
              </a:rPr>
              <a:t>$13B</a:t>
            </a:r>
            <a:endParaRPr lang="en-US" sz="2800" dirty="0"/>
          </a:p>
        </p:txBody>
      </p:sp>
      <p:sp>
        <p:nvSpPr>
          <p:cNvPr id="12" name="Text 10"/>
          <p:cNvSpPr/>
          <p:nvPr/>
        </p:nvSpPr>
        <p:spPr>
          <a:xfrm>
            <a:off x="4754880" y="2331720"/>
            <a:ext cx="2011680" cy="1005840"/>
          </a:xfrm>
          <a:prstGeom prst="rect">
            <a:avLst/>
          </a:prstGeom>
          <a:noFill/>
          <a:ln/>
        </p:spPr>
        <p:txBody>
          <a:bodyPr wrap="square" rtlCol="0" anchor="ctr"/>
          <a:lstStyle/>
          <a:p>
            <a:pPr algn="ctr" indent="0" marL="0">
              <a:lnSpc>
                <a:spcPct val="130000"/>
              </a:lnSpc>
              <a:buNone/>
            </a:pPr>
            <a:r>
              <a:rPr lang="en-US" sz="1100" dirty="0">
                <a:solidFill>
                  <a:srgbClr val="FFFFFF"/>
                </a:solidFill>
              </a:rPr>
              <a:t>annual e-commerce</a:t>
            </a:r>
            <a:endParaRPr lang="en-US" sz="1100" dirty="0"/>
          </a:p>
          <a:p>
            <a:pPr algn="ctr" indent="0" marL="0">
              <a:lnSpc>
                <a:spcPct val="130000"/>
              </a:lnSpc>
              <a:buNone/>
            </a:pPr>
            <a:r>
              <a:rPr lang="en-US" sz="1100" dirty="0">
                <a:solidFill>
                  <a:srgbClr val="FFFFFF"/>
                </a:solidFill>
              </a:rPr>
              <a:t>lost to inaccessibility</a:t>
            </a:r>
            <a:endParaRPr lang="en-US" sz="1100" dirty="0"/>
          </a:p>
        </p:txBody>
      </p:sp>
      <p:sp>
        <p:nvSpPr>
          <p:cNvPr id="13" name="Shape 11"/>
          <p:cNvSpPr/>
          <p:nvPr/>
        </p:nvSpPr>
        <p:spPr>
          <a:xfrm>
            <a:off x="6949440" y="1280160"/>
            <a:ext cx="2011680" cy="3200400"/>
          </a:xfrm>
          <a:prstGeom prst="roundRect">
            <a:avLst>
              <a:gd name="adj" fmla="val 4545"/>
            </a:avLst>
          </a:prstGeom>
          <a:solidFill>
            <a:srgbClr val="1A2D3F"/>
          </a:solidFill>
          <a:ln w="19050">
            <a:solidFill>
              <a:srgbClr val="A78BFA"/>
            </a:solidFill>
            <a:prstDash val="solid"/>
          </a:ln>
          <a:effectLst>
            <a:outerShdw sx="100000" sy="100000" kx="0" ky="0" algn="bl" rotWithShape="0" blurRad="63500" dist="25400" dir="2700000">
              <a:srgbClr val="000000">
                <a:alpha val="14000"/>
              </a:srgbClr>
            </a:outerShdw>
          </a:effectLst>
        </p:spPr>
      </p:sp>
      <p:sp>
        <p:nvSpPr>
          <p:cNvPr id="14" name="Text 12"/>
          <p:cNvSpPr/>
          <p:nvPr/>
        </p:nvSpPr>
        <p:spPr>
          <a:xfrm>
            <a:off x="6949440" y="1508760"/>
            <a:ext cx="2011680" cy="731520"/>
          </a:xfrm>
          <a:prstGeom prst="rect">
            <a:avLst/>
          </a:prstGeom>
          <a:noFill/>
          <a:ln/>
        </p:spPr>
        <p:txBody>
          <a:bodyPr wrap="square" rtlCol="0" anchor="ctr"/>
          <a:lstStyle/>
          <a:p>
            <a:pPr algn="ctr" indent="0" marL="0">
              <a:buNone/>
            </a:pPr>
            <a:r>
              <a:rPr lang="en-US" sz="2800" b="1" dirty="0">
                <a:solidFill>
                  <a:srgbClr val="A78BFA"/>
                </a:solidFill>
                <a:latin typeface="Cambria" pitchFamily="34" charset="0"/>
                <a:ea typeface="Cambria" pitchFamily="34" charset="-122"/>
                <a:cs typeface="Cambria" pitchFamily="34" charset="-120"/>
              </a:rPr>
              <a:t>WCAG 2.2</a:t>
            </a:r>
            <a:endParaRPr lang="en-US" sz="2800" dirty="0"/>
          </a:p>
        </p:txBody>
      </p:sp>
      <p:sp>
        <p:nvSpPr>
          <p:cNvPr id="15" name="Text 13"/>
          <p:cNvSpPr/>
          <p:nvPr/>
        </p:nvSpPr>
        <p:spPr>
          <a:xfrm>
            <a:off x="6949440" y="2331720"/>
            <a:ext cx="2011680" cy="1005840"/>
          </a:xfrm>
          <a:prstGeom prst="rect">
            <a:avLst/>
          </a:prstGeom>
          <a:noFill/>
          <a:ln/>
        </p:spPr>
        <p:txBody>
          <a:bodyPr wrap="square" rtlCol="0" anchor="ctr"/>
          <a:lstStyle/>
          <a:p>
            <a:pPr algn="ctr" indent="0" marL="0">
              <a:lnSpc>
                <a:spcPct val="130000"/>
              </a:lnSpc>
              <a:buNone/>
            </a:pPr>
            <a:r>
              <a:rPr lang="en-US" sz="1100" dirty="0">
                <a:solidFill>
                  <a:srgbClr val="FFFFFF"/>
                </a:solidFill>
              </a:rPr>
              <a:t>is the current</a:t>
            </a:r>
            <a:endParaRPr lang="en-US" sz="1100" dirty="0"/>
          </a:p>
          <a:p>
            <a:pPr algn="ctr" indent="0" marL="0">
              <a:lnSpc>
                <a:spcPct val="130000"/>
              </a:lnSpc>
              <a:buNone/>
            </a:pPr>
            <a:r>
              <a:rPr lang="en-US" sz="1100" dirty="0">
                <a:solidFill>
                  <a:srgbClr val="FFFFFF"/>
                </a:solidFill>
              </a:rPr>
              <a:t>legal standard in 40+ countries</a:t>
            </a:r>
            <a:endParaRPr lang="en-US" sz="1100" dirty="0"/>
          </a:p>
        </p:txBody>
      </p:sp>
      <p:sp>
        <p:nvSpPr>
          <p:cNvPr id="16" name="Text 14"/>
          <p:cNvSpPr/>
          <p:nvPr/>
        </p:nvSpPr>
        <p:spPr>
          <a:xfrm>
            <a:off x="411480" y="4617720"/>
            <a:ext cx="8321040" cy="347472"/>
          </a:xfrm>
          <a:prstGeom prst="rect">
            <a:avLst/>
          </a:prstGeom>
          <a:noFill/>
          <a:ln/>
        </p:spPr>
        <p:txBody>
          <a:bodyPr wrap="square" rtlCol="0" anchor="ctr"/>
          <a:lstStyle/>
          <a:p>
            <a:pPr algn="ctr" indent="0" marL="0">
              <a:buNone/>
            </a:pPr>
            <a:r>
              <a:rPr lang="en-US" sz="1050" i="1" dirty="0">
                <a:solidFill>
                  <a:srgbClr val="8DA6B8"/>
                </a:solidFill>
              </a:rPr>
              <a:t>Your block generates HTML. That HTML is what screen readers, keyboard users, and assistive technology interact with.</a:t>
            </a:r>
            <a:endParaRPr lang="en-US" sz="1050" dirty="0"/>
          </a:p>
        </p:txBody>
      </p:sp>
      <p:sp>
        <p:nvSpPr>
          <p:cNvPr id="18" name="Text 15"/>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WCAG 2.1 / 2.2 — THE FRAMEWORK</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4 principles behind every rule</a:t>
            </a:r>
            <a:endParaRPr lang="en-US" sz="2800" dirty="0"/>
          </a:p>
        </p:txBody>
      </p:sp>
      <p:sp>
        <p:nvSpPr>
          <p:cNvPr id="4" name="Shape 2"/>
          <p:cNvSpPr/>
          <p:nvPr/>
        </p:nvSpPr>
        <p:spPr>
          <a:xfrm>
            <a:off x="320040" y="1234440"/>
            <a:ext cx="2057400" cy="3520440"/>
          </a:xfrm>
          <a:prstGeom prst="roundRect">
            <a:avLst>
              <a:gd name="adj" fmla="val 4444"/>
            </a:avLst>
          </a:prstGeom>
          <a:solidFill>
            <a:srgbClr val="1A2D3F"/>
          </a:solidFill>
          <a:ln w="25400">
            <a:solidFill>
              <a:srgbClr val="0EA5A0"/>
            </a:solidFill>
            <a:prstDash val="solid"/>
          </a:ln>
          <a:effectLst>
            <a:outerShdw sx="100000" sy="100000" kx="0" ky="0" algn="bl" rotWithShape="0" blurRad="63500" dist="25400" dir="2700000">
              <a:srgbClr val="000000">
                <a:alpha val="14000"/>
              </a:srgbClr>
            </a:outerShdw>
          </a:effectLst>
        </p:spPr>
      </p:sp>
      <p:sp>
        <p:nvSpPr>
          <p:cNvPr id="5" name="Shape 3"/>
          <p:cNvSpPr/>
          <p:nvPr/>
        </p:nvSpPr>
        <p:spPr>
          <a:xfrm>
            <a:off x="987552" y="1371600"/>
            <a:ext cx="731520" cy="731520"/>
          </a:xfrm>
          <a:prstGeom prst="ellipse">
            <a:avLst/>
          </a:prstGeom>
          <a:solidFill>
            <a:srgbClr val="0EA5A0"/>
          </a:solidFill>
          <a:ln w="12700">
            <a:solidFill>
              <a:srgbClr val="0EA5A0"/>
            </a:solidFill>
            <a:prstDash val="solid"/>
          </a:ln>
        </p:spPr>
      </p:sp>
      <p:sp>
        <p:nvSpPr>
          <p:cNvPr id="6" name="Text 4"/>
          <p:cNvSpPr/>
          <p:nvPr/>
        </p:nvSpPr>
        <p:spPr>
          <a:xfrm>
            <a:off x="987552" y="1371600"/>
            <a:ext cx="731520" cy="731520"/>
          </a:xfrm>
          <a:prstGeom prst="rect">
            <a:avLst/>
          </a:prstGeom>
          <a:noFill/>
          <a:ln/>
        </p:spPr>
        <p:txBody>
          <a:bodyPr wrap="square" rtlCol="0" anchor="ctr"/>
          <a:lstStyle/>
          <a:p>
            <a:pPr algn="ctr" indent="0" marL="0">
              <a:buNone/>
            </a:pPr>
            <a:r>
              <a:rPr lang="en-US" sz="2600" b="1" dirty="0">
                <a:solidFill>
                  <a:srgbClr val="0D1B2A"/>
                </a:solidFill>
                <a:latin typeface="Cambria" pitchFamily="34" charset="0"/>
                <a:ea typeface="Cambria" pitchFamily="34" charset="-122"/>
                <a:cs typeface="Cambria" pitchFamily="34" charset="-120"/>
              </a:rPr>
              <a:t>P</a:t>
            </a:r>
            <a:endParaRPr lang="en-US" sz="2600" dirty="0"/>
          </a:p>
        </p:txBody>
      </p:sp>
      <p:sp>
        <p:nvSpPr>
          <p:cNvPr id="7" name="Text 5"/>
          <p:cNvSpPr/>
          <p:nvPr/>
        </p:nvSpPr>
        <p:spPr>
          <a:xfrm>
            <a:off x="320040" y="2240280"/>
            <a:ext cx="2057400" cy="347472"/>
          </a:xfrm>
          <a:prstGeom prst="rect">
            <a:avLst/>
          </a:prstGeom>
          <a:noFill/>
          <a:ln/>
        </p:spPr>
        <p:txBody>
          <a:bodyPr wrap="square" rtlCol="0" anchor="ctr"/>
          <a:lstStyle/>
          <a:p>
            <a:pPr algn="ctr" indent="0" marL="0">
              <a:buNone/>
            </a:pPr>
            <a:r>
              <a:rPr lang="en-US" sz="1300" b="1" dirty="0">
                <a:solidFill>
                  <a:srgbClr val="0EA5A0"/>
                </a:solidFill>
              </a:rPr>
              <a:t>Perceivable</a:t>
            </a:r>
            <a:endParaRPr lang="en-US" sz="1300" dirty="0"/>
          </a:p>
        </p:txBody>
      </p:sp>
      <p:sp>
        <p:nvSpPr>
          <p:cNvPr id="8" name="Text 6"/>
          <p:cNvSpPr/>
          <p:nvPr/>
        </p:nvSpPr>
        <p:spPr>
          <a:xfrm>
            <a:off x="429768" y="2651760"/>
            <a:ext cx="1828800" cy="1920240"/>
          </a:xfrm>
          <a:prstGeom prst="rect">
            <a:avLst/>
          </a:prstGeom>
          <a:noFill/>
          <a:ln/>
        </p:spPr>
        <p:txBody>
          <a:bodyPr wrap="square" rtlCol="0" anchor="ctr"/>
          <a:lstStyle/>
          <a:p>
            <a:pPr algn="l" indent="0" marL="0">
              <a:lnSpc>
                <a:spcPct val="130000"/>
              </a:lnSpc>
              <a:buNone/>
            </a:pPr>
            <a:r>
              <a:rPr lang="en-US" sz="900" dirty="0">
                <a:solidFill>
                  <a:srgbClr val="8DA6B8"/>
                </a:solidFill>
              </a:rPr>
              <a:t>Users must be able to perceive all content — visually, audibly, or via touch.</a:t>
            </a:r>
            <a:endParaRPr lang="en-US" sz="900" dirty="0"/>
          </a:p>
          <a:p>
            <a:pPr algn="l" indent="0" marL="0">
              <a:lnSpc>
                <a:spcPct val="130000"/>
              </a:lnSpc>
              <a:buNone/>
            </a:pPr>
            <a:r>
              <a:rPr lang="en-US" sz="900" dirty="0">
                <a:solidFill>
                  <a:srgbClr val="8DA6B8"/>
                </a:solidFill>
              </a:rPr>
              <a:t>Key: alt text, captions, colour contrast, text resize</a:t>
            </a:r>
            <a:endParaRPr lang="en-US" sz="900" dirty="0"/>
          </a:p>
        </p:txBody>
      </p:sp>
      <p:sp>
        <p:nvSpPr>
          <p:cNvPr id="9" name="Shape 7"/>
          <p:cNvSpPr/>
          <p:nvPr/>
        </p:nvSpPr>
        <p:spPr>
          <a:xfrm>
            <a:off x="2532888" y="1234440"/>
            <a:ext cx="2057400" cy="3520440"/>
          </a:xfrm>
          <a:prstGeom prst="roundRect">
            <a:avLst>
              <a:gd name="adj" fmla="val 4444"/>
            </a:avLst>
          </a:prstGeom>
          <a:solidFill>
            <a:srgbClr val="1A2D3F"/>
          </a:solidFill>
          <a:ln w="25400">
            <a:solidFill>
              <a:srgbClr val="F0A500"/>
            </a:solidFill>
            <a:prstDash val="solid"/>
          </a:ln>
          <a:effectLst>
            <a:outerShdw sx="100000" sy="100000" kx="0" ky="0" algn="bl" rotWithShape="0" blurRad="63500" dist="25400" dir="2700000">
              <a:srgbClr val="000000">
                <a:alpha val="14000"/>
              </a:srgbClr>
            </a:outerShdw>
          </a:effectLst>
        </p:spPr>
      </p:sp>
      <p:sp>
        <p:nvSpPr>
          <p:cNvPr id="10" name="Shape 8"/>
          <p:cNvSpPr/>
          <p:nvPr/>
        </p:nvSpPr>
        <p:spPr>
          <a:xfrm>
            <a:off x="3200400" y="1371600"/>
            <a:ext cx="731520" cy="731520"/>
          </a:xfrm>
          <a:prstGeom prst="ellipse">
            <a:avLst/>
          </a:prstGeom>
          <a:solidFill>
            <a:srgbClr val="F0A500"/>
          </a:solidFill>
          <a:ln w="12700">
            <a:solidFill>
              <a:srgbClr val="F0A500"/>
            </a:solidFill>
            <a:prstDash val="solid"/>
          </a:ln>
        </p:spPr>
      </p:sp>
      <p:sp>
        <p:nvSpPr>
          <p:cNvPr id="11" name="Text 9"/>
          <p:cNvSpPr/>
          <p:nvPr/>
        </p:nvSpPr>
        <p:spPr>
          <a:xfrm>
            <a:off x="3200400" y="1371600"/>
            <a:ext cx="731520" cy="731520"/>
          </a:xfrm>
          <a:prstGeom prst="rect">
            <a:avLst/>
          </a:prstGeom>
          <a:noFill/>
          <a:ln/>
        </p:spPr>
        <p:txBody>
          <a:bodyPr wrap="square" rtlCol="0" anchor="ctr"/>
          <a:lstStyle/>
          <a:p>
            <a:pPr algn="ctr" indent="0" marL="0">
              <a:buNone/>
            </a:pPr>
            <a:r>
              <a:rPr lang="en-US" sz="2600" b="1" dirty="0">
                <a:solidFill>
                  <a:srgbClr val="0D1B2A"/>
                </a:solidFill>
                <a:latin typeface="Cambria" pitchFamily="34" charset="0"/>
                <a:ea typeface="Cambria" pitchFamily="34" charset="-122"/>
                <a:cs typeface="Cambria" pitchFamily="34" charset="-120"/>
              </a:rPr>
              <a:t>O</a:t>
            </a:r>
            <a:endParaRPr lang="en-US" sz="2600" dirty="0"/>
          </a:p>
        </p:txBody>
      </p:sp>
      <p:sp>
        <p:nvSpPr>
          <p:cNvPr id="12" name="Text 10"/>
          <p:cNvSpPr/>
          <p:nvPr/>
        </p:nvSpPr>
        <p:spPr>
          <a:xfrm>
            <a:off x="2532888" y="2240280"/>
            <a:ext cx="2057400" cy="347472"/>
          </a:xfrm>
          <a:prstGeom prst="rect">
            <a:avLst/>
          </a:prstGeom>
          <a:noFill/>
          <a:ln/>
        </p:spPr>
        <p:txBody>
          <a:bodyPr wrap="square" rtlCol="0" anchor="ctr"/>
          <a:lstStyle/>
          <a:p>
            <a:pPr algn="ctr" indent="0" marL="0">
              <a:buNone/>
            </a:pPr>
            <a:r>
              <a:rPr lang="en-US" sz="1300" b="1" dirty="0">
                <a:solidFill>
                  <a:srgbClr val="F0A500"/>
                </a:solidFill>
              </a:rPr>
              <a:t>Operable</a:t>
            </a:r>
            <a:endParaRPr lang="en-US" sz="1300" dirty="0"/>
          </a:p>
        </p:txBody>
      </p:sp>
      <p:sp>
        <p:nvSpPr>
          <p:cNvPr id="13" name="Text 11"/>
          <p:cNvSpPr/>
          <p:nvPr/>
        </p:nvSpPr>
        <p:spPr>
          <a:xfrm>
            <a:off x="2642616" y="2651760"/>
            <a:ext cx="1828800" cy="1920240"/>
          </a:xfrm>
          <a:prstGeom prst="rect">
            <a:avLst/>
          </a:prstGeom>
          <a:noFill/>
          <a:ln/>
        </p:spPr>
        <p:txBody>
          <a:bodyPr wrap="square" rtlCol="0" anchor="ctr"/>
          <a:lstStyle/>
          <a:p>
            <a:pPr algn="l" indent="0" marL="0">
              <a:lnSpc>
                <a:spcPct val="130000"/>
              </a:lnSpc>
              <a:buNone/>
            </a:pPr>
            <a:r>
              <a:rPr lang="en-US" sz="900" dirty="0">
                <a:solidFill>
                  <a:srgbClr val="8DA6B8"/>
                </a:solidFill>
              </a:rPr>
              <a:t>All functionality must work without a mouse. No keyboard traps. Enough time to interact.</a:t>
            </a:r>
            <a:endParaRPr lang="en-US" sz="900" dirty="0"/>
          </a:p>
          <a:p>
            <a:pPr algn="l" indent="0" marL="0">
              <a:lnSpc>
                <a:spcPct val="130000"/>
              </a:lnSpc>
              <a:buNone/>
            </a:pPr>
            <a:r>
              <a:rPr lang="en-US" sz="900" dirty="0">
                <a:solidFill>
                  <a:srgbClr val="8DA6B8"/>
                </a:solidFill>
              </a:rPr>
              <a:t>Key: focus management, skip links, no seizure content</a:t>
            </a:r>
            <a:endParaRPr lang="en-US" sz="900" dirty="0"/>
          </a:p>
        </p:txBody>
      </p:sp>
      <p:sp>
        <p:nvSpPr>
          <p:cNvPr id="14" name="Shape 12"/>
          <p:cNvSpPr/>
          <p:nvPr/>
        </p:nvSpPr>
        <p:spPr>
          <a:xfrm>
            <a:off x="4745736" y="1234440"/>
            <a:ext cx="2057400" cy="3520440"/>
          </a:xfrm>
          <a:prstGeom prst="roundRect">
            <a:avLst>
              <a:gd name="adj" fmla="val 4444"/>
            </a:avLst>
          </a:prstGeom>
          <a:solidFill>
            <a:srgbClr val="1A2D3F"/>
          </a:solidFill>
          <a:ln w="25400">
            <a:solidFill>
              <a:srgbClr val="A78BFA"/>
            </a:solidFill>
            <a:prstDash val="solid"/>
          </a:ln>
          <a:effectLst>
            <a:outerShdw sx="100000" sy="100000" kx="0" ky="0" algn="bl" rotWithShape="0" blurRad="63500" dist="25400" dir="2700000">
              <a:srgbClr val="000000">
                <a:alpha val="14000"/>
              </a:srgbClr>
            </a:outerShdw>
          </a:effectLst>
        </p:spPr>
      </p:sp>
      <p:sp>
        <p:nvSpPr>
          <p:cNvPr id="15" name="Shape 13"/>
          <p:cNvSpPr/>
          <p:nvPr/>
        </p:nvSpPr>
        <p:spPr>
          <a:xfrm>
            <a:off x="5413248" y="1371600"/>
            <a:ext cx="731520" cy="731520"/>
          </a:xfrm>
          <a:prstGeom prst="ellipse">
            <a:avLst/>
          </a:prstGeom>
          <a:solidFill>
            <a:srgbClr val="A78BFA"/>
          </a:solidFill>
          <a:ln w="12700">
            <a:solidFill>
              <a:srgbClr val="A78BFA"/>
            </a:solidFill>
            <a:prstDash val="solid"/>
          </a:ln>
        </p:spPr>
      </p:sp>
      <p:sp>
        <p:nvSpPr>
          <p:cNvPr id="16" name="Text 14"/>
          <p:cNvSpPr/>
          <p:nvPr/>
        </p:nvSpPr>
        <p:spPr>
          <a:xfrm>
            <a:off x="5413248" y="1371600"/>
            <a:ext cx="731520" cy="731520"/>
          </a:xfrm>
          <a:prstGeom prst="rect">
            <a:avLst/>
          </a:prstGeom>
          <a:noFill/>
          <a:ln/>
        </p:spPr>
        <p:txBody>
          <a:bodyPr wrap="square" rtlCol="0" anchor="ctr"/>
          <a:lstStyle/>
          <a:p>
            <a:pPr algn="ctr" indent="0" marL="0">
              <a:buNone/>
            </a:pPr>
            <a:r>
              <a:rPr lang="en-US" sz="2600" b="1" dirty="0">
                <a:solidFill>
                  <a:srgbClr val="0D1B2A"/>
                </a:solidFill>
                <a:latin typeface="Cambria" pitchFamily="34" charset="0"/>
                <a:ea typeface="Cambria" pitchFamily="34" charset="-122"/>
                <a:cs typeface="Cambria" pitchFamily="34" charset="-120"/>
              </a:rPr>
              <a:t>U</a:t>
            </a:r>
            <a:endParaRPr lang="en-US" sz="2600" dirty="0"/>
          </a:p>
        </p:txBody>
      </p:sp>
      <p:sp>
        <p:nvSpPr>
          <p:cNvPr id="17" name="Text 15"/>
          <p:cNvSpPr/>
          <p:nvPr/>
        </p:nvSpPr>
        <p:spPr>
          <a:xfrm>
            <a:off x="4745736" y="2240280"/>
            <a:ext cx="2057400" cy="347472"/>
          </a:xfrm>
          <a:prstGeom prst="rect">
            <a:avLst/>
          </a:prstGeom>
          <a:noFill/>
          <a:ln/>
        </p:spPr>
        <p:txBody>
          <a:bodyPr wrap="square" rtlCol="0" anchor="ctr"/>
          <a:lstStyle/>
          <a:p>
            <a:pPr algn="ctr" indent="0" marL="0">
              <a:buNone/>
            </a:pPr>
            <a:r>
              <a:rPr lang="en-US" sz="1300" b="1" dirty="0">
                <a:solidFill>
                  <a:srgbClr val="A78BFA"/>
                </a:solidFill>
              </a:rPr>
              <a:t>Understandable</a:t>
            </a:r>
            <a:endParaRPr lang="en-US" sz="1300" dirty="0"/>
          </a:p>
        </p:txBody>
      </p:sp>
      <p:sp>
        <p:nvSpPr>
          <p:cNvPr id="18" name="Text 16"/>
          <p:cNvSpPr/>
          <p:nvPr/>
        </p:nvSpPr>
        <p:spPr>
          <a:xfrm>
            <a:off x="4855464" y="2651760"/>
            <a:ext cx="1828800" cy="1920240"/>
          </a:xfrm>
          <a:prstGeom prst="rect">
            <a:avLst/>
          </a:prstGeom>
          <a:noFill/>
          <a:ln/>
        </p:spPr>
        <p:txBody>
          <a:bodyPr wrap="square" rtlCol="0" anchor="ctr"/>
          <a:lstStyle/>
          <a:p>
            <a:pPr algn="l" indent="0" marL="0">
              <a:lnSpc>
                <a:spcPct val="130000"/>
              </a:lnSpc>
              <a:buNone/>
            </a:pPr>
            <a:r>
              <a:rPr lang="en-US" sz="900" dirty="0">
                <a:solidFill>
                  <a:srgbClr val="8DA6B8"/>
                </a:solidFill>
              </a:rPr>
              <a:t>Content and UI behaviour must be predictable and consistent.</a:t>
            </a:r>
            <a:endParaRPr lang="en-US" sz="900" dirty="0"/>
          </a:p>
          <a:p>
            <a:pPr algn="l" indent="0" marL="0">
              <a:lnSpc>
                <a:spcPct val="130000"/>
              </a:lnSpc>
              <a:buNone/>
            </a:pPr>
            <a:r>
              <a:rPr lang="en-US" sz="900" dirty="0">
                <a:solidFill>
                  <a:srgbClr val="8DA6B8"/>
                </a:solidFill>
              </a:rPr>
              <a:t>Key: clear labels, error messages, language declaration</a:t>
            </a:r>
            <a:endParaRPr lang="en-US" sz="900" dirty="0"/>
          </a:p>
        </p:txBody>
      </p:sp>
      <p:sp>
        <p:nvSpPr>
          <p:cNvPr id="19" name="Shape 17"/>
          <p:cNvSpPr/>
          <p:nvPr/>
        </p:nvSpPr>
        <p:spPr>
          <a:xfrm>
            <a:off x="6958584" y="1234440"/>
            <a:ext cx="2057400" cy="3520440"/>
          </a:xfrm>
          <a:prstGeom prst="roundRect">
            <a:avLst>
              <a:gd name="adj" fmla="val 4444"/>
            </a:avLst>
          </a:prstGeom>
          <a:solidFill>
            <a:srgbClr val="1A2D3F"/>
          </a:solidFill>
          <a:ln w="25400">
            <a:solidFill>
              <a:srgbClr val="22C55E"/>
            </a:solidFill>
            <a:prstDash val="solid"/>
          </a:ln>
          <a:effectLst>
            <a:outerShdw sx="100000" sy="100000" kx="0" ky="0" algn="bl" rotWithShape="0" blurRad="63500" dist="25400" dir="2700000">
              <a:srgbClr val="000000">
                <a:alpha val="14000"/>
              </a:srgbClr>
            </a:outerShdw>
          </a:effectLst>
        </p:spPr>
      </p:sp>
      <p:sp>
        <p:nvSpPr>
          <p:cNvPr id="20" name="Shape 18"/>
          <p:cNvSpPr/>
          <p:nvPr/>
        </p:nvSpPr>
        <p:spPr>
          <a:xfrm>
            <a:off x="7626096" y="1371600"/>
            <a:ext cx="731520" cy="731520"/>
          </a:xfrm>
          <a:prstGeom prst="ellipse">
            <a:avLst/>
          </a:prstGeom>
          <a:solidFill>
            <a:srgbClr val="22C55E"/>
          </a:solidFill>
          <a:ln w="12700">
            <a:solidFill>
              <a:srgbClr val="22C55E"/>
            </a:solidFill>
            <a:prstDash val="solid"/>
          </a:ln>
        </p:spPr>
      </p:sp>
      <p:sp>
        <p:nvSpPr>
          <p:cNvPr id="21" name="Text 19"/>
          <p:cNvSpPr/>
          <p:nvPr/>
        </p:nvSpPr>
        <p:spPr>
          <a:xfrm>
            <a:off x="7626096" y="1371600"/>
            <a:ext cx="731520" cy="731520"/>
          </a:xfrm>
          <a:prstGeom prst="rect">
            <a:avLst/>
          </a:prstGeom>
          <a:noFill/>
          <a:ln/>
        </p:spPr>
        <p:txBody>
          <a:bodyPr wrap="square" rtlCol="0" anchor="ctr"/>
          <a:lstStyle/>
          <a:p>
            <a:pPr algn="ctr" indent="0" marL="0">
              <a:buNone/>
            </a:pPr>
            <a:r>
              <a:rPr lang="en-US" sz="2600" b="1" dirty="0">
                <a:solidFill>
                  <a:srgbClr val="0D1B2A"/>
                </a:solidFill>
                <a:latin typeface="Cambria" pitchFamily="34" charset="0"/>
                <a:ea typeface="Cambria" pitchFamily="34" charset="-122"/>
                <a:cs typeface="Cambria" pitchFamily="34" charset="-120"/>
              </a:rPr>
              <a:t>R</a:t>
            </a:r>
            <a:endParaRPr lang="en-US" sz="2600" dirty="0"/>
          </a:p>
        </p:txBody>
      </p:sp>
      <p:sp>
        <p:nvSpPr>
          <p:cNvPr id="22" name="Text 20"/>
          <p:cNvSpPr/>
          <p:nvPr/>
        </p:nvSpPr>
        <p:spPr>
          <a:xfrm>
            <a:off x="6958584" y="2240280"/>
            <a:ext cx="2057400" cy="347472"/>
          </a:xfrm>
          <a:prstGeom prst="rect">
            <a:avLst/>
          </a:prstGeom>
          <a:noFill/>
          <a:ln/>
        </p:spPr>
        <p:txBody>
          <a:bodyPr wrap="square" rtlCol="0" anchor="ctr"/>
          <a:lstStyle/>
          <a:p>
            <a:pPr algn="ctr" indent="0" marL="0">
              <a:buNone/>
            </a:pPr>
            <a:r>
              <a:rPr lang="en-US" sz="1300" b="1" dirty="0">
                <a:solidFill>
                  <a:srgbClr val="22C55E"/>
                </a:solidFill>
              </a:rPr>
              <a:t>Robust</a:t>
            </a:r>
            <a:endParaRPr lang="en-US" sz="1300" dirty="0"/>
          </a:p>
        </p:txBody>
      </p:sp>
      <p:sp>
        <p:nvSpPr>
          <p:cNvPr id="23" name="Text 21"/>
          <p:cNvSpPr/>
          <p:nvPr/>
        </p:nvSpPr>
        <p:spPr>
          <a:xfrm>
            <a:off x="7068312" y="2651760"/>
            <a:ext cx="1828800" cy="1920240"/>
          </a:xfrm>
          <a:prstGeom prst="rect">
            <a:avLst/>
          </a:prstGeom>
          <a:noFill/>
          <a:ln/>
        </p:spPr>
        <p:txBody>
          <a:bodyPr wrap="square" rtlCol="0" anchor="ctr"/>
          <a:lstStyle/>
          <a:p>
            <a:pPr algn="l" indent="0" marL="0">
              <a:lnSpc>
                <a:spcPct val="130000"/>
              </a:lnSpc>
              <a:buNone/>
            </a:pPr>
            <a:r>
              <a:rPr lang="en-US" sz="900" dirty="0">
                <a:solidFill>
                  <a:srgbClr val="8DA6B8"/>
                </a:solidFill>
              </a:rPr>
              <a:t>Content must work across current and future assistive technologies.</a:t>
            </a:r>
            <a:endParaRPr lang="en-US" sz="900" dirty="0"/>
          </a:p>
          <a:p>
            <a:pPr algn="l" indent="0" marL="0">
              <a:lnSpc>
                <a:spcPct val="130000"/>
              </a:lnSpc>
              <a:buNone/>
            </a:pPr>
            <a:r>
              <a:rPr lang="en-US" sz="900" dirty="0">
                <a:solidFill>
                  <a:srgbClr val="8DA6B8"/>
                </a:solidFill>
              </a:rPr>
              <a:t>Key: valid HTML, correct ARIA, semantic structure</a:t>
            </a:r>
            <a:endParaRPr lang="en-US" sz="900" dirty="0"/>
          </a:p>
        </p:txBody>
      </p:sp>
      <p:sp>
        <p:nvSpPr>
          <p:cNvPr id="25" name="Text 22"/>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WCAG CONFORMANCE LEVELS</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 AA · AAA — what they mean for your block</a:t>
            </a:r>
            <a:endParaRPr lang="en-US" sz="2600" dirty="0"/>
          </a:p>
        </p:txBody>
      </p:sp>
      <p:sp>
        <p:nvSpPr>
          <p:cNvPr id="4" name="Shape 2"/>
          <p:cNvSpPr/>
          <p:nvPr/>
        </p:nvSpPr>
        <p:spPr>
          <a:xfrm>
            <a:off x="320040" y="1234440"/>
            <a:ext cx="2743200" cy="3520440"/>
          </a:xfrm>
          <a:prstGeom prst="roundRect">
            <a:avLst>
              <a:gd name="adj" fmla="val 3333"/>
            </a:avLst>
          </a:prstGeom>
          <a:solidFill>
            <a:srgbClr val="0D1B2A"/>
          </a:solidFill>
          <a:ln w="19050">
            <a:solidFill>
              <a:srgbClr val="F0A500"/>
            </a:solidFill>
            <a:prstDash val="solid"/>
          </a:ln>
          <a:effectLst>
            <a:outerShdw sx="100000" sy="100000" kx="0" ky="0" algn="bl" rotWithShape="0" blurRad="63500" dist="25400" dir="2700000">
              <a:srgbClr val="000000">
                <a:alpha val="14000"/>
              </a:srgbClr>
            </a:outerShdw>
          </a:effectLst>
        </p:spPr>
      </p:sp>
      <p:sp>
        <p:nvSpPr>
          <p:cNvPr id="5" name="Shape 3"/>
          <p:cNvSpPr/>
          <p:nvPr/>
        </p:nvSpPr>
        <p:spPr>
          <a:xfrm>
            <a:off x="822960" y="1325880"/>
            <a:ext cx="1737360" cy="384048"/>
          </a:xfrm>
          <a:prstGeom prst="roundRect">
            <a:avLst>
              <a:gd name="adj" fmla="val 14286"/>
            </a:avLst>
          </a:prstGeom>
          <a:solidFill>
            <a:srgbClr val="F0A500"/>
          </a:solidFill>
          <a:ln w="12700">
            <a:solidFill>
              <a:srgbClr val="F0A500"/>
            </a:solidFill>
            <a:prstDash val="solid"/>
          </a:ln>
        </p:spPr>
      </p:sp>
      <p:sp>
        <p:nvSpPr>
          <p:cNvPr id="6" name="Text 4"/>
          <p:cNvSpPr/>
          <p:nvPr/>
        </p:nvSpPr>
        <p:spPr>
          <a:xfrm>
            <a:off x="822960" y="1325880"/>
            <a:ext cx="1737360" cy="384048"/>
          </a:xfrm>
          <a:prstGeom prst="rect">
            <a:avLst/>
          </a:prstGeom>
          <a:noFill/>
          <a:ln/>
        </p:spPr>
        <p:txBody>
          <a:bodyPr wrap="square" rtlCol="0" anchor="ctr"/>
          <a:lstStyle/>
          <a:p>
            <a:pPr algn="ctr" indent="0" marL="0">
              <a:buNone/>
            </a:pPr>
            <a:r>
              <a:rPr lang="en-US" sz="1300" b="1" dirty="0">
                <a:solidFill>
                  <a:srgbClr val="0D1B2A"/>
                </a:solidFill>
              </a:rPr>
              <a:t>Level A</a:t>
            </a:r>
            <a:endParaRPr lang="en-US" sz="1300" dirty="0"/>
          </a:p>
        </p:txBody>
      </p:sp>
      <p:sp>
        <p:nvSpPr>
          <p:cNvPr id="7" name="Text 5"/>
          <p:cNvSpPr/>
          <p:nvPr/>
        </p:nvSpPr>
        <p:spPr>
          <a:xfrm>
            <a:off x="320040" y="1792224"/>
            <a:ext cx="2743200" cy="274320"/>
          </a:xfrm>
          <a:prstGeom prst="rect">
            <a:avLst/>
          </a:prstGeom>
          <a:noFill/>
          <a:ln/>
        </p:spPr>
        <p:txBody>
          <a:bodyPr wrap="square" rtlCol="0" anchor="ctr"/>
          <a:lstStyle/>
          <a:p>
            <a:pPr algn="ctr" indent="0" marL="0">
              <a:buNone/>
            </a:pPr>
            <a:r>
              <a:rPr lang="en-US" sz="900" i="1" dirty="0">
                <a:solidFill>
                  <a:srgbClr val="F0A500"/>
                </a:solidFill>
              </a:rPr>
              <a:t>Minimum</a:t>
            </a:r>
            <a:endParaRPr lang="en-US" sz="900" dirty="0"/>
          </a:p>
        </p:txBody>
      </p:sp>
      <p:pic>
        <p:nvPicPr>
          <p:cNvPr id="8" name="Image 0" descr="preencoded.png">    </p:cNvPr>
          <p:cNvPicPr>
            <a:picLocks noChangeAspect="1"/>
          </p:cNvPicPr>
          <p:nvPr/>
        </p:nvPicPr>
        <p:blipFill>
          <a:blip r:embed="rId1"/>
          <a:stretch>
            <a:fillRect/>
          </a:stretch>
        </p:blipFill>
        <p:spPr>
          <a:xfrm>
            <a:off x="429768" y="2194560"/>
            <a:ext cx="182880" cy="182880"/>
          </a:xfrm>
          <a:prstGeom prst="rect">
            <a:avLst/>
          </a:prstGeom>
        </p:spPr>
      </p:pic>
      <p:sp>
        <p:nvSpPr>
          <p:cNvPr id="9" name="Text 6"/>
          <p:cNvSpPr/>
          <p:nvPr/>
        </p:nvSpPr>
        <p:spPr>
          <a:xfrm>
            <a:off x="667512" y="2176272"/>
            <a:ext cx="2304288" cy="347472"/>
          </a:xfrm>
          <a:prstGeom prst="rect">
            <a:avLst/>
          </a:prstGeom>
          <a:noFill/>
          <a:ln/>
        </p:spPr>
        <p:txBody>
          <a:bodyPr wrap="square" rtlCol="0" anchor="ctr"/>
          <a:lstStyle/>
          <a:p>
            <a:pPr indent="0" marL="0">
              <a:buNone/>
            </a:pPr>
            <a:r>
              <a:rPr lang="en-US" sz="850" dirty="0">
                <a:solidFill>
                  <a:srgbClr val="8DA6B8"/>
                </a:solidFill>
              </a:rPr>
              <a:t>Non-text content has alt text (1.1.1)</a:t>
            </a:r>
            <a:endParaRPr lang="en-US" sz="850" dirty="0"/>
          </a:p>
        </p:txBody>
      </p:sp>
      <p:pic>
        <p:nvPicPr>
          <p:cNvPr id="10" name="Image 1" descr="preencoded.png">    </p:cNvPr>
          <p:cNvPicPr>
            <a:picLocks noChangeAspect="1"/>
          </p:cNvPicPr>
          <p:nvPr/>
        </p:nvPicPr>
        <p:blipFill>
          <a:blip r:embed="rId2"/>
          <a:stretch>
            <a:fillRect/>
          </a:stretch>
        </p:blipFill>
        <p:spPr>
          <a:xfrm>
            <a:off x="429768" y="2651760"/>
            <a:ext cx="182880" cy="182880"/>
          </a:xfrm>
          <a:prstGeom prst="rect">
            <a:avLst/>
          </a:prstGeom>
        </p:spPr>
      </p:pic>
      <p:sp>
        <p:nvSpPr>
          <p:cNvPr id="11" name="Text 7"/>
          <p:cNvSpPr/>
          <p:nvPr/>
        </p:nvSpPr>
        <p:spPr>
          <a:xfrm>
            <a:off x="667512" y="2633472"/>
            <a:ext cx="2304288" cy="347472"/>
          </a:xfrm>
          <a:prstGeom prst="rect">
            <a:avLst/>
          </a:prstGeom>
          <a:noFill/>
          <a:ln/>
        </p:spPr>
        <p:txBody>
          <a:bodyPr wrap="square" rtlCol="0" anchor="ctr"/>
          <a:lstStyle/>
          <a:p>
            <a:pPr indent="0" marL="0">
              <a:buNone/>
            </a:pPr>
            <a:r>
              <a:rPr lang="en-US" sz="850" dirty="0">
                <a:solidFill>
                  <a:srgbClr val="8DA6B8"/>
                </a:solidFill>
              </a:rPr>
              <a:t>All functionality keyboard accessible (2.1.1)</a:t>
            </a:r>
            <a:endParaRPr lang="en-US" sz="850" dirty="0"/>
          </a:p>
        </p:txBody>
      </p:sp>
      <p:pic>
        <p:nvPicPr>
          <p:cNvPr id="12" name="Image 2" descr="preencoded.png">    </p:cNvPr>
          <p:cNvPicPr>
            <a:picLocks noChangeAspect="1"/>
          </p:cNvPicPr>
          <p:nvPr/>
        </p:nvPicPr>
        <p:blipFill>
          <a:blip r:embed="rId3"/>
          <a:stretch>
            <a:fillRect/>
          </a:stretch>
        </p:blipFill>
        <p:spPr>
          <a:xfrm>
            <a:off x="429768" y="3108960"/>
            <a:ext cx="182880" cy="182880"/>
          </a:xfrm>
          <a:prstGeom prst="rect">
            <a:avLst/>
          </a:prstGeom>
        </p:spPr>
      </p:pic>
      <p:sp>
        <p:nvSpPr>
          <p:cNvPr id="13" name="Text 8"/>
          <p:cNvSpPr/>
          <p:nvPr/>
        </p:nvSpPr>
        <p:spPr>
          <a:xfrm>
            <a:off x="667512" y="3090672"/>
            <a:ext cx="2304288" cy="347472"/>
          </a:xfrm>
          <a:prstGeom prst="rect">
            <a:avLst/>
          </a:prstGeom>
          <a:noFill/>
          <a:ln/>
        </p:spPr>
        <p:txBody>
          <a:bodyPr wrap="square" rtlCol="0" anchor="ctr"/>
          <a:lstStyle/>
          <a:p>
            <a:pPr indent="0" marL="0">
              <a:buNone/>
            </a:pPr>
            <a:r>
              <a:rPr lang="en-US" sz="850" dirty="0">
                <a:solidFill>
                  <a:srgbClr val="8DA6B8"/>
                </a:solidFill>
              </a:rPr>
              <a:t>No keyboard traps (2.1.2)</a:t>
            </a:r>
            <a:endParaRPr lang="en-US" sz="850" dirty="0"/>
          </a:p>
        </p:txBody>
      </p:sp>
      <p:pic>
        <p:nvPicPr>
          <p:cNvPr id="14" name="Image 3" descr="preencoded.png">    </p:cNvPr>
          <p:cNvPicPr>
            <a:picLocks noChangeAspect="1"/>
          </p:cNvPicPr>
          <p:nvPr/>
        </p:nvPicPr>
        <p:blipFill>
          <a:blip r:embed="rId4"/>
          <a:stretch>
            <a:fillRect/>
          </a:stretch>
        </p:blipFill>
        <p:spPr>
          <a:xfrm>
            <a:off x="429768" y="3566160"/>
            <a:ext cx="182880" cy="182880"/>
          </a:xfrm>
          <a:prstGeom prst="rect">
            <a:avLst/>
          </a:prstGeom>
        </p:spPr>
      </p:pic>
      <p:sp>
        <p:nvSpPr>
          <p:cNvPr id="15" name="Text 9"/>
          <p:cNvSpPr/>
          <p:nvPr/>
        </p:nvSpPr>
        <p:spPr>
          <a:xfrm>
            <a:off x="667512" y="3547872"/>
            <a:ext cx="2304288" cy="347472"/>
          </a:xfrm>
          <a:prstGeom prst="rect">
            <a:avLst/>
          </a:prstGeom>
          <a:noFill/>
          <a:ln/>
        </p:spPr>
        <p:txBody>
          <a:bodyPr wrap="square" rtlCol="0" anchor="ctr"/>
          <a:lstStyle/>
          <a:p>
            <a:pPr indent="0" marL="0">
              <a:buNone/>
            </a:pPr>
            <a:r>
              <a:rPr lang="en-US" sz="850" dirty="0">
                <a:solidFill>
                  <a:srgbClr val="8DA6B8"/>
                </a:solidFill>
              </a:rPr>
              <a:t>Language of page declared (3.1.1)</a:t>
            </a:r>
            <a:endParaRPr lang="en-US" sz="850" dirty="0"/>
          </a:p>
        </p:txBody>
      </p:sp>
      <p:pic>
        <p:nvPicPr>
          <p:cNvPr id="16" name="Image 4" descr="preencoded.png">    </p:cNvPr>
          <p:cNvPicPr>
            <a:picLocks noChangeAspect="1"/>
          </p:cNvPicPr>
          <p:nvPr/>
        </p:nvPicPr>
        <p:blipFill>
          <a:blip r:embed="rId5"/>
          <a:stretch>
            <a:fillRect/>
          </a:stretch>
        </p:blipFill>
        <p:spPr>
          <a:xfrm>
            <a:off x="429768" y="4023360"/>
            <a:ext cx="182880" cy="182880"/>
          </a:xfrm>
          <a:prstGeom prst="rect">
            <a:avLst/>
          </a:prstGeom>
        </p:spPr>
      </p:pic>
      <p:sp>
        <p:nvSpPr>
          <p:cNvPr id="17" name="Text 10"/>
          <p:cNvSpPr/>
          <p:nvPr/>
        </p:nvSpPr>
        <p:spPr>
          <a:xfrm>
            <a:off x="667512" y="4005072"/>
            <a:ext cx="2304288" cy="347472"/>
          </a:xfrm>
          <a:prstGeom prst="rect">
            <a:avLst/>
          </a:prstGeom>
          <a:noFill/>
          <a:ln/>
        </p:spPr>
        <p:txBody>
          <a:bodyPr wrap="square" rtlCol="0" anchor="ctr"/>
          <a:lstStyle/>
          <a:p>
            <a:pPr indent="0" marL="0">
              <a:buNone/>
            </a:pPr>
            <a:r>
              <a:rPr lang="en-US" sz="850" dirty="0">
                <a:solidFill>
                  <a:srgbClr val="8DA6B8"/>
                </a:solidFill>
              </a:rPr>
              <a:t>On focus: no unexpected context change (3.2.1)</a:t>
            </a:r>
            <a:endParaRPr lang="en-US" sz="850" dirty="0"/>
          </a:p>
        </p:txBody>
      </p:sp>
      <p:sp>
        <p:nvSpPr>
          <p:cNvPr id="18" name="Shape 11"/>
          <p:cNvSpPr/>
          <p:nvPr/>
        </p:nvSpPr>
        <p:spPr>
          <a:xfrm>
            <a:off x="3264408" y="1234440"/>
            <a:ext cx="2743200" cy="3520440"/>
          </a:xfrm>
          <a:prstGeom prst="roundRect">
            <a:avLst>
              <a:gd name="adj" fmla="val 3333"/>
            </a:avLst>
          </a:prstGeom>
          <a:solidFill>
            <a:srgbClr val="1A2D3F"/>
          </a:solidFill>
          <a:ln w="31750">
            <a:solidFill>
              <a:srgbClr val="0EA5A0"/>
            </a:solidFill>
            <a:prstDash val="solid"/>
          </a:ln>
          <a:effectLst>
            <a:outerShdw sx="100000" sy="100000" kx="0" ky="0" algn="bl" rotWithShape="0" blurRad="101600" dist="38100" dir="2700000">
              <a:srgbClr val="000000">
                <a:alpha val="22000"/>
              </a:srgbClr>
            </a:outerShdw>
          </a:effectLst>
        </p:spPr>
      </p:sp>
      <p:sp>
        <p:nvSpPr>
          <p:cNvPr id="19" name="Shape 12"/>
          <p:cNvSpPr/>
          <p:nvPr/>
        </p:nvSpPr>
        <p:spPr>
          <a:xfrm>
            <a:off x="3767328" y="1325880"/>
            <a:ext cx="1737360" cy="384048"/>
          </a:xfrm>
          <a:prstGeom prst="roundRect">
            <a:avLst>
              <a:gd name="adj" fmla="val 14286"/>
            </a:avLst>
          </a:prstGeom>
          <a:solidFill>
            <a:srgbClr val="0EA5A0"/>
          </a:solidFill>
          <a:ln w="12700">
            <a:solidFill>
              <a:srgbClr val="0EA5A0"/>
            </a:solidFill>
            <a:prstDash val="solid"/>
          </a:ln>
        </p:spPr>
      </p:sp>
      <p:sp>
        <p:nvSpPr>
          <p:cNvPr id="20" name="Text 13"/>
          <p:cNvSpPr/>
          <p:nvPr/>
        </p:nvSpPr>
        <p:spPr>
          <a:xfrm>
            <a:off x="3767328" y="1325880"/>
            <a:ext cx="1737360" cy="384048"/>
          </a:xfrm>
          <a:prstGeom prst="rect">
            <a:avLst/>
          </a:prstGeom>
          <a:noFill/>
          <a:ln/>
        </p:spPr>
        <p:txBody>
          <a:bodyPr wrap="square" rtlCol="0" anchor="ctr"/>
          <a:lstStyle/>
          <a:p>
            <a:pPr algn="ctr" indent="0" marL="0">
              <a:buNone/>
            </a:pPr>
            <a:r>
              <a:rPr lang="en-US" sz="1300" b="1" dirty="0">
                <a:solidFill>
                  <a:srgbClr val="0D1B2A"/>
                </a:solidFill>
              </a:rPr>
              <a:t>Level AA</a:t>
            </a:r>
            <a:endParaRPr lang="en-US" sz="1300" dirty="0"/>
          </a:p>
        </p:txBody>
      </p:sp>
      <p:sp>
        <p:nvSpPr>
          <p:cNvPr id="21" name="Text 14"/>
          <p:cNvSpPr/>
          <p:nvPr/>
        </p:nvSpPr>
        <p:spPr>
          <a:xfrm>
            <a:off x="3264408" y="1792224"/>
            <a:ext cx="2743200" cy="274320"/>
          </a:xfrm>
          <a:prstGeom prst="rect">
            <a:avLst/>
          </a:prstGeom>
          <a:noFill/>
          <a:ln/>
        </p:spPr>
        <p:txBody>
          <a:bodyPr wrap="square" rtlCol="0" anchor="ctr"/>
          <a:lstStyle/>
          <a:p>
            <a:pPr algn="ctr" indent="0" marL="0">
              <a:buNone/>
            </a:pPr>
            <a:r>
              <a:rPr lang="en-US" sz="900" i="1" dirty="0">
                <a:solidFill>
                  <a:srgbClr val="0EA5A0"/>
                </a:solidFill>
              </a:rPr>
              <a:t>Legal standard in most countries</a:t>
            </a:r>
            <a:endParaRPr lang="en-US" sz="900" dirty="0"/>
          </a:p>
        </p:txBody>
      </p:sp>
      <p:pic>
        <p:nvPicPr>
          <p:cNvPr id="22" name="Image 5" descr="preencoded.png">    </p:cNvPr>
          <p:cNvPicPr>
            <a:picLocks noChangeAspect="1"/>
          </p:cNvPicPr>
          <p:nvPr/>
        </p:nvPicPr>
        <p:blipFill>
          <a:blip r:embed="rId6"/>
          <a:stretch>
            <a:fillRect/>
          </a:stretch>
        </p:blipFill>
        <p:spPr>
          <a:xfrm>
            <a:off x="3374136" y="2194560"/>
            <a:ext cx="182880" cy="182880"/>
          </a:xfrm>
          <a:prstGeom prst="rect">
            <a:avLst/>
          </a:prstGeom>
        </p:spPr>
      </p:pic>
      <p:sp>
        <p:nvSpPr>
          <p:cNvPr id="23" name="Text 15"/>
          <p:cNvSpPr/>
          <p:nvPr/>
        </p:nvSpPr>
        <p:spPr>
          <a:xfrm>
            <a:off x="3611880" y="2176272"/>
            <a:ext cx="2304288" cy="347472"/>
          </a:xfrm>
          <a:prstGeom prst="rect">
            <a:avLst/>
          </a:prstGeom>
          <a:noFill/>
          <a:ln/>
        </p:spPr>
        <p:txBody>
          <a:bodyPr wrap="square" rtlCol="0" anchor="ctr"/>
          <a:lstStyle/>
          <a:p>
            <a:pPr indent="0" marL="0">
              <a:buNone/>
            </a:pPr>
            <a:r>
              <a:rPr lang="en-US" sz="850" dirty="0">
                <a:solidFill>
                  <a:srgbClr val="8DA6B8"/>
                </a:solidFill>
              </a:rPr>
              <a:t>Contrast ratio 4.5:1 for normal text (1.4.3)</a:t>
            </a:r>
            <a:endParaRPr lang="en-US" sz="850" dirty="0"/>
          </a:p>
        </p:txBody>
      </p:sp>
      <p:pic>
        <p:nvPicPr>
          <p:cNvPr id="24" name="Image 6" descr="preencoded.png">    </p:cNvPr>
          <p:cNvPicPr>
            <a:picLocks noChangeAspect="1"/>
          </p:cNvPicPr>
          <p:nvPr/>
        </p:nvPicPr>
        <p:blipFill>
          <a:blip r:embed="rId7"/>
          <a:stretch>
            <a:fillRect/>
          </a:stretch>
        </p:blipFill>
        <p:spPr>
          <a:xfrm>
            <a:off x="3374136" y="2651760"/>
            <a:ext cx="182880" cy="182880"/>
          </a:xfrm>
          <a:prstGeom prst="rect">
            <a:avLst/>
          </a:prstGeom>
        </p:spPr>
      </p:pic>
      <p:sp>
        <p:nvSpPr>
          <p:cNvPr id="25" name="Text 16"/>
          <p:cNvSpPr/>
          <p:nvPr/>
        </p:nvSpPr>
        <p:spPr>
          <a:xfrm>
            <a:off x="3611880" y="2633472"/>
            <a:ext cx="2304288" cy="347472"/>
          </a:xfrm>
          <a:prstGeom prst="rect">
            <a:avLst/>
          </a:prstGeom>
          <a:noFill/>
          <a:ln/>
        </p:spPr>
        <p:txBody>
          <a:bodyPr wrap="square" rtlCol="0" anchor="ctr"/>
          <a:lstStyle/>
          <a:p>
            <a:pPr indent="0" marL="0">
              <a:buNone/>
            </a:pPr>
            <a:r>
              <a:rPr lang="en-US" sz="850" dirty="0">
                <a:solidFill>
                  <a:srgbClr val="8DA6B8"/>
                </a:solidFill>
              </a:rPr>
              <a:t>Text resizable to 200% without loss (1.4.4)</a:t>
            </a:r>
            <a:endParaRPr lang="en-US" sz="850" dirty="0"/>
          </a:p>
        </p:txBody>
      </p:sp>
      <p:pic>
        <p:nvPicPr>
          <p:cNvPr id="26" name="Image 7" descr="preencoded.png">    </p:cNvPr>
          <p:cNvPicPr>
            <a:picLocks noChangeAspect="1"/>
          </p:cNvPicPr>
          <p:nvPr/>
        </p:nvPicPr>
        <p:blipFill>
          <a:blip r:embed="rId8"/>
          <a:stretch>
            <a:fillRect/>
          </a:stretch>
        </p:blipFill>
        <p:spPr>
          <a:xfrm>
            <a:off x="3374136" y="3108960"/>
            <a:ext cx="182880" cy="182880"/>
          </a:xfrm>
          <a:prstGeom prst="rect">
            <a:avLst/>
          </a:prstGeom>
        </p:spPr>
      </p:pic>
      <p:sp>
        <p:nvSpPr>
          <p:cNvPr id="27" name="Text 17"/>
          <p:cNvSpPr/>
          <p:nvPr/>
        </p:nvSpPr>
        <p:spPr>
          <a:xfrm>
            <a:off x="3611880" y="3090672"/>
            <a:ext cx="2304288" cy="347472"/>
          </a:xfrm>
          <a:prstGeom prst="rect">
            <a:avLst/>
          </a:prstGeom>
          <a:noFill/>
          <a:ln/>
        </p:spPr>
        <p:txBody>
          <a:bodyPr wrap="square" rtlCol="0" anchor="ctr"/>
          <a:lstStyle/>
          <a:p>
            <a:pPr indent="0" marL="0">
              <a:buNone/>
            </a:pPr>
            <a:r>
              <a:rPr lang="en-US" sz="850" dirty="0">
                <a:solidFill>
                  <a:srgbClr val="8DA6B8"/>
                </a:solidFill>
              </a:rPr>
              <a:t>Images of text avoided (1.4.5)</a:t>
            </a:r>
            <a:endParaRPr lang="en-US" sz="850" dirty="0"/>
          </a:p>
        </p:txBody>
      </p:sp>
      <p:pic>
        <p:nvPicPr>
          <p:cNvPr id="28" name="Image 8" descr="preencoded.png">    </p:cNvPr>
          <p:cNvPicPr>
            <a:picLocks noChangeAspect="1"/>
          </p:cNvPicPr>
          <p:nvPr/>
        </p:nvPicPr>
        <p:blipFill>
          <a:blip r:embed="rId9"/>
          <a:stretch>
            <a:fillRect/>
          </a:stretch>
        </p:blipFill>
        <p:spPr>
          <a:xfrm>
            <a:off x="3374136" y="3566160"/>
            <a:ext cx="182880" cy="182880"/>
          </a:xfrm>
          <a:prstGeom prst="rect">
            <a:avLst/>
          </a:prstGeom>
        </p:spPr>
      </p:pic>
      <p:sp>
        <p:nvSpPr>
          <p:cNvPr id="29" name="Text 18"/>
          <p:cNvSpPr/>
          <p:nvPr/>
        </p:nvSpPr>
        <p:spPr>
          <a:xfrm>
            <a:off x="3611880" y="3547872"/>
            <a:ext cx="2304288" cy="347472"/>
          </a:xfrm>
          <a:prstGeom prst="rect">
            <a:avLst/>
          </a:prstGeom>
          <a:noFill/>
          <a:ln/>
        </p:spPr>
        <p:txBody>
          <a:bodyPr wrap="square" rtlCol="0" anchor="ctr"/>
          <a:lstStyle/>
          <a:p>
            <a:pPr indent="0" marL="0">
              <a:buNone/>
            </a:pPr>
            <a:r>
              <a:rPr lang="en-US" sz="850" dirty="0">
                <a:solidFill>
                  <a:srgbClr val="8DA6B8"/>
                </a:solidFill>
              </a:rPr>
              <a:t>Focus visible on all interactive elements (2.4.7)</a:t>
            </a:r>
            <a:endParaRPr lang="en-US" sz="850" dirty="0"/>
          </a:p>
        </p:txBody>
      </p:sp>
      <p:pic>
        <p:nvPicPr>
          <p:cNvPr id="30" name="Image 9" descr="preencoded.png">    </p:cNvPr>
          <p:cNvPicPr>
            <a:picLocks noChangeAspect="1"/>
          </p:cNvPicPr>
          <p:nvPr/>
        </p:nvPicPr>
        <p:blipFill>
          <a:blip r:embed="rId10"/>
          <a:stretch>
            <a:fillRect/>
          </a:stretch>
        </p:blipFill>
        <p:spPr>
          <a:xfrm>
            <a:off x="3374136" y="4023360"/>
            <a:ext cx="182880" cy="182880"/>
          </a:xfrm>
          <a:prstGeom prst="rect">
            <a:avLst/>
          </a:prstGeom>
        </p:spPr>
      </p:pic>
      <p:sp>
        <p:nvSpPr>
          <p:cNvPr id="31" name="Text 19"/>
          <p:cNvSpPr/>
          <p:nvPr/>
        </p:nvSpPr>
        <p:spPr>
          <a:xfrm>
            <a:off x="3611880" y="4005072"/>
            <a:ext cx="2304288" cy="347472"/>
          </a:xfrm>
          <a:prstGeom prst="rect">
            <a:avLst/>
          </a:prstGeom>
          <a:noFill/>
          <a:ln/>
        </p:spPr>
        <p:txBody>
          <a:bodyPr wrap="square" rtlCol="0" anchor="ctr"/>
          <a:lstStyle/>
          <a:p>
            <a:pPr indent="0" marL="0">
              <a:buNone/>
            </a:pPr>
            <a:r>
              <a:rPr lang="en-US" sz="850" dirty="0">
                <a:solidFill>
                  <a:srgbClr val="8DA6B8"/>
                </a:solidFill>
              </a:rPr>
              <a:t>Error suggestions provided (3.3.3)</a:t>
            </a:r>
            <a:endParaRPr lang="en-US" sz="850" dirty="0"/>
          </a:p>
        </p:txBody>
      </p:sp>
      <p:pic>
        <p:nvPicPr>
          <p:cNvPr id="32" name="Image 10" descr="preencoded.png">    </p:cNvPr>
          <p:cNvPicPr>
            <a:picLocks noChangeAspect="1"/>
          </p:cNvPicPr>
          <p:nvPr/>
        </p:nvPicPr>
        <p:blipFill>
          <a:blip r:embed="rId11"/>
          <a:stretch>
            <a:fillRect/>
          </a:stretch>
        </p:blipFill>
        <p:spPr>
          <a:xfrm>
            <a:off x="3374136" y="4480560"/>
            <a:ext cx="182880" cy="182880"/>
          </a:xfrm>
          <a:prstGeom prst="rect">
            <a:avLst/>
          </a:prstGeom>
        </p:spPr>
      </p:pic>
      <p:sp>
        <p:nvSpPr>
          <p:cNvPr id="33" name="Text 20"/>
          <p:cNvSpPr/>
          <p:nvPr/>
        </p:nvSpPr>
        <p:spPr>
          <a:xfrm>
            <a:off x="3611880" y="4462272"/>
            <a:ext cx="2304288" cy="347472"/>
          </a:xfrm>
          <a:prstGeom prst="rect">
            <a:avLst/>
          </a:prstGeom>
          <a:noFill/>
          <a:ln/>
        </p:spPr>
        <p:txBody>
          <a:bodyPr wrap="square" rtlCol="0" anchor="ctr"/>
          <a:lstStyle/>
          <a:p>
            <a:pPr indent="0" marL="0">
              <a:buNone/>
            </a:pPr>
            <a:r>
              <a:rPr lang="en-US" sz="850" dirty="0">
                <a:solidFill>
                  <a:srgbClr val="8DA6B8"/>
                </a:solidFill>
              </a:rPr>
              <a:t>NEW 2.2: Focus Not Obscured (2.4.11)</a:t>
            </a:r>
            <a:endParaRPr lang="en-US" sz="850" dirty="0"/>
          </a:p>
        </p:txBody>
      </p:sp>
      <p:sp>
        <p:nvSpPr>
          <p:cNvPr id="34" name="Shape 21"/>
          <p:cNvSpPr/>
          <p:nvPr/>
        </p:nvSpPr>
        <p:spPr>
          <a:xfrm>
            <a:off x="3218688" y="1188720"/>
            <a:ext cx="2834640" cy="73152"/>
          </a:xfrm>
          <a:prstGeom prst="roundRect">
            <a:avLst>
              <a:gd name="adj" fmla="val 25000"/>
            </a:avLst>
          </a:prstGeom>
          <a:solidFill>
            <a:srgbClr val="0EA5A0"/>
          </a:solidFill>
          <a:ln w="12700">
            <a:solidFill>
              <a:srgbClr val="0EA5A0"/>
            </a:solidFill>
            <a:prstDash val="solid"/>
          </a:ln>
        </p:spPr>
      </p:sp>
      <p:sp>
        <p:nvSpPr>
          <p:cNvPr id="35" name="Text 22"/>
          <p:cNvSpPr/>
          <p:nvPr/>
        </p:nvSpPr>
        <p:spPr>
          <a:xfrm>
            <a:off x="3813048" y="4526280"/>
            <a:ext cx="1645920" cy="228600"/>
          </a:xfrm>
          <a:prstGeom prst="rect">
            <a:avLst/>
          </a:prstGeom>
          <a:noFill/>
          <a:ln/>
        </p:spPr>
        <p:txBody>
          <a:bodyPr wrap="square" rtlCol="0" anchor="ctr"/>
          <a:lstStyle/>
          <a:p>
            <a:pPr algn="ctr" indent="0" marL="0">
              <a:buNone/>
            </a:pPr>
            <a:r>
              <a:rPr lang="en-US" sz="900" b="1" dirty="0">
                <a:solidFill>
                  <a:srgbClr val="0EA5A0"/>
                </a:solidFill>
              </a:rPr>
              <a:t>← BUILD TO THIS</a:t>
            </a:r>
            <a:endParaRPr lang="en-US" sz="900" dirty="0"/>
          </a:p>
        </p:txBody>
      </p:sp>
      <p:sp>
        <p:nvSpPr>
          <p:cNvPr id="36" name="Shape 23"/>
          <p:cNvSpPr/>
          <p:nvPr/>
        </p:nvSpPr>
        <p:spPr>
          <a:xfrm>
            <a:off x="6208776" y="1234440"/>
            <a:ext cx="2743200" cy="3520440"/>
          </a:xfrm>
          <a:prstGeom prst="roundRect">
            <a:avLst>
              <a:gd name="adj" fmla="val 3333"/>
            </a:avLst>
          </a:prstGeom>
          <a:solidFill>
            <a:srgbClr val="0D1B2A"/>
          </a:solidFill>
          <a:ln w="19050">
            <a:solidFill>
              <a:srgbClr val="A78BFA"/>
            </a:solidFill>
            <a:prstDash val="solid"/>
          </a:ln>
          <a:effectLst>
            <a:outerShdw sx="100000" sy="100000" kx="0" ky="0" algn="bl" rotWithShape="0" blurRad="63500" dist="25400" dir="2700000">
              <a:srgbClr val="000000">
                <a:alpha val="14000"/>
              </a:srgbClr>
            </a:outerShdw>
          </a:effectLst>
        </p:spPr>
      </p:sp>
      <p:sp>
        <p:nvSpPr>
          <p:cNvPr id="37" name="Shape 24"/>
          <p:cNvSpPr/>
          <p:nvPr/>
        </p:nvSpPr>
        <p:spPr>
          <a:xfrm>
            <a:off x="6711696" y="1325880"/>
            <a:ext cx="1737360" cy="384048"/>
          </a:xfrm>
          <a:prstGeom prst="roundRect">
            <a:avLst>
              <a:gd name="adj" fmla="val 14286"/>
            </a:avLst>
          </a:prstGeom>
          <a:solidFill>
            <a:srgbClr val="A78BFA"/>
          </a:solidFill>
          <a:ln w="12700">
            <a:solidFill>
              <a:srgbClr val="A78BFA"/>
            </a:solidFill>
            <a:prstDash val="solid"/>
          </a:ln>
        </p:spPr>
      </p:sp>
      <p:sp>
        <p:nvSpPr>
          <p:cNvPr id="38" name="Text 25"/>
          <p:cNvSpPr/>
          <p:nvPr/>
        </p:nvSpPr>
        <p:spPr>
          <a:xfrm>
            <a:off x="6711696" y="1325880"/>
            <a:ext cx="1737360" cy="384048"/>
          </a:xfrm>
          <a:prstGeom prst="rect">
            <a:avLst/>
          </a:prstGeom>
          <a:noFill/>
          <a:ln/>
        </p:spPr>
        <p:txBody>
          <a:bodyPr wrap="square" rtlCol="0" anchor="ctr"/>
          <a:lstStyle/>
          <a:p>
            <a:pPr algn="ctr" indent="0" marL="0">
              <a:buNone/>
            </a:pPr>
            <a:r>
              <a:rPr lang="en-US" sz="1300" b="1" dirty="0">
                <a:solidFill>
                  <a:srgbClr val="0D1B2A"/>
                </a:solidFill>
              </a:rPr>
              <a:t>Level AAA</a:t>
            </a:r>
            <a:endParaRPr lang="en-US" sz="1300" dirty="0"/>
          </a:p>
        </p:txBody>
      </p:sp>
      <p:sp>
        <p:nvSpPr>
          <p:cNvPr id="39" name="Text 26"/>
          <p:cNvSpPr/>
          <p:nvPr/>
        </p:nvSpPr>
        <p:spPr>
          <a:xfrm>
            <a:off x="6208776" y="1792224"/>
            <a:ext cx="2743200" cy="274320"/>
          </a:xfrm>
          <a:prstGeom prst="rect">
            <a:avLst/>
          </a:prstGeom>
          <a:noFill/>
          <a:ln/>
        </p:spPr>
        <p:txBody>
          <a:bodyPr wrap="square" rtlCol="0" anchor="ctr"/>
          <a:lstStyle/>
          <a:p>
            <a:pPr algn="ctr" indent="0" marL="0">
              <a:buNone/>
            </a:pPr>
            <a:r>
              <a:rPr lang="en-US" sz="900" i="1" dirty="0">
                <a:solidFill>
                  <a:srgbClr val="A78BFA"/>
                </a:solidFill>
              </a:rPr>
              <a:t>Enhanced — aim where possible</a:t>
            </a:r>
            <a:endParaRPr lang="en-US" sz="900" dirty="0"/>
          </a:p>
        </p:txBody>
      </p:sp>
      <p:pic>
        <p:nvPicPr>
          <p:cNvPr id="40" name="Image 11" descr="preencoded.png">    </p:cNvPr>
          <p:cNvPicPr>
            <a:picLocks noChangeAspect="1"/>
          </p:cNvPicPr>
          <p:nvPr/>
        </p:nvPicPr>
        <p:blipFill>
          <a:blip r:embed="rId12"/>
          <a:stretch>
            <a:fillRect/>
          </a:stretch>
        </p:blipFill>
        <p:spPr>
          <a:xfrm>
            <a:off x="6318504" y="2194560"/>
            <a:ext cx="182880" cy="182880"/>
          </a:xfrm>
          <a:prstGeom prst="rect">
            <a:avLst/>
          </a:prstGeom>
        </p:spPr>
      </p:pic>
      <p:sp>
        <p:nvSpPr>
          <p:cNvPr id="41" name="Text 27"/>
          <p:cNvSpPr/>
          <p:nvPr/>
        </p:nvSpPr>
        <p:spPr>
          <a:xfrm>
            <a:off x="6556248" y="2176272"/>
            <a:ext cx="2304288" cy="347472"/>
          </a:xfrm>
          <a:prstGeom prst="rect">
            <a:avLst/>
          </a:prstGeom>
          <a:noFill/>
          <a:ln/>
        </p:spPr>
        <p:txBody>
          <a:bodyPr wrap="square" rtlCol="0" anchor="ctr"/>
          <a:lstStyle/>
          <a:p>
            <a:pPr indent="0" marL="0">
              <a:buNone/>
            </a:pPr>
            <a:r>
              <a:rPr lang="en-US" sz="850" dirty="0">
                <a:solidFill>
                  <a:srgbClr val="8DA6B8"/>
                </a:solidFill>
              </a:rPr>
              <a:t>Contrast ratio 7:1 (1.4.6)</a:t>
            </a:r>
            <a:endParaRPr lang="en-US" sz="850" dirty="0"/>
          </a:p>
        </p:txBody>
      </p:sp>
      <p:pic>
        <p:nvPicPr>
          <p:cNvPr id="42" name="Image 12" descr="preencoded.png">    </p:cNvPr>
          <p:cNvPicPr>
            <a:picLocks noChangeAspect="1"/>
          </p:cNvPicPr>
          <p:nvPr/>
        </p:nvPicPr>
        <p:blipFill>
          <a:blip r:embed="rId13"/>
          <a:stretch>
            <a:fillRect/>
          </a:stretch>
        </p:blipFill>
        <p:spPr>
          <a:xfrm>
            <a:off x="6318504" y="2651760"/>
            <a:ext cx="182880" cy="182880"/>
          </a:xfrm>
          <a:prstGeom prst="rect">
            <a:avLst/>
          </a:prstGeom>
        </p:spPr>
      </p:pic>
      <p:sp>
        <p:nvSpPr>
          <p:cNvPr id="43" name="Text 28"/>
          <p:cNvSpPr/>
          <p:nvPr/>
        </p:nvSpPr>
        <p:spPr>
          <a:xfrm>
            <a:off x="6556248" y="2633472"/>
            <a:ext cx="2304288" cy="347472"/>
          </a:xfrm>
          <a:prstGeom prst="rect">
            <a:avLst/>
          </a:prstGeom>
          <a:noFill/>
          <a:ln/>
        </p:spPr>
        <p:txBody>
          <a:bodyPr wrap="square" rtlCol="0" anchor="ctr"/>
          <a:lstStyle/>
          <a:p>
            <a:pPr indent="0" marL="0">
              <a:buNone/>
            </a:pPr>
            <a:r>
              <a:rPr lang="en-US" sz="850" dirty="0">
                <a:solidFill>
                  <a:srgbClr val="8DA6B8"/>
                </a:solidFill>
              </a:rPr>
              <a:t>Sign language for video (1.2.6)</a:t>
            </a:r>
            <a:endParaRPr lang="en-US" sz="850" dirty="0"/>
          </a:p>
        </p:txBody>
      </p:sp>
      <p:pic>
        <p:nvPicPr>
          <p:cNvPr id="44" name="Image 13" descr="preencoded.png">    </p:cNvPr>
          <p:cNvPicPr>
            <a:picLocks noChangeAspect="1"/>
          </p:cNvPicPr>
          <p:nvPr/>
        </p:nvPicPr>
        <p:blipFill>
          <a:blip r:embed="rId14"/>
          <a:stretch>
            <a:fillRect/>
          </a:stretch>
        </p:blipFill>
        <p:spPr>
          <a:xfrm>
            <a:off x="6318504" y="3108960"/>
            <a:ext cx="182880" cy="182880"/>
          </a:xfrm>
          <a:prstGeom prst="rect">
            <a:avLst/>
          </a:prstGeom>
        </p:spPr>
      </p:pic>
      <p:sp>
        <p:nvSpPr>
          <p:cNvPr id="45" name="Text 29"/>
          <p:cNvSpPr/>
          <p:nvPr/>
        </p:nvSpPr>
        <p:spPr>
          <a:xfrm>
            <a:off x="6556248" y="3090672"/>
            <a:ext cx="2304288" cy="347472"/>
          </a:xfrm>
          <a:prstGeom prst="rect">
            <a:avLst/>
          </a:prstGeom>
          <a:noFill/>
          <a:ln/>
        </p:spPr>
        <p:txBody>
          <a:bodyPr wrap="square" rtlCol="0" anchor="ctr"/>
          <a:lstStyle/>
          <a:p>
            <a:pPr indent="0" marL="0">
              <a:buNone/>
            </a:pPr>
            <a:r>
              <a:rPr lang="en-US" sz="850" dirty="0">
                <a:solidFill>
                  <a:srgbClr val="8DA6B8"/>
                </a:solidFill>
              </a:rPr>
              <a:t>Reading level (3.1.5)</a:t>
            </a:r>
            <a:endParaRPr lang="en-US" sz="850" dirty="0"/>
          </a:p>
        </p:txBody>
      </p:sp>
      <p:pic>
        <p:nvPicPr>
          <p:cNvPr id="46" name="Image 14" descr="preencoded.png">    </p:cNvPr>
          <p:cNvPicPr>
            <a:picLocks noChangeAspect="1"/>
          </p:cNvPicPr>
          <p:nvPr/>
        </p:nvPicPr>
        <p:blipFill>
          <a:blip r:embed="rId15"/>
          <a:stretch>
            <a:fillRect/>
          </a:stretch>
        </p:blipFill>
        <p:spPr>
          <a:xfrm>
            <a:off x="6318504" y="3566160"/>
            <a:ext cx="182880" cy="182880"/>
          </a:xfrm>
          <a:prstGeom prst="rect">
            <a:avLst/>
          </a:prstGeom>
        </p:spPr>
      </p:pic>
      <p:sp>
        <p:nvSpPr>
          <p:cNvPr id="47" name="Text 30"/>
          <p:cNvSpPr/>
          <p:nvPr/>
        </p:nvSpPr>
        <p:spPr>
          <a:xfrm>
            <a:off x="6556248" y="3547872"/>
            <a:ext cx="2304288" cy="347472"/>
          </a:xfrm>
          <a:prstGeom prst="rect">
            <a:avLst/>
          </a:prstGeom>
          <a:noFill/>
          <a:ln/>
        </p:spPr>
        <p:txBody>
          <a:bodyPr wrap="square" rtlCol="0" anchor="ctr"/>
          <a:lstStyle/>
          <a:p>
            <a:pPr indent="0" marL="0">
              <a:buNone/>
            </a:pPr>
            <a:r>
              <a:rPr lang="en-US" sz="850" dirty="0">
                <a:solidFill>
                  <a:srgbClr val="8DA6B8"/>
                </a:solidFill>
              </a:rPr>
              <a:t>Context-sensitive help (3.3.5)</a:t>
            </a:r>
            <a:endParaRPr lang="en-US" sz="850" dirty="0"/>
          </a:p>
        </p:txBody>
      </p:sp>
      <p:sp>
        <p:nvSpPr>
          <p:cNvPr id="49" name="Text 31"/>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1 — SEMANTIC HTML (WCAG 1.3.1, 4.1.2)</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Structure is meaning for assistive technology</a:t>
            </a:r>
            <a:endParaRPr lang="en-US" sz="2600" dirty="0"/>
          </a:p>
        </p:txBody>
      </p:sp>
      <p:sp>
        <p:nvSpPr>
          <p:cNvPr id="4" name="Shape 2"/>
          <p:cNvSpPr/>
          <p:nvPr/>
        </p:nvSpPr>
        <p:spPr>
          <a:xfrm>
            <a:off x="365760" y="1188720"/>
            <a:ext cx="4023360" cy="3520440"/>
          </a:xfrm>
          <a:prstGeom prst="roundRect">
            <a:avLst>
              <a:gd name="adj" fmla="val 2597"/>
            </a:avLst>
          </a:prstGeom>
          <a:solidFill>
            <a:srgbClr val="0A0F16"/>
          </a:solidFill>
          <a:ln w="19050">
            <a:solidFill>
              <a:srgbClr val="EF4444"/>
            </a:solidFill>
            <a:prstDash val="solid"/>
          </a:ln>
        </p:spPr>
      </p:sp>
      <p:pic>
        <p:nvPicPr>
          <p:cNvPr id="5" name="Image 0" descr="preencoded.png">    </p:cNvPr>
          <p:cNvPicPr>
            <a:picLocks noChangeAspect="1"/>
          </p:cNvPicPr>
          <p:nvPr/>
        </p:nvPicPr>
        <p:blipFill>
          <a:blip r:embed="rId1"/>
          <a:stretch>
            <a:fillRect/>
          </a:stretch>
        </p:blipFill>
        <p:spPr>
          <a:xfrm>
            <a:off x="594360" y="1325880"/>
            <a:ext cx="256032" cy="256032"/>
          </a:xfrm>
          <a:prstGeom prst="rect">
            <a:avLst/>
          </a:prstGeom>
        </p:spPr>
      </p:pic>
      <p:sp>
        <p:nvSpPr>
          <p:cNvPr id="6" name="Text 3"/>
          <p:cNvSpPr/>
          <p:nvPr/>
        </p:nvSpPr>
        <p:spPr>
          <a:xfrm>
            <a:off x="914400" y="1316736"/>
            <a:ext cx="3337560" cy="292608"/>
          </a:xfrm>
          <a:prstGeom prst="rect">
            <a:avLst/>
          </a:prstGeom>
          <a:noFill/>
          <a:ln/>
        </p:spPr>
        <p:txBody>
          <a:bodyPr wrap="square" rtlCol="0" anchor="ctr"/>
          <a:lstStyle/>
          <a:p>
            <a:pPr indent="0" marL="0">
              <a:buNone/>
            </a:pPr>
            <a:r>
              <a:rPr lang="en-US" sz="1100" b="1" dirty="0">
                <a:solidFill>
                  <a:srgbClr val="EF4444"/>
                </a:solidFill>
              </a:rPr>
              <a:t>Bad — no semantic meaning</a:t>
            </a:r>
            <a:endParaRPr lang="en-US" sz="1100" dirty="0"/>
          </a:p>
        </p:txBody>
      </p:sp>
      <p:sp>
        <p:nvSpPr>
          <p:cNvPr id="7" name="Text 4"/>
          <p:cNvSpPr/>
          <p:nvPr/>
        </p:nvSpPr>
        <p:spPr>
          <a:xfrm>
            <a:off x="502920" y="1719072"/>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&lt;div class="notice"&gt;</a:t>
            </a:r>
            <a:endParaRPr lang="en-US" sz="950" dirty="0"/>
          </a:p>
        </p:txBody>
      </p:sp>
      <p:sp>
        <p:nvSpPr>
          <p:cNvPr id="8" name="Text 5"/>
          <p:cNvSpPr/>
          <p:nvPr/>
        </p:nvSpPr>
        <p:spPr>
          <a:xfrm>
            <a:off x="502920" y="1956816"/>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  &lt;div class="title"&gt;</a:t>
            </a:r>
            <a:endParaRPr lang="en-US" sz="950" dirty="0"/>
          </a:p>
        </p:txBody>
      </p:sp>
      <p:sp>
        <p:nvSpPr>
          <p:cNvPr id="9" name="Text 6"/>
          <p:cNvSpPr/>
          <p:nvPr/>
        </p:nvSpPr>
        <p:spPr>
          <a:xfrm>
            <a:off x="502920" y="2194560"/>
            <a:ext cx="3749040" cy="237744"/>
          </a:xfrm>
          <a:prstGeom prst="rect">
            <a:avLst/>
          </a:prstGeom>
          <a:noFill/>
          <a:ln/>
        </p:spPr>
        <p:txBody>
          <a:bodyPr wrap="square" rtlCol="0" anchor="ctr"/>
          <a:lstStyle/>
          <a:p>
            <a:pPr indent="0" marL="0">
              <a:buNone/>
            </a:pPr>
            <a:r>
              <a:rPr lang="en-US" sz="950" dirty="0">
                <a:solidFill>
                  <a:srgbClr val="E8E8E8"/>
                </a:solidFill>
                <a:latin typeface="Courier New" pitchFamily="34" charset="0"/>
                <a:ea typeface="Courier New" pitchFamily="34" charset="-122"/>
                <a:cs typeface="Courier New" pitchFamily="34" charset="-120"/>
              </a:rPr>
              <a:t>    Important!</a:t>
            </a:r>
            <a:endParaRPr lang="en-US" sz="950" dirty="0"/>
          </a:p>
        </p:txBody>
      </p:sp>
      <p:sp>
        <p:nvSpPr>
          <p:cNvPr id="10" name="Text 7"/>
          <p:cNvSpPr/>
          <p:nvPr/>
        </p:nvSpPr>
        <p:spPr>
          <a:xfrm>
            <a:off x="502920" y="2432304"/>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  &lt;/div&gt;</a:t>
            </a:r>
            <a:endParaRPr lang="en-US" sz="950" dirty="0"/>
          </a:p>
        </p:txBody>
      </p:sp>
      <p:sp>
        <p:nvSpPr>
          <p:cNvPr id="11" name="Text 8"/>
          <p:cNvSpPr/>
          <p:nvPr/>
        </p:nvSpPr>
        <p:spPr>
          <a:xfrm>
            <a:off x="502920" y="2670048"/>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  &lt;div class="body"&gt;</a:t>
            </a:r>
            <a:endParaRPr lang="en-US" sz="950" dirty="0"/>
          </a:p>
        </p:txBody>
      </p:sp>
      <p:sp>
        <p:nvSpPr>
          <p:cNvPr id="12" name="Text 9"/>
          <p:cNvSpPr/>
          <p:nvPr/>
        </p:nvSpPr>
        <p:spPr>
          <a:xfrm>
            <a:off x="502920" y="2907792"/>
            <a:ext cx="3749040" cy="237744"/>
          </a:xfrm>
          <a:prstGeom prst="rect">
            <a:avLst/>
          </a:prstGeom>
          <a:noFill/>
          <a:ln/>
        </p:spPr>
        <p:txBody>
          <a:bodyPr wrap="square" rtlCol="0" anchor="ctr"/>
          <a:lstStyle/>
          <a:p>
            <a:pPr indent="0" marL="0">
              <a:buNone/>
            </a:pPr>
            <a:r>
              <a:rPr lang="en-US" sz="950" dirty="0">
                <a:solidFill>
                  <a:srgbClr val="E8E8E8"/>
                </a:solidFill>
                <a:latin typeface="Courier New" pitchFamily="34" charset="0"/>
                <a:ea typeface="Courier New" pitchFamily="34" charset="-122"/>
                <a:cs typeface="Courier New" pitchFamily="34" charset="-120"/>
              </a:rPr>
              <a:t>    Please update...</a:t>
            </a:r>
            <a:endParaRPr lang="en-US" sz="950" dirty="0"/>
          </a:p>
        </p:txBody>
      </p:sp>
      <p:sp>
        <p:nvSpPr>
          <p:cNvPr id="13" name="Text 10"/>
          <p:cNvSpPr/>
          <p:nvPr/>
        </p:nvSpPr>
        <p:spPr>
          <a:xfrm>
            <a:off x="502920" y="3145536"/>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  &lt;/div&gt;</a:t>
            </a:r>
            <a:endParaRPr lang="en-US" sz="950" dirty="0"/>
          </a:p>
        </p:txBody>
      </p:sp>
      <p:sp>
        <p:nvSpPr>
          <p:cNvPr id="14" name="Text 11"/>
          <p:cNvSpPr/>
          <p:nvPr/>
        </p:nvSpPr>
        <p:spPr>
          <a:xfrm>
            <a:off x="502920" y="3383280"/>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  &lt;div onclick="dismiss()"&gt;</a:t>
            </a:r>
            <a:endParaRPr lang="en-US" sz="950" dirty="0"/>
          </a:p>
        </p:txBody>
      </p:sp>
      <p:sp>
        <p:nvSpPr>
          <p:cNvPr id="15" name="Text 12"/>
          <p:cNvSpPr/>
          <p:nvPr/>
        </p:nvSpPr>
        <p:spPr>
          <a:xfrm>
            <a:off x="502920" y="3621024"/>
            <a:ext cx="3749040" cy="237744"/>
          </a:xfrm>
          <a:prstGeom prst="rect">
            <a:avLst/>
          </a:prstGeom>
          <a:noFill/>
          <a:ln/>
        </p:spPr>
        <p:txBody>
          <a:bodyPr wrap="square" rtlCol="0" anchor="ctr"/>
          <a:lstStyle/>
          <a:p>
            <a:pPr indent="0" marL="0">
              <a:buNone/>
            </a:pPr>
            <a:r>
              <a:rPr lang="en-US" sz="950" dirty="0">
                <a:solidFill>
                  <a:srgbClr val="E8E8E8"/>
                </a:solidFill>
                <a:latin typeface="Courier New" pitchFamily="34" charset="0"/>
                <a:ea typeface="Courier New" pitchFamily="34" charset="-122"/>
                <a:cs typeface="Courier New" pitchFamily="34" charset="-120"/>
              </a:rPr>
              <a:t>    Close</a:t>
            </a:r>
            <a:endParaRPr lang="en-US" sz="950" dirty="0"/>
          </a:p>
        </p:txBody>
      </p:sp>
      <p:sp>
        <p:nvSpPr>
          <p:cNvPr id="16" name="Text 13"/>
          <p:cNvSpPr/>
          <p:nvPr/>
        </p:nvSpPr>
        <p:spPr>
          <a:xfrm>
            <a:off x="502920" y="3858768"/>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  &lt;/div&gt;</a:t>
            </a:r>
            <a:endParaRPr lang="en-US" sz="950" dirty="0"/>
          </a:p>
        </p:txBody>
      </p:sp>
      <p:sp>
        <p:nvSpPr>
          <p:cNvPr id="17" name="Text 14"/>
          <p:cNvSpPr/>
          <p:nvPr/>
        </p:nvSpPr>
        <p:spPr>
          <a:xfrm>
            <a:off x="502920" y="4096512"/>
            <a:ext cx="3749040" cy="237744"/>
          </a:xfrm>
          <a:prstGeom prst="rect">
            <a:avLst/>
          </a:prstGeom>
          <a:noFill/>
          <a:ln/>
        </p:spPr>
        <p:txBody>
          <a:bodyPr wrap="square" rtlCol="0" anchor="ctr"/>
          <a:lstStyle/>
          <a:p>
            <a:pPr indent="0" marL="0">
              <a:buNone/>
            </a:pPr>
            <a:r>
              <a:rPr lang="en-US" sz="950" dirty="0">
                <a:solidFill>
                  <a:srgbClr val="E87A7A"/>
                </a:solidFill>
                <a:latin typeface="Courier New" pitchFamily="34" charset="0"/>
                <a:ea typeface="Courier New" pitchFamily="34" charset="-122"/>
                <a:cs typeface="Courier New" pitchFamily="34" charset="-120"/>
              </a:rPr>
              <a:t>&lt;/div&gt;</a:t>
            </a:r>
            <a:endParaRPr lang="en-US" sz="950" dirty="0"/>
          </a:p>
        </p:txBody>
      </p:sp>
      <p:sp>
        <p:nvSpPr>
          <p:cNvPr id="18" name="Text 15"/>
          <p:cNvSpPr/>
          <p:nvPr/>
        </p:nvSpPr>
        <p:spPr>
          <a:xfrm>
            <a:off x="502920" y="1719072"/>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&lt;div class="notice"&gt;</a:t>
            </a:r>
            <a:endParaRPr lang="en-US" sz="900" dirty="0"/>
          </a:p>
        </p:txBody>
      </p:sp>
      <p:sp>
        <p:nvSpPr>
          <p:cNvPr id="19" name="Text 16"/>
          <p:cNvSpPr/>
          <p:nvPr/>
        </p:nvSpPr>
        <p:spPr>
          <a:xfrm>
            <a:off x="502920" y="1975104"/>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  &lt;div class="title"&gt;</a:t>
            </a:r>
            <a:endParaRPr lang="en-US" sz="900" dirty="0"/>
          </a:p>
        </p:txBody>
      </p:sp>
      <p:sp>
        <p:nvSpPr>
          <p:cNvPr id="20" name="Text 17"/>
          <p:cNvSpPr/>
          <p:nvPr/>
        </p:nvSpPr>
        <p:spPr>
          <a:xfrm>
            <a:off x="502920" y="2231136"/>
            <a:ext cx="3749040" cy="256032"/>
          </a:xfrm>
          <a:prstGeom prst="rect">
            <a:avLst/>
          </a:prstGeom>
          <a:noFill/>
          <a:ln/>
        </p:spPr>
        <p:txBody>
          <a:bodyPr wrap="square" rtlCol="0" anchor="ctr"/>
          <a:lstStyle/>
          <a:p>
            <a:pPr indent="0" marL="0">
              <a:buNone/>
            </a:pPr>
            <a:r>
              <a:rPr lang="en-US" sz="900" dirty="0">
                <a:solidFill>
                  <a:srgbClr val="E8E8E8"/>
                </a:solidFill>
                <a:latin typeface="Courier New" pitchFamily="34" charset="0"/>
                <a:ea typeface="Courier New" pitchFamily="34" charset="-122"/>
                <a:cs typeface="Courier New" pitchFamily="34" charset="-120"/>
              </a:rPr>
              <a:t>    Important!</a:t>
            </a:r>
            <a:endParaRPr lang="en-US" sz="900" dirty="0"/>
          </a:p>
        </p:txBody>
      </p:sp>
      <p:sp>
        <p:nvSpPr>
          <p:cNvPr id="21" name="Text 18"/>
          <p:cNvSpPr/>
          <p:nvPr/>
        </p:nvSpPr>
        <p:spPr>
          <a:xfrm>
            <a:off x="502920" y="2487168"/>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  &lt;/div&gt;</a:t>
            </a:r>
            <a:endParaRPr lang="en-US" sz="900" dirty="0"/>
          </a:p>
        </p:txBody>
      </p:sp>
      <p:sp>
        <p:nvSpPr>
          <p:cNvPr id="22" name="Text 19"/>
          <p:cNvSpPr/>
          <p:nvPr/>
        </p:nvSpPr>
        <p:spPr>
          <a:xfrm>
            <a:off x="502920" y="2743200"/>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  &lt;div class="body"&gt;</a:t>
            </a:r>
            <a:endParaRPr lang="en-US" sz="900" dirty="0"/>
          </a:p>
        </p:txBody>
      </p:sp>
      <p:sp>
        <p:nvSpPr>
          <p:cNvPr id="23" name="Text 20"/>
          <p:cNvSpPr/>
          <p:nvPr/>
        </p:nvSpPr>
        <p:spPr>
          <a:xfrm>
            <a:off x="502920" y="2999232"/>
            <a:ext cx="3749040" cy="256032"/>
          </a:xfrm>
          <a:prstGeom prst="rect">
            <a:avLst/>
          </a:prstGeom>
          <a:noFill/>
          <a:ln/>
        </p:spPr>
        <p:txBody>
          <a:bodyPr wrap="square" rtlCol="0" anchor="ctr"/>
          <a:lstStyle/>
          <a:p>
            <a:pPr indent="0" marL="0">
              <a:buNone/>
            </a:pPr>
            <a:r>
              <a:rPr lang="en-US" sz="900" dirty="0">
                <a:solidFill>
                  <a:srgbClr val="E8E8E8"/>
                </a:solidFill>
                <a:latin typeface="Courier New" pitchFamily="34" charset="0"/>
                <a:ea typeface="Courier New" pitchFamily="34" charset="-122"/>
                <a:cs typeface="Courier New" pitchFamily="34" charset="-120"/>
              </a:rPr>
              <a:t>    Please update...</a:t>
            </a:r>
            <a:endParaRPr lang="en-US" sz="900" dirty="0"/>
          </a:p>
        </p:txBody>
      </p:sp>
      <p:sp>
        <p:nvSpPr>
          <p:cNvPr id="24" name="Text 21"/>
          <p:cNvSpPr/>
          <p:nvPr/>
        </p:nvSpPr>
        <p:spPr>
          <a:xfrm>
            <a:off x="502920" y="3255264"/>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  &lt;/div&gt;</a:t>
            </a:r>
            <a:endParaRPr lang="en-US" sz="900" dirty="0"/>
          </a:p>
        </p:txBody>
      </p:sp>
      <p:sp>
        <p:nvSpPr>
          <p:cNvPr id="25" name="Text 22"/>
          <p:cNvSpPr/>
          <p:nvPr/>
        </p:nvSpPr>
        <p:spPr>
          <a:xfrm>
            <a:off x="502920" y="3511296"/>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  &lt;div onclick="close"&gt;</a:t>
            </a:r>
            <a:endParaRPr lang="en-US" sz="900" dirty="0"/>
          </a:p>
        </p:txBody>
      </p:sp>
      <p:sp>
        <p:nvSpPr>
          <p:cNvPr id="26" name="Text 23"/>
          <p:cNvSpPr/>
          <p:nvPr/>
        </p:nvSpPr>
        <p:spPr>
          <a:xfrm>
            <a:off x="502920" y="3767328"/>
            <a:ext cx="3749040" cy="256032"/>
          </a:xfrm>
          <a:prstGeom prst="rect">
            <a:avLst/>
          </a:prstGeom>
          <a:noFill/>
          <a:ln/>
        </p:spPr>
        <p:txBody>
          <a:bodyPr wrap="square" rtlCol="0" anchor="ctr"/>
          <a:lstStyle/>
          <a:p>
            <a:pPr indent="0" marL="0">
              <a:buNone/>
            </a:pPr>
            <a:r>
              <a:rPr lang="en-US" sz="900" dirty="0">
                <a:solidFill>
                  <a:srgbClr val="E8E8E8"/>
                </a:solidFill>
                <a:latin typeface="Courier New" pitchFamily="34" charset="0"/>
                <a:ea typeface="Courier New" pitchFamily="34" charset="-122"/>
                <a:cs typeface="Courier New" pitchFamily="34" charset="-120"/>
              </a:rPr>
              <a:t>    ✕</a:t>
            </a:r>
            <a:endParaRPr lang="en-US" sz="900" dirty="0"/>
          </a:p>
        </p:txBody>
      </p:sp>
      <p:sp>
        <p:nvSpPr>
          <p:cNvPr id="27" name="Text 24"/>
          <p:cNvSpPr/>
          <p:nvPr/>
        </p:nvSpPr>
        <p:spPr>
          <a:xfrm>
            <a:off x="502920" y="4023360"/>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  &lt;/div&gt;</a:t>
            </a:r>
            <a:endParaRPr lang="en-US" sz="900" dirty="0"/>
          </a:p>
        </p:txBody>
      </p:sp>
      <p:sp>
        <p:nvSpPr>
          <p:cNvPr id="28" name="Text 25"/>
          <p:cNvSpPr/>
          <p:nvPr/>
        </p:nvSpPr>
        <p:spPr>
          <a:xfrm>
            <a:off x="502920" y="4279392"/>
            <a:ext cx="3749040" cy="256032"/>
          </a:xfrm>
          <a:prstGeom prst="rect">
            <a:avLst/>
          </a:prstGeom>
          <a:noFill/>
          <a:ln/>
        </p:spPr>
        <p:txBody>
          <a:bodyPr wrap="square" rtlCol="0" anchor="ctr"/>
          <a:lstStyle/>
          <a:p>
            <a:pPr indent="0" marL="0">
              <a:buNone/>
            </a:pPr>
            <a:r>
              <a:rPr lang="en-US" sz="900" dirty="0">
                <a:solidFill>
                  <a:srgbClr val="E87A7A"/>
                </a:solidFill>
                <a:latin typeface="Courier New" pitchFamily="34" charset="0"/>
                <a:ea typeface="Courier New" pitchFamily="34" charset="-122"/>
                <a:cs typeface="Courier New" pitchFamily="34" charset="-120"/>
              </a:rPr>
              <a:t>&lt;/div&gt;</a:t>
            </a:r>
            <a:endParaRPr lang="en-US" sz="900" dirty="0"/>
          </a:p>
        </p:txBody>
      </p:sp>
      <p:sp>
        <p:nvSpPr>
          <p:cNvPr id="29" name="Shape 26"/>
          <p:cNvSpPr/>
          <p:nvPr/>
        </p:nvSpPr>
        <p:spPr>
          <a:xfrm>
            <a:off x="4754880" y="1188720"/>
            <a:ext cx="4023360" cy="3520440"/>
          </a:xfrm>
          <a:prstGeom prst="roundRect">
            <a:avLst>
              <a:gd name="adj" fmla="val 2597"/>
            </a:avLst>
          </a:prstGeom>
          <a:solidFill>
            <a:srgbClr val="0A0F16"/>
          </a:solidFill>
          <a:ln w="19050">
            <a:solidFill>
              <a:srgbClr val="22C55E"/>
            </a:solidFill>
            <a:prstDash val="solid"/>
          </a:ln>
          <a:effectLst>
            <a:outerShdw sx="100000" sy="100000" kx="0" ky="0" algn="bl" rotWithShape="0" blurRad="101600" dist="38100" dir="2700000">
              <a:srgbClr val="000000">
                <a:alpha val="22000"/>
              </a:srgbClr>
            </a:outerShdw>
          </a:effectLst>
        </p:spPr>
      </p:sp>
      <p:pic>
        <p:nvPicPr>
          <p:cNvPr id="30" name="Image 1" descr="preencoded.png">    </p:cNvPr>
          <p:cNvPicPr>
            <a:picLocks noChangeAspect="1"/>
          </p:cNvPicPr>
          <p:nvPr/>
        </p:nvPicPr>
        <p:blipFill>
          <a:blip r:embed="rId2"/>
          <a:stretch>
            <a:fillRect/>
          </a:stretch>
        </p:blipFill>
        <p:spPr>
          <a:xfrm>
            <a:off x="4983480" y="1325880"/>
            <a:ext cx="256032" cy="256032"/>
          </a:xfrm>
          <a:prstGeom prst="rect">
            <a:avLst/>
          </a:prstGeom>
        </p:spPr>
      </p:pic>
      <p:sp>
        <p:nvSpPr>
          <p:cNvPr id="31" name="Text 27"/>
          <p:cNvSpPr/>
          <p:nvPr/>
        </p:nvSpPr>
        <p:spPr>
          <a:xfrm>
            <a:off x="5303520" y="1316736"/>
            <a:ext cx="3337560" cy="292608"/>
          </a:xfrm>
          <a:prstGeom prst="rect">
            <a:avLst/>
          </a:prstGeom>
          <a:noFill/>
          <a:ln/>
        </p:spPr>
        <p:txBody>
          <a:bodyPr wrap="square" rtlCol="0" anchor="ctr"/>
          <a:lstStyle/>
          <a:p>
            <a:pPr indent="0" marL="0">
              <a:buNone/>
            </a:pPr>
            <a:r>
              <a:rPr lang="en-US" sz="1100" b="1" dirty="0">
                <a:solidFill>
                  <a:srgbClr val="22C55E"/>
                </a:solidFill>
              </a:rPr>
              <a:t>Good — semantic, accessible</a:t>
            </a:r>
            <a:endParaRPr lang="en-US" sz="1100" dirty="0"/>
          </a:p>
        </p:txBody>
      </p:sp>
      <p:sp>
        <p:nvSpPr>
          <p:cNvPr id="32" name="Text 28"/>
          <p:cNvSpPr/>
          <p:nvPr/>
        </p:nvSpPr>
        <p:spPr>
          <a:xfrm>
            <a:off x="4919472" y="1719072"/>
            <a:ext cx="3749040" cy="256032"/>
          </a:xfrm>
          <a:prstGeom prst="rect">
            <a:avLst/>
          </a:prstGeom>
          <a:noFill/>
          <a:ln/>
        </p:spPr>
        <p:txBody>
          <a:bodyPr wrap="square" rtlCol="0" anchor="ctr"/>
          <a:lstStyle/>
          <a:p>
            <a:pPr indent="0" marL="0">
              <a:buNone/>
            </a:pPr>
            <a:r>
              <a:rPr lang="en-US" sz="900" dirty="0">
                <a:solidFill>
                  <a:srgbClr val="7EC8C8"/>
                </a:solidFill>
                <a:latin typeface="Courier New" pitchFamily="34" charset="0"/>
                <a:ea typeface="Courier New" pitchFamily="34" charset="-122"/>
                <a:cs typeface="Courier New" pitchFamily="34" charset="-120"/>
              </a:rPr>
              <a:t>&lt;section</a:t>
            </a:r>
            <a:endParaRPr lang="en-US" sz="900" dirty="0"/>
          </a:p>
        </p:txBody>
      </p:sp>
      <p:sp>
        <p:nvSpPr>
          <p:cNvPr id="33" name="Text 29"/>
          <p:cNvSpPr/>
          <p:nvPr/>
        </p:nvSpPr>
        <p:spPr>
          <a:xfrm>
            <a:off x="4919472" y="1975104"/>
            <a:ext cx="3749040" cy="256032"/>
          </a:xfrm>
          <a:prstGeom prst="rect">
            <a:avLst/>
          </a:prstGeom>
          <a:noFill/>
          <a:ln/>
        </p:spPr>
        <p:txBody>
          <a:bodyPr wrap="square" rtlCol="0" anchor="ctr"/>
          <a:lstStyle/>
          <a:p>
            <a:pPr indent="0" marL="0">
              <a:buNone/>
            </a:pPr>
            <a:r>
              <a:rPr lang="en-US" sz="900" dirty="0">
                <a:solidFill>
                  <a:srgbClr val="F0C87A"/>
                </a:solidFill>
                <a:latin typeface="Courier New" pitchFamily="34" charset="0"/>
                <a:ea typeface="Courier New" pitchFamily="34" charset="-122"/>
                <a:cs typeface="Courier New" pitchFamily="34" charset="-120"/>
              </a:rPr>
              <a:t>  role="region"</a:t>
            </a:r>
            <a:endParaRPr lang="en-US" sz="900" dirty="0"/>
          </a:p>
        </p:txBody>
      </p:sp>
      <p:sp>
        <p:nvSpPr>
          <p:cNvPr id="34" name="Text 30"/>
          <p:cNvSpPr/>
          <p:nvPr/>
        </p:nvSpPr>
        <p:spPr>
          <a:xfrm>
            <a:off x="4919472" y="2231136"/>
            <a:ext cx="3749040" cy="256032"/>
          </a:xfrm>
          <a:prstGeom prst="rect">
            <a:avLst/>
          </a:prstGeom>
          <a:noFill/>
          <a:ln/>
        </p:spPr>
        <p:txBody>
          <a:bodyPr wrap="square" rtlCol="0" anchor="ctr"/>
          <a:lstStyle/>
          <a:p>
            <a:pPr indent="0" marL="0">
              <a:buNone/>
            </a:pPr>
            <a:r>
              <a:rPr lang="en-US" sz="900" dirty="0">
                <a:solidFill>
                  <a:srgbClr val="F0C87A"/>
                </a:solidFill>
                <a:latin typeface="Courier New" pitchFamily="34" charset="0"/>
                <a:ea typeface="Courier New" pitchFamily="34" charset="-122"/>
                <a:cs typeface="Courier New" pitchFamily="34" charset="-120"/>
              </a:rPr>
              <a:t>  aria-label="Notice"</a:t>
            </a:r>
            <a:endParaRPr lang="en-US" sz="900" dirty="0"/>
          </a:p>
        </p:txBody>
      </p:sp>
      <p:sp>
        <p:nvSpPr>
          <p:cNvPr id="35" name="Text 31"/>
          <p:cNvSpPr/>
          <p:nvPr/>
        </p:nvSpPr>
        <p:spPr>
          <a:xfrm>
            <a:off x="4919472" y="2487168"/>
            <a:ext cx="3749040" cy="256032"/>
          </a:xfrm>
          <a:prstGeom prst="rect">
            <a:avLst/>
          </a:prstGeom>
          <a:noFill/>
          <a:ln/>
        </p:spPr>
        <p:txBody>
          <a:bodyPr wrap="square" rtlCol="0" anchor="ctr"/>
          <a:lstStyle/>
          <a:p>
            <a:pPr indent="0" marL="0">
              <a:buNone/>
            </a:pPr>
            <a:r>
              <a:rPr lang="en-US" sz="900" dirty="0">
                <a:solidFill>
                  <a:srgbClr val="F0C87A"/>
                </a:solidFill>
                <a:latin typeface="Courier New" pitchFamily="34" charset="0"/>
                <a:ea typeface="Courier New" pitchFamily="34" charset="-122"/>
                <a:cs typeface="Courier New" pitchFamily="34" charset="-120"/>
              </a:rPr>
              <a:t>  aria-live="polite"&gt;</a:t>
            </a:r>
            <a:endParaRPr lang="en-US" sz="900" dirty="0"/>
          </a:p>
        </p:txBody>
      </p:sp>
      <p:sp>
        <p:nvSpPr>
          <p:cNvPr id="36" name="Text 32"/>
          <p:cNvSpPr/>
          <p:nvPr/>
        </p:nvSpPr>
        <p:spPr>
          <a:xfrm>
            <a:off x="4919472" y="2743200"/>
            <a:ext cx="3749040" cy="256032"/>
          </a:xfrm>
          <a:prstGeom prst="rect">
            <a:avLst/>
          </a:prstGeom>
          <a:noFill/>
          <a:ln/>
        </p:spPr>
        <p:txBody>
          <a:bodyPr wrap="square" rtlCol="0" anchor="ctr"/>
          <a:lstStyle/>
          <a:p>
            <a:pPr indent="0" marL="0">
              <a:buNone/>
            </a:pPr>
            <a:r>
              <a:rPr lang="en-US" sz="900" dirty="0">
                <a:solidFill>
                  <a:srgbClr val="E8E8E8"/>
                </a:solidFill>
                <a:latin typeface="Courier New" pitchFamily="34" charset="0"/>
                <a:ea typeface="Courier New" pitchFamily="34" charset="-122"/>
                <a:cs typeface="Courier New" pitchFamily="34" charset="-120"/>
              </a:rPr>
              <a:t>  &lt;h2&gt;Important!&lt;/h2&gt;</a:t>
            </a:r>
            <a:endParaRPr lang="en-US" sz="900" dirty="0"/>
          </a:p>
        </p:txBody>
      </p:sp>
      <p:sp>
        <p:nvSpPr>
          <p:cNvPr id="37" name="Text 33"/>
          <p:cNvSpPr/>
          <p:nvPr/>
        </p:nvSpPr>
        <p:spPr>
          <a:xfrm>
            <a:off x="4919472" y="2999232"/>
            <a:ext cx="3749040" cy="256032"/>
          </a:xfrm>
          <a:prstGeom prst="rect">
            <a:avLst/>
          </a:prstGeom>
          <a:noFill/>
          <a:ln/>
        </p:spPr>
        <p:txBody>
          <a:bodyPr wrap="square" rtlCol="0" anchor="ctr"/>
          <a:lstStyle/>
          <a:p>
            <a:pPr indent="0" marL="0">
              <a:buNone/>
            </a:pPr>
            <a:r>
              <a:rPr lang="en-US" sz="900" dirty="0">
                <a:solidFill>
                  <a:srgbClr val="E8E8E8"/>
                </a:solidFill>
                <a:latin typeface="Courier New" pitchFamily="34" charset="0"/>
                <a:ea typeface="Courier New" pitchFamily="34" charset="-122"/>
                <a:cs typeface="Courier New" pitchFamily="34" charset="-120"/>
              </a:rPr>
              <a:t>  &lt;p&gt;Please update...&lt;/p&gt;</a:t>
            </a:r>
            <a:endParaRPr lang="en-US" sz="900" dirty="0"/>
          </a:p>
        </p:txBody>
      </p:sp>
      <p:sp>
        <p:nvSpPr>
          <p:cNvPr id="38" name="Text 34"/>
          <p:cNvSpPr/>
          <p:nvPr/>
        </p:nvSpPr>
        <p:spPr>
          <a:xfrm>
            <a:off x="4919472" y="3255264"/>
            <a:ext cx="3749040" cy="256032"/>
          </a:xfrm>
          <a:prstGeom prst="rect">
            <a:avLst/>
          </a:prstGeom>
          <a:noFill/>
          <a:ln/>
        </p:spPr>
        <p:txBody>
          <a:bodyPr wrap="square" rtlCol="0" anchor="ctr"/>
          <a:lstStyle/>
          <a:p>
            <a:pPr indent="0" marL="0">
              <a:buNone/>
            </a:pPr>
            <a:r>
              <a:rPr lang="en-US" sz="900" dirty="0">
                <a:solidFill>
                  <a:srgbClr val="7EC8C8"/>
                </a:solidFill>
                <a:latin typeface="Courier New" pitchFamily="34" charset="0"/>
                <a:ea typeface="Courier New" pitchFamily="34" charset="-122"/>
                <a:cs typeface="Courier New" pitchFamily="34" charset="-120"/>
              </a:rPr>
              <a:t>  &lt;button</a:t>
            </a:r>
            <a:endParaRPr lang="en-US" sz="900" dirty="0"/>
          </a:p>
        </p:txBody>
      </p:sp>
      <p:sp>
        <p:nvSpPr>
          <p:cNvPr id="39" name="Text 35"/>
          <p:cNvSpPr/>
          <p:nvPr/>
        </p:nvSpPr>
        <p:spPr>
          <a:xfrm>
            <a:off x="4919472" y="3511296"/>
            <a:ext cx="3749040" cy="256032"/>
          </a:xfrm>
          <a:prstGeom prst="rect">
            <a:avLst/>
          </a:prstGeom>
          <a:noFill/>
          <a:ln/>
        </p:spPr>
        <p:txBody>
          <a:bodyPr wrap="square" rtlCol="0" anchor="ctr"/>
          <a:lstStyle/>
          <a:p>
            <a:pPr indent="0" marL="0">
              <a:buNone/>
            </a:pPr>
            <a:r>
              <a:rPr lang="en-US" sz="900" dirty="0">
                <a:solidFill>
                  <a:srgbClr val="F0C87A"/>
                </a:solidFill>
                <a:latin typeface="Courier New" pitchFamily="34" charset="0"/>
                <a:ea typeface="Courier New" pitchFamily="34" charset="-122"/>
                <a:cs typeface="Courier New" pitchFamily="34" charset="-120"/>
              </a:rPr>
              <a:t>    type="button"</a:t>
            </a:r>
            <a:endParaRPr lang="en-US" sz="900" dirty="0"/>
          </a:p>
        </p:txBody>
      </p:sp>
      <p:sp>
        <p:nvSpPr>
          <p:cNvPr id="40" name="Text 36"/>
          <p:cNvSpPr/>
          <p:nvPr/>
        </p:nvSpPr>
        <p:spPr>
          <a:xfrm>
            <a:off x="4919472" y="3767328"/>
            <a:ext cx="3749040" cy="256032"/>
          </a:xfrm>
          <a:prstGeom prst="rect">
            <a:avLst/>
          </a:prstGeom>
          <a:noFill/>
          <a:ln/>
        </p:spPr>
        <p:txBody>
          <a:bodyPr wrap="square" rtlCol="0" anchor="ctr"/>
          <a:lstStyle/>
          <a:p>
            <a:pPr indent="0" marL="0">
              <a:buNone/>
            </a:pPr>
            <a:r>
              <a:rPr lang="en-US" sz="900" dirty="0">
                <a:solidFill>
                  <a:srgbClr val="F0C87A"/>
                </a:solidFill>
                <a:latin typeface="Courier New" pitchFamily="34" charset="0"/>
                <a:ea typeface="Courier New" pitchFamily="34" charset="-122"/>
                <a:cs typeface="Courier New" pitchFamily="34" charset="-120"/>
              </a:rPr>
              <a:t>    aria-label="Dismiss notice"&gt;</a:t>
            </a:r>
            <a:endParaRPr lang="en-US" sz="900" dirty="0"/>
          </a:p>
        </p:txBody>
      </p:sp>
      <p:sp>
        <p:nvSpPr>
          <p:cNvPr id="41" name="Text 37"/>
          <p:cNvSpPr/>
          <p:nvPr/>
        </p:nvSpPr>
        <p:spPr>
          <a:xfrm>
            <a:off x="4919472" y="4023360"/>
            <a:ext cx="3749040" cy="256032"/>
          </a:xfrm>
          <a:prstGeom prst="rect">
            <a:avLst/>
          </a:prstGeom>
          <a:noFill/>
          <a:ln/>
        </p:spPr>
        <p:txBody>
          <a:bodyPr wrap="square" rtlCol="0" anchor="ctr"/>
          <a:lstStyle/>
          <a:p>
            <a:pPr indent="0" marL="0">
              <a:buNone/>
            </a:pPr>
            <a:r>
              <a:rPr lang="en-US" sz="900" dirty="0">
                <a:solidFill>
                  <a:srgbClr val="E8E8E8"/>
                </a:solidFill>
                <a:latin typeface="Courier New" pitchFamily="34" charset="0"/>
                <a:ea typeface="Courier New" pitchFamily="34" charset="-122"/>
                <a:cs typeface="Courier New" pitchFamily="34" charset="-120"/>
              </a:rPr>
              <a:t>    ✕</a:t>
            </a:r>
            <a:endParaRPr lang="en-US" sz="900" dirty="0"/>
          </a:p>
        </p:txBody>
      </p:sp>
      <p:sp>
        <p:nvSpPr>
          <p:cNvPr id="42" name="Text 38"/>
          <p:cNvSpPr/>
          <p:nvPr/>
        </p:nvSpPr>
        <p:spPr>
          <a:xfrm>
            <a:off x="4919472" y="4279392"/>
            <a:ext cx="3749040" cy="256032"/>
          </a:xfrm>
          <a:prstGeom prst="rect">
            <a:avLst/>
          </a:prstGeom>
          <a:noFill/>
          <a:ln/>
        </p:spPr>
        <p:txBody>
          <a:bodyPr wrap="square" rtlCol="0" anchor="ctr"/>
          <a:lstStyle/>
          <a:p>
            <a:pPr indent="0" marL="0">
              <a:buNone/>
            </a:pPr>
            <a:r>
              <a:rPr lang="en-US" sz="900" dirty="0">
                <a:solidFill>
                  <a:srgbClr val="7EC8C8"/>
                </a:solidFill>
                <a:latin typeface="Courier New" pitchFamily="34" charset="0"/>
                <a:ea typeface="Courier New" pitchFamily="34" charset="-122"/>
                <a:cs typeface="Courier New" pitchFamily="34" charset="-120"/>
              </a:rPr>
              <a:t>  &lt;/button&gt;</a:t>
            </a:r>
            <a:endParaRPr lang="en-US" sz="900" dirty="0"/>
          </a:p>
        </p:txBody>
      </p:sp>
      <p:sp>
        <p:nvSpPr>
          <p:cNvPr id="44" name="Text 39"/>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2 — ARIA (WCAG 4.1.2, 1.3.1)</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Accessible Rich Internet Applications</a:t>
            </a:r>
            <a:endParaRPr lang="en-US" sz="2600" dirty="0"/>
          </a:p>
        </p:txBody>
      </p:sp>
      <p:sp>
        <p:nvSpPr>
          <p:cNvPr id="4" name="Shape 2"/>
          <p:cNvSpPr/>
          <p:nvPr/>
        </p:nvSpPr>
        <p:spPr>
          <a:xfrm>
            <a:off x="365760" y="1170432"/>
            <a:ext cx="8412480" cy="475488"/>
          </a:xfrm>
          <a:prstGeom prst="roundRect">
            <a:avLst>
              <a:gd name="adj" fmla="val 13462"/>
            </a:avLst>
          </a:prstGeom>
          <a:solidFill>
            <a:srgbClr val="1A0A00"/>
          </a:solidFill>
          <a:ln w="19050">
            <a:solidFill>
              <a:srgbClr val="F0A500"/>
            </a:solidFill>
            <a:prstDash val="solid"/>
          </a:ln>
        </p:spPr>
      </p:sp>
      <p:sp>
        <p:nvSpPr>
          <p:cNvPr id="5" name="Text 3"/>
          <p:cNvSpPr/>
          <p:nvPr/>
        </p:nvSpPr>
        <p:spPr>
          <a:xfrm>
            <a:off x="502920" y="1207008"/>
            <a:ext cx="8229600" cy="402336"/>
          </a:xfrm>
          <a:prstGeom prst="rect">
            <a:avLst/>
          </a:prstGeom>
          <a:noFill/>
          <a:ln/>
        </p:spPr>
        <p:txBody>
          <a:bodyPr wrap="square" rtlCol="0" anchor="ctr"/>
          <a:lstStyle/>
          <a:p>
            <a:pPr indent="0" marL="0">
              <a:buNone/>
            </a:pPr>
            <a:r>
              <a:rPr lang="en-US" sz="1100" b="1" dirty="0">
                <a:solidFill>
                  <a:srgbClr val="F0A500"/>
                </a:solidFill>
              </a:rPr>
              <a:t>⚠️  ARIA Rule #1: No ARIA is better than bad ARIA. Use native HTML elements first.</a:t>
            </a:r>
            <a:endParaRPr lang="en-US" sz="1100" dirty="0"/>
          </a:p>
        </p:txBody>
      </p:sp>
      <p:sp>
        <p:nvSpPr>
          <p:cNvPr id="6" name="Shape 4"/>
          <p:cNvSpPr/>
          <p:nvPr/>
        </p:nvSpPr>
        <p:spPr>
          <a:xfrm>
            <a:off x="365760" y="1810512"/>
            <a:ext cx="4114800" cy="896112"/>
          </a:xfrm>
          <a:prstGeom prst="roundRect">
            <a:avLst>
              <a:gd name="adj" fmla="val 7143"/>
            </a:avLst>
          </a:prstGeom>
          <a:solidFill>
            <a:srgbClr val="1A2D3F"/>
          </a:solidFill>
          <a:ln w="12700">
            <a:solidFill>
              <a:srgbClr val="0EA5A0"/>
            </a:solidFill>
            <a:prstDash val="solid"/>
          </a:ln>
        </p:spPr>
      </p:sp>
      <p:sp>
        <p:nvSpPr>
          <p:cNvPr id="7" name="Text 5"/>
          <p:cNvSpPr/>
          <p:nvPr/>
        </p:nvSpPr>
        <p:spPr>
          <a:xfrm>
            <a:off x="475488" y="1865376"/>
            <a:ext cx="3840480" cy="256032"/>
          </a:xfrm>
          <a:prstGeom prst="rect">
            <a:avLst/>
          </a:prstGeom>
          <a:noFill/>
          <a:ln/>
        </p:spPr>
        <p:txBody>
          <a:bodyPr wrap="square" rtlCol="0" anchor="ctr"/>
          <a:lstStyle/>
          <a:p>
            <a:pPr indent="0" marL="0">
              <a:buNone/>
            </a:pPr>
            <a:r>
              <a:rPr lang="en-US" sz="1050" b="1" dirty="0">
                <a:solidFill>
                  <a:srgbClr val="0EA5A0"/>
                </a:solidFill>
                <a:latin typeface="Courier New" pitchFamily="34" charset="0"/>
                <a:ea typeface="Courier New" pitchFamily="34" charset="-122"/>
                <a:cs typeface="Courier New" pitchFamily="34" charset="-120"/>
              </a:rPr>
              <a:t>role="region"</a:t>
            </a:r>
            <a:endParaRPr lang="en-US" sz="1050" dirty="0"/>
          </a:p>
        </p:txBody>
      </p:sp>
      <p:sp>
        <p:nvSpPr>
          <p:cNvPr id="8" name="Text 6"/>
          <p:cNvSpPr/>
          <p:nvPr/>
        </p:nvSpPr>
        <p:spPr>
          <a:xfrm>
            <a:off x="475488" y="2130552"/>
            <a:ext cx="3840480" cy="347472"/>
          </a:xfrm>
          <a:prstGeom prst="rect">
            <a:avLst/>
          </a:prstGeom>
          <a:noFill/>
          <a:ln/>
        </p:spPr>
        <p:txBody>
          <a:bodyPr wrap="square" rtlCol="0" anchor="ctr"/>
          <a:lstStyle/>
          <a:p>
            <a:pPr indent="0" marL="0">
              <a:buNone/>
            </a:pPr>
            <a:r>
              <a:rPr lang="en-US" sz="850" dirty="0">
                <a:solidFill>
                  <a:srgbClr val="8DA6B8"/>
                </a:solidFill>
              </a:rPr>
              <a:t>Defines a named landmark. Screen reader users can jump between landmarks with a single key.</a:t>
            </a:r>
            <a:endParaRPr lang="en-US" sz="850" dirty="0"/>
          </a:p>
        </p:txBody>
      </p:sp>
      <p:sp>
        <p:nvSpPr>
          <p:cNvPr id="9" name="Shape 7"/>
          <p:cNvSpPr/>
          <p:nvPr/>
        </p:nvSpPr>
        <p:spPr>
          <a:xfrm>
            <a:off x="4736592" y="1810512"/>
            <a:ext cx="4114800" cy="896112"/>
          </a:xfrm>
          <a:prstGeom prst="roundRect">
            <a:avLst>
              <a:gd name="adj" fmla="val 7143"/>
            </a:avLst>
          </a:prstGeom>
          <a:solidFill>
            <a:srgbClr val="1A2D3F"/>
          </a:solidFill>
          <a:ln w="12700">
            <a:solidFill>
              <a:srgbClr val="14C8C2"/>
            </a:solidFill>
            <a:prstDash val="solid"/>
          </a:ln>
        </p:spPr>
      </p:sp>
      <p:sp>
        <p:nvSpPr>
          <p:cNvPr id="10" name="Text 8"/>
          <p:cNvSpPr/>
          <p:nvPr/>
        </p:nvSpPr>
        <p:spPr>
          <a:xfrm>
            <a:off x="4846320" y="1865376"/>
            <a:ext cx="3840480" cy="256032"/>
          </a:xfrm>
          <a:prstGeom prst="rect">
            <a:avLst/>
          </a:prstGeom>
          <a:noFill/>
          <a:ln/>
        </p:spPr>
        <p:txBody>
          <a:bodyPr wrap="square" rtlCol="0" anchor="ctr"/>
          <a:lstStyle/>
          <a:p>
            <a:pPr indent="0" marL="0">
              <a:buNone/>
            </a:pPr>
            <a:r>
              <a:rPr lang="en-US" sz="1050" b="1" dirty="0">
                <a:solidFill>
                  <a:srgbClr val="14C8C2"/>
                </a:solidFill>
                <a:latin typeface="Courier New" pitchFamily="34" charset="0"/>
                <a:ea typeface="Courier New" pitchFamily="34" charset="-122"/>
                <a:cs typeface="Courier New" pitchFamily="34" charset="-120"/>
              </a:rPr>
              <a:t>aria-label="..."</a:t>
            </a:r>
            <a:endParaRPr lang="en-US" sz="1050" dirty="0"/>
          </a:p>
        </p:txBody>
      </p:sp>
      <p:sp>
        <p:nvSpPr>
          <p:cNvPr id="11" name="Text 9"/>
          <p:cNvSpPr/>
          <p:nvPr/>
        </p:nvSpPr>
        <p:spPr>
          <a:xfrm>
            <a:off x="4846320" y="2130552"/>
            <a:ext cx="3840480" cy="347472"/>
          </a:xfrm>
          <a:prstGeom prst="rect">
            <a:avLst/>
          </a:prstGeom>
          <a:noFill/>
          <a:ln/>
        </p:spPr>
        <p:txBody>
          <a:bodyPr wrap="square" rtlCol="0" anchor="ctr"/>
          <a:lstStyle/>
          <a:p>
            <a:pPr indent="0" marL="0">
              <a:buNone/>
            </a:pPr>
            <a:r>
              <a:rPr lang="en-US" sz="850" dirty="0">
                <a:solidFill>
                  <a:srgbClr val="8DA6B8"/>
                </a:solidFill>
              </a:rPr>
              <a:t>Provides an accessible name when no visible label exists (or to disambiguate multiple regions).</a:t>
            </a:r>
            <a:endParaRPr lang="en-US" sz="850" dirty="0"/>
          </a:p>
        </p:txBody>
      </p:sp>
      <p:sp>
        <p:nvSpPr>
          <p:cNvPr id="12" name="Shape 10"/>
          <p:cNvSpPr/>
          <p:nvPr/>
        </p:nvSpPr>
        <p:spPr>
          <a:xfrm>
            <a:off x="365760" y="2798064"/>
            <a:ext cx="4114800" cy="896112"/>
          </a:xfrm>
          <a:prstGeom prst="roundRect">
            <a:avLst>
              <a:gd name="adj" fmla="val 7143"/>
            </a:avLst>
          </a:prstGeom>
          <a:solidFill>
            <a:srgbClr val="1A2D3F"/>
          </a:solidFill>
          <a:ln w="12700">
            <a:solidFill>
              <a:srgbClr val="F0A500"/>
            </a:solidFill>
            <a:prstDash val="solid"/>
          </a:ln>
        </p:spPr>
      </p:sp>
      <p:sp>
        <p:nvSpPr>
          <p:cNvPr id="13" name="Text 11"/>
          <p:cNvSpPr/>
          <p:nvPr/>
        </p:nvSpPr>
        <p:spPr>
          <a:xfrm>
            <a:off x="475488" y="2852928"/>
            <a:ext cx="3840480" cy="256032"/>
          </a:xfrm>
          <a:prstGeom prst="rect">
            <a:avLst/>
          </a:prstGeom>
          <a:noFill/>
          <a:ln/>
        </p:spPr>
        <p:txBody>
          <a:bodyPr wrap="square" rtlCol="0" anchor="ctr"/>
          <a:lstStyle/>
          <a:p>
            <a:pPr indent="0" marL="0">
              <a:buNone/>
            </a:pPr>
            <a:r>
              <a:rPr lang="en-US" sz="1050" b="1" dirty="0">
                <a:solidFill>
                  <a:srgbClr val="F0A500"/>
                </a:solidFill>
                <a:latin typeface="Courier New" pitchFamily="34" charset="0"/>
                <a:ea typeface="Courier New" pitchFamily="34" charset="-122"/>
                <a:cs typeface="Courier New" pitchFamily="34" charset="-120"/>
              </a:rPr>
              <a:t>aria-live="polite"</a:t>
            </a:r>
            <a:endParaRPr lang="en-US" sz="1050" dirty="0"/>
          </a:p>
        </p:txBody>
      </p:sp>
      <p:sp>
        <p:nvSpPr>
          <p:cNvPr id="14" name="Text 12"/>
          <p:cNvSpPr/>
          <p:nvPr/>
        </p:nvSpPr>
        <p:spPr>
          <a:xfrm>
            <a:off x="475488" y="3118104"/>
            <a:ext cx="3840480" cy="347472"/>
          </a:xfrm>
          <a:prstGeom prst="rect">
            <a:avLst/>
          </a:prstGeom>
          <a:noFill/>
          <a:ln/>
        </p:spPr>
        <p:txBody>
          <a:bodyPr wrap="square" rtlCol="0" anchor="ctr"/>
          <a:lstStyle/>
          <a:p>
            <a:pPr indent="0" marL="0">
              <a:buNone/>
            </a:pPr>
            <a:r>
              <a:rPr lang="en-US" sz="850" dirty="0">
                <a:solidFill>
                  <a:srgbClr val="8DA6B8"/>
                </a:solidFill>
              </a:rPr>
              <a:t>Announces dynamic content updates to screen readers without moving focus.</a:t>
            </a:r>
            <a:endParaRPr lang="en-US" sz="850" dirty="0"/>
          </a:p>
        </p:txBody>
      </p:sp>
      <p:sp>
        <p:nvSpPr>
          <p:cNvPr id="15" name="Shape 13"/>
          <p:cNvSpPr/>
          <p:nvPr/>
        </p:nvSpPr>
        <p:spPr>
          <a:xfrm>
            <a:off x="4736592" y="2798064"/>
            <a:ext cx="4114800" cy="896112"/>
          </a:xfrm>
          <a:prstGeom prst="roundRect">
            <a:avLst>
              <a:gd name="adj" fmla="val 7143"/>
            </a:avLst>
          </a:prstGeom>
          <a:solidFill>
            <a:srgbClr val="1A2D3F"/>
          </a:solidFill>
          <a:ln w="12700">
            <a:solidFill>
              <a:srgbClr val="A78BFA"/>
            </a:solidFill>
            <a:prstDash val="solid"/>
          </a:ln>
        </p:spPr>
      </p:sp>
      <p:sp>
        <p:nvSpPr>
          <p:cNvPr id="16" name="Text 14"/>
          <p:cNvSpPr/>
          <p:nvPr/>
        </p:nvSpPr>
        <p:spPr>
          <a:xfrm>
            <a:off x="4846320" y="2852928"/>
            <a:ext cx="3840480" cy="256032"/>
          </a:xfrm>
          <a:prstGeom prst="rect">
            <a:avLst/>
          </a:prstGeom>
          <a:noFill/>
          <a:ln/>
        </p:spPr>
        <p:txBody>
          <a:bodyPr wrap="square" rtlCol="0" anchor="ctr"/>
          <a:lstStyle/>
          <a:p>
            <a:pPr indent="0" marL="0">
              <a:buNone/>
            </a:pPr>
            <a:r>
              <a:rPr lang="en-US" sz="1050" b="1" dirty="0">
                <a:solidFill>
                  <a:srgbClr val="A78BFA"/>
                </a:solidFill>
                <a:latin typeface="Courier New" pitchFamily="34" charset="0"/>
                <a:ea typeface="Courier New" pitchFamily="34" charset="-122"/>
                <a:cs typeface="Courier New" pitchFamily="34" charset="-120"/>
              </a:rPr>
              <a:t>aria-describedby</a:t>
            </a:r>
            <a:endParaRPr lang="en-US" sz="1050" dirty="0"/>
          </a:p>
        </p:txBody>
      </p:sp>
      <p:sp>
        <p:nvSpPr>
          <p:cNvPr id="17" name="Text 15"/>
          <p:cNvSpPr/>
          <p:nvPr/>
        </p:nvSpPr>
        <p:spPr>
          <a:xfrm>
            <a:off x="4846320" y="3118104"/>
            <a:ext cx="3840480" cy="347472"/>
          </a:xfrm>
          <a:prstGeom prst="rect">
            <a:avLst/>
          </a:prstGeom>
          <a:noFill/>
          <a:ln/>
        </p:spPr>
        <p:txBody>
          <a:bodyPr wrap="square" rtlCol="0" anchor="ctr"/>
          <a:lstStyle/>
          <a:p>
            <a:pPr indent="0" marL="0">
              <a:buNone/>
            </a:pPr>
            <a:r>
              <a:rPr lang="en-US" sz="850" dirty="0">
                <a:solidFill>
                  <a:srgbClr val="8DA6B8"/>
                </a:solidFill>
              </a:rPr>
              <a:t>Links an element to a longer description. Screen reader reads label, then description.</a:t>
            </a:r>
            <a:endParaRPr lang="en-US" sz="850" dirty="0"/>
          </a:p>
        </p:txBody>
      </p:sp>
      <p:sp>
        <p:nvSpPr>
          <p:cNvPr id="18" name="Shape 16"/>
          <p:cNvSpPr/>
          <p:nvPr/>
        </p:nvSpPr>
        <p:spPr>
          <a:xfrm>
            <a:off x="365760" y="3785616"/>
            <a:ext cx="4114800" cy="896112"/>
          </a:xfrm>
          <a:prstGeom prst="roundRect">
            <a:avLst>
              <a:gd name="adj" fmla="val 7143"/>
            </a:avLst>
          </a:prstGeom>
          <a:solidFill>
            <a:srgbClr val="1A2D3F"/>
          </a:solidFill>
          <a:ln w="12700">
            <a:solidFill>
              <a:srgbClr val="22C55E"/>
            </a:solidFill>
            <a:prstDash val="solid"/>
          </a:ln>
        </p:spPr>
      </p:sp>
      <p:sp>
        <p:nvSpPr>
          <p:cNvPr id="19" name="Text 17"/>
          <p:cNvSpPr/>
          <p:nvPr/>
        </p:nvSpPr>
        <p:spPr>
          <a:xfrm>
            <a:off x="475488" y="3840480"/>
            <a:ext cx="3840480" cy="256032"/>
          </a:xfrm>
          <a:prstGeom prst="rect">
            <a:avLst/>
          </a:prstGeom>
          <a:noFill/>
          <a:ln/>
        </p:spPr>
        <p:txBody>
          <a:bodyPr wrap="square" rtlCol="0" anchor="ctr"/>
          <a:lstStyle/>
          <a:p>
            <a:pPr indent="0" marL="0">
              <a:buNone/>
            </a:pPr>
            <a:r>
              <a:rPr lang="en-US" sz="1050" b="1" dirty="0">
                <a:solidFill>
                  <a:srgbClr val="22C55E"/>
                </a:solidFill>
                <a:latin typeface="Courier New" pitchFamily="34" charset="0"/>
                <a:ea typeface="Courier New" pitchFamily="34" charset="-122"/>
                <a:cs typeface="Courier New" pitchFamily="34" charset="-120"/>
              </a:rPr>
              <a:t>aria-expanded</a:t>
            </a:r>
            <a:endParaRPr lang="en-US" sz="1050" dirty="0"/>
          </a:p>
        </p:txBody>
      </p:sp>
      <p:sp>
        <p:nvSpPr>
          <p:cNvPr id="20" name="Text 18"/>
          <p:cNvSpPr/>
          <p:nvPr/>
        </p:nvSpPr>
        <p:spPr>
          <a:xfrm>
            <a:off x="475488" y="4105656"/>
            <a:ext cx="3840480" cy="347472"/>
          </a:xfrm>
          <a:prstGeom prst="rect">
            <a:avLst/>
          </a:prstGeom>
          <a:noFill/>
          <a:ln/>
        </p:spPr>
        <p:txBody>
          <a:bodyPr wrap="square" rtlCol="0" anchor="ctr"/>
          <a:lstStyle/>
          <a:p>
            <a:pPr indent="0" marL="0">
              <a:buNone/>
            </a:pPr>
            <a:r>
              <a:rPr lang="en-US" sz="850" dirty="0">
                <a:solidFill>
                  <a:srgbClr val="8DA6B8"/>
                </a:solidFill>
              </a:rPr>
              <a:t>Communicates collapsed/expanded state of toggleable content.</a:t>
            </a:r>
            <a:endParaRPr lang="en-US" sz="850" dirty="0"/>
          </a:p>
        </p:txBody>
      </p:sp>
      <p:sp>
        <p:nvSpPr>
          <p:cNvPr id="21" name="Shape 19"/>
          <p:cNvSpPr/>
          <p:nvPr/>
        </p:nvSpPr>
        <p:spPr>
          <a:xfrm>
            <a:off x="4736592" y="3785616"/>
            <a:ext cx="4114800" cy="896112"/>
          </a:xfrm>
          <a:prstGeom prst="roundRect">
            <a:avLst>
              <a:gd name="adj" fmla="val 7143"/>
            </a:avLst>
          </a:prstGeom>
          <a:solidFill>
            <a:srgbClr val="1A2D3F"/>
          </a:solidFill>
          <a:ln w="12700">
            <a:solidFill>
              <a:srgbClr val="8DA6B8"/>
            </a:solidFill>
            <a:prstDash val="solid"/>
          </a:ln>
        </p:spPr>
      </p:sp>
      <p:sp>
        <p:nvSpPr>
          <p:cNvPr id="22" name="Text 20"/>
          <p:cNvSpPr/>
          <p:nvPr/>
        </p:nvSpPr>
        <p:spPr>
          <a:xfrm>
            <a:off x="4846320" y="3840480"/>
            <a:ext cx="3840480" cy="256032"/>
          </a:xfrm>
          <a:prstGeom prst="rect">
            <a:avLst/>
          </a:prstGeom>
          <a:noFill/>
          <a:ln/>
        </p:spPr>
        <p:txBody>
          <a:bodyPr wrap="square" rtlCol="0" anchor="ctr"/>
          <a:lstStyle/>
          <a:p>
            <a:pPr indent="0" marL="0">
              <a:buNone/>
            </a:pPr>
            <a:r>
              <a:rPr lang="en-US" sz="1050" b="1" dirty="0">
                <a:solidFill>
                  <a:srgbClr val="8DA6B8"/>
                </a:solidFill>
                <a:latin typeface="Courier New" pitchFamily="34" charset="0"/>
                <a:ea typeface="Courier New" pitchFamily="34" charset="-122"/>
                <a:cs typeface="Courier New" pitchFamily="34" charset="-120"/>
              </a:rPr>
              <a:t>aria-hidden="true"</a:t>
            </a:r>
            <a:endParaRPr lang="en-US" sz="1050" dirty="0"/>
          </a:p>
        </p:txBody>
      </p:sp>
      <p:sp>
        <p:nvSpPr>
          <p:cNvPr id="23" name="Text 21"/>
          <p:cNvSpPr/>
          <p:nvPr/>
        </p:nvSpPr>
        <p:spPr>
          <a:xfrm>
            <a:off x="4846320" y="4105656"/>
            <a:ext cx="3840480" cy="347472"/>
          </a:xfrm>
          <a:prstGeom prst="rect">
            <a:avLst/>
          </a:prstGeom>
          <a:noFill/>
          <a:ln/>
        </p:spPr>
        <p:txBody>
          <a:bodyPr wrap="square" rtlCol="0" anchor="ctr"/>
          <a:lstStyle/>
          <a:p>
            <a:pPr indent="0" marL="0">
              <a:buNone/>
            </a:pPr>
            <a:r>
              <a:rPr lang="en-US" sz="850" dirty="0">
                <a:solidFill>
                  <a:srgbClr val="8DA6B8"/>
                </a:solidFill>
              </a:rPr>
              <a:t>Removes decorative elements from the accessibility tree entirely.</a:t>
            </a:r>
            <a:endParaRPr lang="en-US" sz="850" dirty="0"/>
          </a:p>
        </p:txBody>
      </p:sp>
      <p:sp>
        <p:nvSpPr>
          <p:cNvPr id="25" name="Text 22"/>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3 — COLOUR CONTRAST (WCAG 1.4.3, 1.4.11)</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Contrast is not a design preference — it's a requirement</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2011680"/>
        </p:xfrm>
        <a:graphic>
          <a:graphicData uri="http://schemas.openxmlformats.org/drawingml/2006/table">
            <a:tbl>
              <a:tblPr/>
              <a:tblGrid>
                <a:gridCol w="2103120"/>
                <a:gridCol w="2103120"/>
                <a:gridCol w="2103120"/>
                <a:gridCol w="2103120"/>
              </a:tblGrid>
              <a:tr h="347472">
                <a:tc>
                  <a:txBody>
                    <a:bodyPr/>
                    <a:lstStyle/>
                    <a:p>
                      <a:pPr indent="0" marL="0">
                        <a:buNone/>
                      </a:pPr>
                      <a:r>
                        <a:rPr lang="en-US" sz="950" dirty="0">
                          <a:solidFill>
                            <a:srgbClr val="FFFFFF"/>
                          </a:solidFill>
                          <a:latin typeface="Arial" pitchFamily="34" charset="0"/>
                          <a:ea typeface="Arial" pitchFamily="34" charset="-122"/>
                          <a:cs typeface="Arial" pitchFamily="34" charset="-120"/>
                        </a:rPr>
                        <a:t>Criterion</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Ratio</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Level</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Applies to</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347472">
                <a:tc>
                  <a:txBody>
                    <a:bodyPr/>
                    <a:lstStyle/>
                    <a:p>
                      <a:pPr indent="0" marL="0">
                        <a:buNone/>
                      </a:pPr>
                      <a:r>
                        <a:rPr lang="en-US" sz="950" dirty="0">
                          <a:solidFill>
                            <a:srgbClr val="FFFFFF"/>
                          </a:solidFill>
                          <a:latin typeface="Arial" pitchFamily="34" charset="0"/>
                          <a:ea typeface="Arial" pitchFamily="34" charset="-122"/>
                          <a:cs typeface="Arial" pitchFamily="34" charset="-120"/>
                        </a:rPr>
                        <a:t>1.4.3 — Normal text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4.5 : 1</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AA</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Text under 18pt or 14pt bold</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347472">
                <a:tc>
                  <a:txBody>
                    <a:bodyPr/>
                    <a:lstStyle/>
                    <a:p>
                      <a:pPr indent="0" marL="0">
                        <a:buNone/>
                      </a:pPr>
                      <a:r>
                        <a:rPr lang="en-US" sz="950" dirty="0">
                          <a:solidFill>
                            <a:srgbClr val="FFFFFF"/>
                          </a:solidFill>
                          <a:latin typeface="Arial" pitchFamily="34" charset="0"/>
                          <a:ea typeface="Arial" pitchFamily="34" charset="-122"/>
                          <a:cs typeface="Arial" pitchFamily="34" charset="-120"/>
                        </a:rPr>
                        <a:t>1.4.3 — Large text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3 : 1</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AA</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18pt+ or 14pt+ bold text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347472">
                <a:tc>
                  <a:txBody>
                    <a:bodyPr/>
                    <a:lstStyle/>
                    <a:p>
                      <a:pPr indent="0" marL="0">
                        <a:buNone/>
                      </a:pPr>
                      <a:r>
                        <a:rPr lang="en-US" sz="950" dirty="0">
                          <a:solidFill>
                            <a:srgbClr val="FFFFFF"/>
                          </a:solidFill>
                          <a:latin typeface="Arial" pitchFamily="34" charset="0"/>
                          <a:ea typeface="Arial" pitchFamily="34" charset="-122"/>
                          <a:cs typeface="Arial" pitchFamily="34" charset="-120"/>
                        </a:rPr>
                        <a:t>1.4.11 — Non-text contrast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3 : 1</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AA</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UI components, icons, focus indicators</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347472">
                <a:tc>
                  <a:txBody>
                    <a:bodyPr/>
                    <a:lstStyle/>
                    <a:p>
                      <a:pPr indent="0" marL="0">
                        <a:buNone/>
                      </a:pPr>
                      <a:r>
                        <a:rPr lang="en-US" sz="950" dirty="0">
                          <a:solidFill>
                            <a:srgbClr val="FFFFFF"/>
                          </a:solidFill>
                          <a:latin typeface="Arial" pitchFamily="34" charset="0"/>
                          <a:ea typeface="Arial" pitchFamily="34" charset="-122"/>
                          <a:cs typeface="Arial" pitchFamily="34" charset="-120"/>
                        </a:rPr>
                        <a:t>1.4.6 — Enhanced text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7 : 1</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AAA</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Highest requirement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347472">
                <a:tc>
                  <a:txBody>
                    <a:bodyPr/>
                    <a:lstStyle/>
                    <a:p>
                      <a:pPr indent="0" marL="0">
                        <a:buNone/>
                      </a:pPr>
                      <a:r>
                        <a:rPr lang="en-US" sz="950" dirty="0">
                          <a:solidFill>
                            <a:srgbClr val="FFFFFF"/>
                          </a:solidFill>
                          <a:latin typeface="Arial" pitchFamily="34" charset="0"/>
                          <a:ea typeface="Arial" pitchFamily="34" charset="-122"/>
                          <a:cs typeface="Arial" pitchFamily="34" charset="-120"/>
                        </a:rPr>
                        <a:t>2.4.11 — Focus not obscured</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AA NEW 2.2</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50" dirty="0">
                          <a:solidFill>
                            <a:srgbClr val="FFFFFF"/>
                          </a:solidFill>
                          <a:latin typeface="Arial" pitchFamily="34" charset="0"/>
                          <a:ea typeface="Arial" pitchFamily="34" charset="-122"/>
                          <a:cs typeface="Arial" pitchFamily="34" charset="-120"/>
                        </a:rPr>
                        <a:t>Focus indicator must remain visible when scrolled</a:t>
                      </a:r>
                      <a:endParaRPr lang="en-US" sz="95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bl>
          </a:graphicData>
        </a:graphic>
      </p:graphicFrame>
      <p:sp>
        <p:nvSpPr>
          <p:cNvPr id="5" name="Text 2"/>
          <p:cNvSpPr/>
          <p:nvPr/>
        </p:nvSpPr>
        <p:spPr>
          <a:xfrm>
            <a:off x="365760" y="3337560"/>
            <a:ext cx="3657600" cy="256032"/>
          </a:xfrm>
          <a:prstGeom prst="rect">
            <a:avLst/>
          </a:prstGeom>
          <a:noFill/>
          <a:ln/>
        </p:spPr>
        <p:txBody>
          <a:bodyPr wrap="square" rtlCol="0" anchor="ctr"/>
          <a:lstStyle/>
          <a:p>
            <a:pPr indent="0" marL="0">
              <a:buNone/>
            </a:pPr>
            <a:r>
              <a:rPr lang="en-US" sz="1000" dirty="0">
                <a:solidFill>
                  <a:srgbClr val="8DA6B8"/>
                </a:solidFill>
              </a:rPr>
              <a:t>Live contrast examples:</a:t>
            </a:r>
            <a:endParaRPr lang="en-US" sz="1000" dirty="0"/>
          </a:p>
        </p:txBody>
      </p:sp>
      <p:sp>
        <p:nvSpPr>
          <p:cNvPr id="6" name="Shape 3"/>
          <p:cNvSpPr/>
          <p:nvPr/>
        </p:nvSpPr>
        <p:spPr>
          <a:xfrm>
            <a:off x="365760" y="3657600"/>
            <a:ext cx="2011680" cy="1005840"/>
          </a:xfrm>
          <a:prstGeom prst="roundRect">
            <a:avLst>
              <a:gd name="adj" fmla="val 6364"/>
            </a:avLst>
          </a:prstGeom>
          <a:solidFill>
            <a:srgbClr val="0D1B2A"/>
          </a:solidFill>
          <a:ln w="19050">
            <a:solidFill>
              <a:srgbClr val="EF4444"/>
            </a:solidFill>
            <a:prstDash val="solid"/>
          </a:ln>
        </p:spPr>
      </p:sp>
      <p:sp>
        <p:nvSpPr>
          <p:cNvPr id="7" name="Text 4"/>
          <p:cNvSpPr/>
          <p:nvPr/>
        </p:nvSpPr>
        <p:spPr>
          <a:xfrm>
            <a:off x="365760" y="3730752"/>
            <a:ext cx="2011680" cy="365760"/>
          </a:xfrm>
          <a:prstGeom prst="rect">
            <a:avLst/>
          </a:prstGeom>
          <a:noFill/>
          <a:ln/>
        </p:spPr>
        <p:txBody>
          <a:bodyPr wrap="square" rtlCol="0" anchor="ctr"/>
          <a:lstStyle/>
          <a:p>
            <a:pPr algn="ctr" indent="0" marL="0">
              <a:buNone/>
            </a:pPr>
            <a:r>
              <a:rPr lang="en-US" sz="1100" b="1" dirty="0">
                <a:solidFill>
                  <a:srgbClr val="8DA6B8"/>
                </a:solidFill>
              </a:rPr>
              <a:t>Sample text</a:t>
            </a:r>
            <a:endParaRPr lang="en-US" sz="1100" dirty="0"/>
          </a:p>
        </p:txBody>
      </p:sp>
      <p:pic>
        <p:nvPicPr>
          <p:cNvPr id="8" name="Image 0" descr="preencoded.png">    </p:cNvPr>
          <p:cNvPicPr>
            <a:picLocks noChangeAspect="1"/>
          </p:cNvPicPr>
          <p:nvPr/>
        </p:nvPicPr>
        <p:blipFill>
          <a:blip r:embed="rId1"/>
          <a:stretch>
            <a:fillRect/>
          </a:stretch>
        </p:blipFill>
        <p:spPr>
          <a:xfrm>
            <a:off x="438912" y="4133088"/>
            <a:ext cx="182880" cy="182880"/>
          </a:xfrm>
          <a:prstGeom prst="rect">
            <a:avLst/>
          </a:prstGeom>
        </p:spPr>
      </p:pic>
      <p:sp>
        <p:nvSpPr>
          <p:cNvPr id="9" name="Text 5"/>
          <p:cNvSpPr/>
          <p:nvPr/>
        </p:nvSpPr>
        <p:spPr>
          <a:xfrm>
            <a:off x="658368" y="4114800"/>
            <a:ext cx="1645920" cy="256032"/>
          </a:xfrm>
          <a:prstGeom prst="rect">
            <a:avLst/>
          </a:prstGeom>
          <a:noFill/>
          <a:ln/>
        </p:spPr>
        <p:txBody>
          <a:bodyPr wrap="square" rtlCol="0" anchor="ctr"/>
          <a:lstStyle/>
          <a:p>
            <a:pPr indent="0" marL="0">
              <a:buNone/>
            </a:pPr>
            <a:r>
              <a:rPr lang="en-US" sz="950" b="1" dirty="0">
                <a:solidFill>
                  <a:srgbClr val="EF4444"/>
                </a:solidFill>
              </a:rPr>
              <a:t>Fail — 3.1:1</a:t>
            </a:r>
            <a:endParaRPr lang="en-US" sz="950" dirty="0"/>
          </a:p>
        </p:txBody>
      </p:sp>
      <p:sp>
        <p:nvSpPr>
          <p:cNvPr id="10" name="Shape 6"/>
          <p:cNvSpPr/>
          <p:nvPr/>
        </p:nvSpPr>
        <p:spPr>
          <a:xfrm>
            <a:off x="2542032" y="3657600"/>
            <a:ext cx="2011680" cy="1005840"/>
          </a:xfrm>
          <a:prstGeom prst="roundRect">
            <a:avLst>
              <a:gd name="adj" fmla="val 6364"/>
            </a:avLst>
          </a:prstGeom>
          <a:solidFill>
            <a:srgbClr val="0D1B2A"/>
          </a:solidFill>
          <a:ln w="19050">
            <a:solidFill>
              <a:srgbClr val="22C55E"/>
            </a:solidFill>
            <a:prstDash val="solid"/>
          </a:ln>
        </p:spPr>
      </p:sp>
      <p:sp>
        <p:nvSpPr>
          <p:cNvPr id="11" name="Text 7"/>
          <p:cNvSpPr/>
          <p:nvPr/>
        </p:nvSpPr>
        <p:spPr>
          <a:xfrm>
            <a:off x="2542032" y="3730752"/>
            <a:ext cx="2011680" cy="365760"/>
          </a:xfrm>
          <a:prstGeom prst="rect">
            <a:avLst/>
          </a:prstGeom>
          <a:noFill/>
          <a:ln/>
        </p:spPr>
        <p:txBody>
          <a:bodyPr wrap="square" rtlCol="0" anchor="ctr"/>
          <a:lstStyle/>
          <a:p>
            <a:pPr algn="ctr" indent="0" marL="0">
              <a:buNone/>
            </a:pPr>
            <a:r>
              <a:rPr lang="en-US" sz="1100" b="1" dirty="0">
                <a:solidFill>
                  <a:srgbClr val="0EA5A0"/>
                </a:solidFill>
              </a:rPr>
              <a:t>Sample text</a:t>
            </a:r>
            <a:endParaRPr lang="en-US" sz="1100" dirty="0"/>
          </a:p>
        </p:txBody>
      </p:sp>
      <p:pic>
        <p:nvPicPr>
          <p:cNvPr id="12" name="Image 1" descr="preencoded.png">    </p:cNvPr>
          <p:cNvPicPr>
            <a:picLocks noChangeAspect="1"/>
          </p:cNvPicPr>
          <p:nvPr/>
        </p:nvPicPr>
        <p:blipFill>
          <a:blip r:embed="rId2"/>
          <a:stretch>
            <a:fillRect/>
          </a:stretch>
        </p:blipFill>
        <p:spPr>
          <a:xfrm>
            <a:off x="2615184" y="4133088"/>
            <a:ext cx="182880" cy="182880"/>
          </a:xfrm>
          <a:prstGeom prst="rect">
            <a:avLst/>
          </a:prstGeom>
        </p:spPr>
      </p:pic>
      <p:sp>
        <p:nvSpPr>
          <p:cNvPr id="13" name="Text 8"/>
          <p:cNvSpPr/>
          <p:nvPr/>
        </p:nvSpPr>
        <p:spPr>
          <a:xfrm>
            <a:off x="2834640" y="4114800"/>
            <a:ext cx="1645920" cy="256032"/>
          </a:xfrm>
          <a:prstGeom prst="rect">
            <a:avLst/>
          </a:prstGeom>
          <a:noFill/>
          <a:ln/>
        </p:spPr>
        <p:txBody>
          <a:bodyPr wrap="square" rtlCol="0" anchor="ctr"/>
          <a:lstStyle/>
          <a:p>
            <a:pPr indent="0" marL="0">
              <a:buNone/>
            </a:pPr>
            <a:r>
              <a:rPr lang="en-US" sz="950" b="1" dirty="0">
                <a:solidFill>
                  <a:srgbClr val="22C55E"/>
                </a:solidFill>
              </a:rPr>
              <a:t>Pass — 4.6:1</a:t>
            </a:r>
            <a:endParaRPr lang="en-US" sz="950" dirty="0"/>
          </a:p>
        </p:txBody>
      </p:sp>
      <p:sp>
        <p:nvSpPr>
          <p:cNvPr id="14" name="Shape 9"/>
          <p:cNvSpPr/>
          <p:nvPr/>
        </p:nvSpPr>
        <p:spPr>
          <a:xfrm>
            <a:off x="4718304" y="3657600"/>
            <a:ext cx="2011680" cy="1005840"/>
          </a:xfrm>
          <a:prstGeom prst="roundRect">
            <a:avLst>
              <a:gd name="adj" fmla="val 6364"/>
            </a:avLst>
          </a:prstGeom>
          <a:solidFill>
            <a:srgbClr val="FFFFFF"/>
          </a:solidFill>
          <a:ln w="19050">
            <a:solidFill>
              <a:srgbClr val="EF4444"/>
            </a:solidFill>
            <a:prstDash val="solid"/>
          </a:ln>
        </p:spPr>
      </p:sp>
      <p:sp>
        <p:nvSpPr>
          <p:cNvPr id="15" name="Text 10"/>
          <p:cNvSpPr/>
          <p:nvPr/>
        </p:nvSpPr>
        <p:spPr>
          <a:xfrm>
            <a:off x="4718304" y="3730752"/>
            <a:ext cx="2011680" cy="365760"/>
          </a:xfrm>
          <a:prstGeom prst="rect">
            <a:avLst/>
          </a:prstGeom>
          <a:noFill/>
          <a:ln/>
        </p:spPr>
        <p:txBody>
          <a:bodyPr wrap="square" rtlCol="0" anchor="ctr"/>
          <a:lstStyle/>
          <a:p>
            <a:pPr algn="ctr" indent="0" marL="0">
              <a:buNone/>
            </a:pPr>
            <a:r>
              <a:rPr lang="en-US" sz="1100" b="1" dirty="0">
                <a:solidFill>
                  <a:srgbClr val="9CA3AF"/>
                </a:solidFill>
              </a:rPr>
              <a:t>Sample text</a:t>
            </a:r>
            <a:endParaRPr lang="en-US" sz="1100" dirty="0"/>
          </a:p>
        </p:txBody>
      </p:sp>
      <p:pic>
        <p:nvPicPr>
          <p:cNvPr id="16" name="Image 2" descr="preencoded.png">    </p:cNvPr>
          <p:cNvPicPr>
            <a:picLocks noChangeAspect="1"/>
          </p:cNvPicPr>
          <p:nvPr/>
        </p:nvPicPr>
        <p:blipFill>
          <a:blip r:embed="rId3"/>
          <a:stretch>
            <a:fillRect/>
          </a:stretch>
        </p:blipFill>
        <p:spPr>
          <a:xfrm>
            <a:off x="4791456" y="4133088"/>
            <a:ext cx="182880" cy="182880"/>
          </a:xfrm>
          <a:prstGeom prst="rect">
            <a:avLst/>
          </a:prstGeom>
        </p:spPr>
      </p:pic>
      <p:sp>
        <p:nvSpPr>
          <p:cNvPr id="17" name="Text 11"/>
          <p:cNvSpPr/>
          <p:nvPr/>
        </p:nvSpPr>
        <p:spPr>
          <a:xfrm>
            <a:off x="5010912" y="4114800"/>
            <a:ext cx="1645920" cy="256032"/>
          </a:xfrm>
          <a:prstGeom prst="rect">
            <a:avLst/>
          </a:prstGeom>
          <a:noFill/>
          <a:ln/>
        </p:spPr>
        <p:txBody>
          <a:bodyPr wrap="square" rtlCol="0" anchor="ctr"/>
          <a:lstStyle/>
          <a:p>
            <a:pPr indent="0" marL="0">
              <a:buNone/>
            </a:pPr>
            <a:r>
              <a:rPr lang="en-US" sz="950" b="1" dirty="0">
                <a:solidFill>
                  <a:srgbClr val="EF4444"/>
                </a:solidFill>
              </a:rPr>
              <a:t>Fail — 2.8:1</a:t>
            </a:r>
            <a:endParaRPr lang="en-US" sz="950" dirty="0"/>
          </a:p>
        </p:txBody>
      </p:sp>
      <p:sp>
        <p:nvSpPr>
          <p:cNvPr id="18" name="Shape 12"/>
          <p:cNvSpPr/>
          <p:nvPr/>
        </p:nvSpPr>
        <p:spPr>
          <a:xfrm>
            <a:off x="6894576" y="3657600"/>
            <a:ext cx="2011680" cy="1005840"/>
          </a:xfrm>
          <a:prstGeom prst="roundRect">
            <a:avLst>
              <a:gd name="adj" fmla="val 6364"/>
            </a:avLst>
          </a:prstGeom>
          <a:solidFill>
            <a:srgbClr val="FFFFFF"/>
          </a:solidFill>
          <a:ln w="19050">
            <a:solidFill>
              <a:srgbClr val="22C55E"/>
            </a:solidFill>
            <a:prstDash val="solid"/>
          </a:ln>
        </p:spPr>
      </p:sp>
      <p:sp>
        <p:nvSpPr>
          <p:cNvPr id="19" name="Text 13"/>
          <p:cNvSpPr/>
          <p:nvPr/>
        </p:nvSpPr>
        <p:spPr>
          <a:xfrm>
            <a:off x="6894576" y="3730752"/>
            <a:ext cx="2011680" cy="365760"/>
          </a:xfrm>
          <a:prstGeom prst="rect">
            <a:avLst/>
          </a:prstGeom>
          <a:noFill/>
          <a:ln/>
        </p:spPr>
        <p:txBody>
          <a:bodyPr wrap="square" rtlCol="0" anchor="ctr"/>
          <a:lstStyle/>
          <a:p>
            <a:pPr algn="ctr" indent="0" marL="0">
              <a:buNone/>
            </a:pPr>
            <a:r>
              <a:rPr lang="en-US" sz="1100" b="1" dirty="0">
                <a:solidFill>
                  <a:srgbClr val="1A2A3A"/>
                </a:solidFill>
              </a:rPr>
              <a:t>Sample text</a:t>
            </a:r>
            <a:endParaRPr lang="en-US" sz="1100" dirty="0"/>
          </a:p>
        </p:txBody>
      </p:sp>
      <p:pic>
        <p:nvPicPr>
          <p:cNvPr id="20" name="Image 3" descr="preencoded.png">    </p:cNvPr>
          <p:cNvPicPr>
            <a:picLocks noChangeAspect="1"/>
          </p:cNvPicPr>
          <p:nvPr/>
        </p:nvPicPr>
        <p:blipFill>
          <a:blip r:embed="rId4"/>
          <a:stretch>
            <a:fillRect/>
          </a:stretch>
        </p:blipFill>
        <p:spPr>
          <a:xfrm>
            <a:off x="6967728" y="4133088"/>
            <a:ext cx="182880" cy="182880"/>
          </a:xfrm>
          <a:prstGeom prst="rect">
            <a:avLst/>
          </a:prstGeom>
        </p:spPr>
      </p:pic>
      <p:sp>
        <p:nvSpPr>
          <p:cNvPr id="21" name="Text 14"/>
          <p:cNvSpPr/>
          <p:nvPr/>
        </p:nvSpPr>
        <p:spPr>
          <a:xfrm>
            <a:off x="7187184" y="4114800"/>
            <a:ext cx="1645920" cy="256032"/>
          </a:xfrm>
          <a:prstGeom prst="rect">
            <a:avLst/>
          </a:prstGeom>
          <a:noFill/>
          <a:ln/>
        </p:spPr>
        <p:txBody>
          <a:bodyPr wrap="square" rtlCol="0" anchor="ctr"/>
          <a:lstStyle/>
          <a:p>
            <a:pPr indent="0" marL="0">
              <a:buNone/>
            </a:pPr>
            <a:r>
              <a:rPr lang="en-US" sz="950" b="1" dirty="0">
                <a:solidFill>
                  <a:srgbClr val="22C55E"/>
                </a:solidFill>
              </a:rPr>
              <a:t>Pass — 16.4:1</a:t>
            </a:r>
            <a:endParaRPr lang="en-US" sz="950" dirty="0"/>
          </a:p>
        </p:txBody>
      </p:sp>
      <p:sp>
        <p:nvSpPr>
          <p:cNvPr id="23" name="Text 15"/>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4 — KEYBOARD NAVIGATION (WCAG 2.1.1, 2.1.2, 2.4.3, 2.4.7)</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Every mouse action must have a keyboard equivalent</a:t>
            </a:r>
            <a:endParaRPr lang="en-US" sz="2400" dirty="0"/>
          </a:p>
        </p:txBody>
      </p:sp>
      <p:sp>
        <p:nvSpPr>
          <p:cNvPr id="4" name="Shape 2"/>
          <p:cNvSpPr/>
          <p:nvPr/>
        </p:nvSpPr>
        <p:spPr>
          <a:xfrm>
            <a:off x="365760" y="1188720"/>
            <a:ext cx="4114800" cy="3566160"/>
          </a:xfrm>
          <a:prstGeom prst="roundRect">
            <a:avLst>
              <a:gd name="adj" fmla="val 2564"/>
            </a:avLst>
          </a:prstGeom>
          <a:solidFill>
            <a:srgbClr val="1A2D3F"/>
          </a:solidFill>
          <a:ln w="19050">
            <a:solidFill>
              <a:srgbClr val="0EA5A0"/>
            </a:solidFill>
            <a:prstDash val="solid"/>
          </a:ln>
        </p:spPr>
      </p:sp>
      <p:pic>
        <p:nvPicPr>
          <p:cNvPr id="5" name="Image 0" descr="preencoded.png">    </p:cNvPr>
          <p:cNvPicPr>
            <a:picLocks noChangeAspect="1"/>
          </p:cNvPicPr>
          <p:nvPr/>
        </p:nvPicPr>
        <p:blipFill>
          <a:blip r:embed="rId1"/>
          <a:stretch>
            <a:fillRect/>
          </a:stretch>
        </p:blipFill>
        <p:spPr>
          <a:xfrm>
            <a:off x="594360" y="1371600"/>
            <a:ext cx="365760" cy="365760"/>
          </a:xfrm>
          <a:prstGeom prst="rect">
            <a:avLst/>
          </a:prstGeom>
        </p:spPr>
      </p:pic>
      <p:sp>
        <p:nvSpPr>
          <p:cNvPr id="6" name="Text 3"/>
          <p:cNvSpPr/>
          <p:nvPr/>
        </p:nvSpPr>
        <p:spPr>
          <a:xfrm>
            <a:off x="1051560" y="1389888"/>
            <a:ext cx="3291840" cy="347472"/>
          </a:xfrm>
          <a:prstGeom prst="rect">
            <a:avLst/>
          </a:prstGeom>
          <a:noFill/>
          <a:ln/>
        </p:spPr>
        <p:txBody>
          <a:bodyPr wrap="square" rtlCol="0" anchor="ctr"/>
          <a:lstStyle/>
          <a:p>
            <a:pPr indent="0" marL="0">
              <a:buNone/>
            </a:pPr>
            <a:r>
              <a:rPr lang="en-US" sz="1200" b="1" dirty="0">
                <a:solidFill>
                  <a:srgbClr val="0EA5A0"/>
                </a:solidFill>
              </a:rPr>
              <a:t>WCAG 2.1.1 — Keyboard</a:t>
            </a:r>
            <a:endParaRPr lang="en-US" sz="1200" dirty="0"/>
          </a:p>
        </p:txBody>
      </p:sp>
      <p:sp>
        <p:nvSpPr>
          <p:cNvPr id="7" name="Text 4"/>
          <p:cNvSpPr/>
          <p:nvPr/>
        </p:nvSpPr>
        <p:spPr>
          <a:xfrm>
            <a:off x="548640" y="1874520"/>
            <a:ext cx="3749040" cy="347472"/>
          </a:xfrm>
          <a:prstGeom prst="rect">
            <a:avLst/>
          </a:prstGeom>
          <a:noFill/>
          <a:ln/>
        </p:spPr>
        <p:txBody>
          <a:bodyPr wrap="square" rtlCol="0" anchor="ctr"/>
          <a:lstStyle/>
          <a:p>
            <a:pPr indent="0" marL="0">
              <a:buNone/>
            </a:pPr>
            <a:r>
              <a:rPr lang="en-US" sz="1000" dirty="0">
                <a:solidFill>
                  <a:srgbClr val="FFFFFF"/>
                </a:solidFill>
              </a:rPr>
              <a:t>→  Tab: Move to next focusable element</a:t>
            </a:r>
            <a:endParaRPr lang="en-US" sz="1000" dirty="0"/>
          </a:p>
        </p:txBody>
      </p:sp>
      <p:sp>
        <p:nvSpPr>
          <p:cNvPr id="8" name="Text 5"/>
          <p:cNvSpPr/>
          <p:nvPr/>
        </p:nvSpPr>
        <p:spPr>
          <a:xfrm>
            <a:off x="548640" y="2295144"/>
            <a:ext cx="3749040" cy="347472"/>
          </a:xfrm>
          <a:prstGeom prst="rect">
            <a:avLst/>
          </a:prstGeom>
          <a:noFill/>
          <a:ln/>
        </p:spPr>
        <p:txBody>
          <a:bodyPr wrap="square" rtlCol="0" anchor="ctr"/>
          <a:lstStyle/>
          <a:p>
            <a:pPr indent="0" marL="0">
              <a:buNone/>
            </a:pPr>
            <a:r>
              <a:rPr lang="en-US" sz="1000" dirty="0">
                <a:solidFill>
                  <a:srgbClr val="FFFFFF"/>
                </a:solidFill>
              </a:rPr>
              <a:t>→  Shift+Tab: Move to previous</a:t>
            </a:r>
            <a:endParaRPr lang="en-US" sz="1000" dirty="0"/>
          </a:p>
        </p:txBody>
      </p:sp>
      <p:sp>
        <p:nvSpPr>
          <p:cNvPr id="9" name="Text 6"/>
          <p:cNvSpPr/>
          <p:nvPr/>
        </p:nvSpPr>
        <p:spPr>
          <a:xfrm>
            <a:off x="548640" y="2715768"/>
            <a:ext cx="3749040" cy="347472"/>
          </a:xfrm>
          <a:prstGeom prst="rect">
            <a:avLst/>
          </a:prstGeom>
          <a:noFill/>
          <a:ln/>
        </p:spPr>
        <p:txBody>
          <a:bodyPr wrap="square" rtlCol="0" anchor="ctr"/>
          <a:lstStyle/>
          <a:p>
            <a:pPr indent="0" marL="0">
              <a:buNone/>
            </a:pPr>
            <a:r>
              <a:rPr lang="en-US" sz="1000" dirty="0">
                <a:solidFill>
                  <a:srgbClr val="FFFFFF"/>
                </a:solidFill>
              </a:rPr>
              <a:t>→  Enter / Space: Activate buttons &amp; links</a:t>
            </a:r>
            <a:endParaRPr lang="en-US" sz="1000" dirty="0"/>
          </a:p>
        </p:txBody>
      </p:sp>
      <p:sp>
        <p:nvSpPr>
          <p:cNvPr id="10" name="Text 7"/>
          <p:cNvSpPr/>
          <p:nvPr/>
        </p:nvSpPr>
        <p:spPr>
          <a:xfrm>
            <a:off x="548640" y="3136392"/>
            <a:ext cx="3749040" cy="347472"/>
          </a:xfrm>
          <a:prstGeom prst="rect">
            <a:avLst/>
          </a:prstGeom>
          <a:noFill/>
          <a:ln/>
        </p:spPr>
        <p:txBody>
          <a:bodyPr wrap="square" rtlCol="0" anchor="ctr"/>
          <a:lstStyle/>
          <a:p>
            <a:pPr indent="0" marL="0">
              <a:buNone/>
            </a:pPr>
            <a:r>
              <a:rPr lang="en-US" sz="1000" dirty="0">
                <a:solidFill>
                  <a:srgbClr val="FFFFFF"/>
                </a:solidFill>
              </a:rPr>
              <a:t>→  Arrow keys: Navigate within widgets (menus, tabs)</a:t>
            </a:r>
            <a:endParaRPr lang="en-US" sz="1000" dirty="0"/>
          </a:p>
        </p:txBody>
      </p:sp>
      <p:sp>
        <p:nvSpPr>
          <p:cNvPr id="11" name="Text 8"/>
          <p:cNvSpPr/>
          <p:nvPr/>
        </p:nvSpPr>
        <p:spPr>
          <a:xfrm>
            <a:off x="548640" y="3557016"/>
            <a:ext cx="3749040" cy="347472"/>
          </a:xfrm>
          <a:prstGeom prst="rect">
            <a:avLst/>
          </a:prstGeom>
          <a:noFill/>
          <a:ln/>
        </p:spPr>
        <p:txBody>
          <a:bodyPr wrap="square" rtlCol="0" anchor="ctr"/>
          <a:lstStyle/>
          <a:p>
            <a:pPr indent="0" marL="0">
              <a:buNone/>
            </a:pPr>
            <a:r>
              <a:rPr lang="en-US" sz="1000" dirty="0">
                <a:solidFill>
                  <a:srgbClr val="FFFFFF"/>
                </a:solidFill>
              </a:rPr>
              <a:t>→  Escape: Close modals, dismiss menus</a:t>
            </a:r>
            <a:endParaRPr lang="en-US" sz="1000" dirty="0"/>
          </a:p>
        </p:txBody>
      </p:sp>
      <p:sp>
        <p:nvSpPr>
          <p:cNvPr id="12" name="Text 9"/>
          <p:cNvSpPr/>
          <p:nvPr/>
        </p:nvSpPr>
        <p:spPr>
          <a:xfrm>
            <a:off x="548640" y="3977640"/>
            <a:ext cx="3749040" cy="347472"/>
          </a:xfrm>
          <a:prstGeom prst="rect">
            <a:avLst/>
          </a:prstGeom>
          <a:noFill/>
          <a:ln/>
        </p:spPr>
        <p:txBody>
          <a:bodyPr wrap="square" rtlCol="0" anchor="ctr"/>
          <a:lstStyle/>
          <a:p>
            <a:pPr indent="0" marL="0">
              <a:buNone/>
            </a:pPr>
            <a:r>
              <a:rPr lang="en-US" sz="1000" dirty="0">
                <a:solidFill>
                  <a:srgbClr val="F0A500"/>
                </a:solidFill>
              </a:rPr>
              <a:t>→  Focus must be visible at all times (2.4.7)</a:t>
            </a:r>
            <a:endParaRPr lang="en-US" sz="1000" dirty="0"/>
          </a:p>
        </p:txBody>
      </p:sp>
      <p:sp>
        <p:nvSpPr>
          <p:cNvPr id="13" name="Text 10"/>
          <p:cNvSpPr/>
          <p:nvPr/>
        </p:nvSpPr>
        <p:spPr>
          <a:xfrm>
            <a:off x="548640" y="4398264"/>
            <a:ext cx="3749040" cy="347472"/>
          </a:xfrm>
          <a:prstGeom prst="rect">
            <a:avLst/>
          </a:prstGeom>
          <a:noFill/>
          <a:ln/>
        </p:spPr>
        <p:txBody>
          <a:bodyPr wrap="square" rtlCol="0" anchor="ctr"/>
          <a:lstStyle/>
          <a:p>
            <a:pPr indent="0" marL="0">
              <a:buNone/>
            </a:pPr>
            <a:r>
              <a:rPr lang="en-US" sz="1000" dirty="0">
                <a:solidFill>
                  <a:srgbClr val="F0A500"/>
                </a:solidFill>
              </a:rPr>
              <a:t>→  No keyboard trap: user can always exit (2.1.2)</a:t>
            </a:r>
            <a:endParaRPr lang="en-US" sz="1000" dirty="0"/>
          </a:p>
        </p:txBody>
      </p:sp>
      <p:sp>
        <p:nvSpPr>
          <p:cNvPr id="14" name="Shape 11"/>
          <p:cNvSpPr/>
          <p:nvPr/>
        </p:nvSpPr>
        <p:spPr>
          <a:xfrm>
            <a:off x="4663440" y="1188720"/>
            <a:ext cx="4114800" cy="3566160"/>
          </a:xfrm>
          <a:prstGeom prst="roundRect">
            <a:avLst>
              <a:gd name="adj" fmla="val 2564"/>
            </a:avLst>
          </a:prstGeom>
          <a:solidFill>
            <a:srgbClr val="1A2D3F"/>
          </a:solidFill>
          <a:ln w="19050">
            <a:solidFill>
              <a:srgbClr val="F0A500"/>
            </a:solidFill>
            <a:prstDash val="solid"/>
          </a:ln>
        </p:spPr>
      </p:sp>
      <p:sp>
        <p:nvSpPr>
          <p:cNvPr id="15" name="Text 12"/>
          <p:cNvSpPr/>
          <p:nvPr/>
        </p:nvSpPr>
        <p:spPr>
          <a:xfrm>
            <a:off x="4892040" y="1389888"/>
            <a:ext cx="3657600" cy="347472"/>
          </a:xfrm>
          <a:prstGeom prst="rect">
            <a:avLst/>
          </a:prstGeom>
          <a:noFill/>
          <a:ln/>
        </p:spPr>
        <p:txBody>
          <a:bodyPr wrap="square" rtlCol="0" anchor="ctr"/>
          <a:lstStyle/>
          <a:p>
            <a:pPr indent="0" marL="0">
              <a:buNone/>
            </a:pPr>
            <a:r>
              <a:rPr lang="en-US" sz="1200" b="1" dirty="0">
                <a:solidFill>
                  <a:srgbClr val="F0A500"/>
                </a:solidFill>
              </a:rPr>
              <a:t>Focus in your block</a:t>
            </a:r>
            <a:endParaRPr lang="en-US" sz="1200" dirty="0"/>
          </a:p>
        </p:txBody>
      </p:sp>
      <p:sp>
        <p:nvSpPr>
          <p:cNvPr id="16" name="Text 13"/>
          <p:cNvSpPr/>
          <p:nvPr/>
        </p:nvSpPr>
        <p:spPr>
          <a:xfrm>
            <a:off x="4846320" y="1783080"/>
            <a:ext cx="3794760" cy="256032"/>
          </a:xfrm>
          <a:prstGeom prst="rect">
            <a:avLst/>
          </a:prstGeom>
          <a:noFill/>
          <a:ln/>
        </p:spPr>
        <p:txBody>
          <a:bodyPr wrap="square" rtlCol="0" anchor="ctr"/>
          <a:lstStyle/>
          <a:p>
            <a:pPr indent="0" marL="0">
              <a:buNone/>
            </a:pPr>
            <a:r>
              <a:rPr lang="en-US" sz="850" dirty="0">
                <a:solidFill>
                  <a:srgbClr val="8DA6B8"/>
                </a:solidFill>
                <a:latin typeface="Courier New" pitchFamily="34" charset="0"/>
                <a:ea typeface="Courier New" pitchFamily="34" charset="-122"/>
                <a:cs typeface="Courier New" pitchFamily="34" charset="-120"/>
              </a:rPr>
              <a:t>// useBlockProps auto-handles</a:t>
            </a:r>
            <a:endParaRPr lang="en-US" sz="850" dirty="0"/>
          </a:p>
        </p:txBody>
      </p:sp>
      <p:sp>
        <p:nvSpPr>
          <p:cNvPr id="17" name="Text 14"/>
          <p:cNvSpPr/>
          <p:nvPr/>
        </p:nvSpPr>
        <p:spPr>
          <a:xfrm>
            <a:off x="4846320" y="2039112"/>
            <a:ext cx="3794760" cy="256032"/>
          </a:xfrm>
          <a:prstGeom prst="rect">
            <a:avLst/>
          </a:prstGeom>
          <a:noFill/>
          <a:ln/>
        </p:spPr>
        <p:txBody>
          <a:bodyPr wrap="square" rtlCol="0" anchor="ctr"/>
          <a:lstStyle/>
          <a:p>
            <a:pPr indent="0" marL="0">
              <a:buNone/>
            </a:pPr>
            <a:r>
              <a:rPr lang="en-US" sz="850" dirty="0">
                <a:solidFill>
                  <a:srgbClr val="8DA6B8"/>
                </a:solidFill>
                <a:latin typeface="Courier New" pitchFamily="34" charset="0"/>
                <a:ea typeface="Courier New" pitchFamily="34" charset="-122"/>
                <a:cs typeface="Courier New" pitchFamily="34" charset="-120"/>
              </a:rPr>
              <a:t>// editor focus — free!</a:t>
            </a:r>
            <a:endParaRPr lang="en-US" sz="850" dirty="0"/>
          </a:p>
        </p:txBody>
      </p:sp>
      <p:sp>
        <p:nvSpPr>
          <p:cNvPr id="18" name="Text 15"/>
          <p:cNvSpPr/>
          <p:nvPr/>
        </p:nvSpPr>
        <p:spPr>
          <a:xfrm>
            <a:off x="4846320" y="2295144"/>
            <a:ext cx="3794760" cy="256032"/>
          </a:xfrm>
          <a:prstGeom prst="rect">
            <a:avLst/>
          </a:prstGeom>
          <a:noFill/>
          <a:ln/>
        </p:spPr>
        <p:txBody>
          <a:bodyPr wrap="square" rtlCol="0" anchor="ctr"/>
          <a:lstStyle/>
          <a:p>
            <a:pPr indent="0" marL="0">
              <a:buNone/>
            </a:pPr>
            <a:r>
              <a:rPr lang="en-US" sz="850" dirty="0">
                <a:solidFill>
                  <a:srgbClr val="14C8C2"/>
                </a:solidFill>
                <a:latin typeface="Courier New" pitchFamily="34" charset="0"/>
                <a:ea typeface="Courier New" pitchFamily="34" charset="-122"/>
                <a:cs typeface="Courier New" pitchFamily="34" charset="-120"/>
              </a:rPr>
              <a:t>const blockProps = useBlockProps();</a:t>
            </a:r>
            <a:endParaRPr lang="en-US" sz="850" dirty="0"/>
          </a:p>
        </p:txBody>
      </p:sp>
      <p:sp>
        <p:nvSpPr>
          <p:cNvPr id="19" name="Text 16"/>
          <p:cNvSpPr/>
          <p:nvPr/>
        </p:nvSpPr>
        <p:spPr>
          <a:xfrm>
            <a:off x="4846320" y="2551176"/>
            <a:ext cx="3794760" cy="256032"/>
          </a:xfrm>
          <a:prstGeom prst="rect">
            <a:avLst/>
          </a:prstGeom>
          <a:noFill/>
          <a:ln/>
        </p:spPr>
        <p:txBody>
          <a:bodyPr wrap="square" rtlCol="0" anchor="ctr"/>
          <a:lstStyle/>
          <a:p>
            <a:pPr indent="0" marL="0">
              <a:buNone/>
            </a:pPr>
            <a:endParaRPr lang="en-US" sz="850" dirty="0"/>
          </a:p>
        </p:txBody>
      </p:sp>
      <p:sp>
        <p:nvSpPr>
          <p:cNvPr id="20" name="Text 17"/>
          <p:cNvSpPr/>
          <p:nvPr/>
        </p:nvSpPr>
        <p:spPr>
          <a:xfrm>
            <a:off x="4846320" y="2807208"/>
            <a:ext cx="3794760" cy="256032"/>
          </a:xfrm>
          <a:prstGeom prst="rect">
            <a:avLst/>
          </a:prstGeom>
          <a:noFill/>
          <a:ln/>
        </p:spPr>
        <p:txBody>
          <a:bodyPr wrap="square" rtlCol="0" anchor="ctr"/>
          <a:lstStyle/>
          <a:p>
            <a:pPr indent="0" marL="0">
              <a:buNone/>
            </a:pPr>
            <a:r>
              <a:rPr lang="en-US" sz="850" dirty="0">
                <a:solidFill>
                  <a:srgbClr val="8DA6B8"/>
                </a:solidFill>
                <a:latin typeface="Courier New" pitchFamily="34" charset="0"/>
                <a:ea typeface="Courier New" pitchFamily="34" charset="-122"/>
                <a:cs typeface="Courier New" pitchFamily="34" charset="-120"/>
              </a:rPr>
              <a:t>// For custom interactive elements:</a:t>
            </a:r>
            <a:endParaRPr lang="en-US" sz="850" dirty="0"/>
          </a:p>
        </p:txBody>
      </p:sp>
      <p:sp>
        <p:nvSpPr>
          <p:cNvPr id="21" name="Text 18"/>
          <p:cNvSpPr/>
          <p:nvPr/>
        </p:nvSpPr>
        <p:spPr>
          <a:xfrm>
            <a:off x="4846320" y="3063240"/>
            <a:ext cx="3794760" cy="256032"/>
          </a:xfrm>
          <a:prstGeom prst="rect">
            <a:avLst/>
          </a:prstGeom>
          <a:noFill/>
          <a:ln/>
        </p:spPr>
        <p:txBody>
          <a:bodyPr wrap="square" rtlCol="0" anchor="ctr"/>
          <a:lstStyle/>
          <a:p>
            <a:pPr indent="0" marL="0">
              <a:buNone/>
            </a:pPr>
            <a:r>
              <a:rPr lang="en-US" sz="850" dirty="0">
                <a:solidFill>
                  <a:srgbClr val="8DA6B8"/>
                </a:solidFill>
                <a:latin typeface="Courier New" pitchFamily="34" charset="0"/>
                <a:ea typeface="Courier New" pitchFamily="34" charset="-122"/>
                <a:cs typeface="Courier New" pitchFamily="34" charset="-120"/>
              </a:rPr>
              <a:t>// Give them proper focus styles</a:t>
            </a:r>
            <a:endParaRPr lang="en-US" sz="850" dirty="0"/>
          </a:p>
        </p:txBody>
      </p:sp>
      <p:sp>
        <p:nvSpPr>
          <p:cNvPr id="22" name="Text 19"/>
          <p:cNvSpPr/>
          <p:nvPr/>
        </p:nvSpPr>
        <p:spPr>
          <a:xfrm>
            <a:off x="4846320" y="3319272"/>
            <a:ext cx="3794760" cy="256032"/>
          </a:xfrm>
          <a:prstGeom prst="rect">
            <a:avLst/>
          </a:prstGeom>
          <a:noFill/>
          <a:ln/>
        </p:spPr>
        <p:txBody>
          <a:bodyPr wrap="square" rtlCol="0" anchor="ctr"/>
          <a:lstStyle/>
          <a:p>
            <a:pPr indent="0" marL="0">
              <a:buNone/>
            </a:pPr>
            <a:r>
              <a:rPr lang="en-US" sz="850" dirty="0">
                <a:solidFill>
                  <a:srgbClr val="8DA6B8"/>
                </a:solidFill>
                <a:latin typeface="Courier New" pitchFamily="34" charset="0"/>
                <a:ea typeface="Courier New" pitchFamily="34" charset="-122"/>
                <a:cs typeface="Courier New" pitchFamily="34" charset="-120"/>
              </a:rPr>
              <a:t>// in your style.scss:</a:t>
            </a:r>
            <a:endParaRPr lang="en-US" sz="850" dirty="0"/>
          </a:p>
        </p:txBody>
      </p:sp>
      <p:sp>
        <p:nvSpPr>
          <p:cNvPr id="23" name="Text 20"/>
          <p:cNvSpPr/>
          <p:nvPr/>
        </p:nvSpPr>
        <p:spPr>
          <a:xfrm>
            <a:off x="4846320" y="3575304"/>
            <a:ext cx="3794760" cy="256032"/>
          </a:xfrm>
          <a:prstGeom prst="rect">
            <a:avLst/>
          </a:prstGeom>
          <a:noFill/>
          <a:ln/>
        </p:spPr>
        <p:txBody>
          <a:bodyPr wrap="square" rtlCol="0" anchor="ctr"/>
          <a:lstStyle/>
          <a:p>
            <a:pPr indent="0" marL="0">
              <a:buNone/>
            </a:pPr>
            <a:endParaRPr lang="en-US" sz="850" dirty="0"/>
          </a:p>
        </p:txBody>
      </p:sp>
      <p:sp>
        <p:nvSpPr>
          <p:cNvPr id="24" name="Text 21"/>
          <p:cNvSpPr/>
          <p:nvPr/>
        </p:nvSpPr>
        <p:spPr>
          <a:xfrm>
            <a:off x="4846320" y="3831336"/>
            <a:ext cx="3794760" cy="256032"/>
          </a:xfrm>
          <a:prstGeom prst="rect">
            <a:avLst/>
          </a:prstGeom>
          <a:noFill/>
          <a:ln/>
        </p:spPr>
        <p:txBody>
          <a:bodyPr wrap="square" rtlCol="0" anchor="ctr"/>
          <a:lstStyle/>
          <a:p>
            <a:pPr indent="0" marL="0">
              <a:buNone/>
            </a:pPr>
            <a:r>
              <a:rPr lang="en-US" sz="850" dirty="0">
                <a:solidFill>
                  <a:srgbClr val="F0A500"/>
                </a:solidFill>
                <a:latin typeface="Courier New" pitchFamily="34" charset="0"/>
                <a:ea typeface="Courier New" pitchFamily="34" charset="-122"/>
                <a:cs typeface="Courier New" pitchFamily="34" charset="-120"/>
              </a:rPr>
              <a:t>.wp-block-notice button:focus-visible {</a:t>
            </a:r>
            <a:endParaRPr lang="en-US" sz="850" dirty="0"/>
          </a:p>
        </p:txBody>
      </p:sp>
      <p:sp>
        <p:nvSpPr>
          <p:cNvPr id="25" name="Text 22"/>
          <p:cNvSpPr/>
          <p:nvPr/>
        </p:nvSpPr>
        <p:spPr>
          <a:xfrm>
            <a:off x="4846320" y="4087368"/>
            <a:ext cx="3794760" cy="256032"/>
          </a:xfrm>
          <a:prstGeom prst="rect">
            <a:avLst/>
          </a:prstGeom>
          <a:noFill/>
          <a:ln/>
        </p:spPr>
        <p:txBody>
          <a:bodyPr wrap="square"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  outline: 3px solid #0EA5A0;</a:t>
            </a:r>
            <a:endParaRPr lang="en-US" sz="850" dirty="0"/>
          </a:p>
        </p:txBody>
      </p:sp>
      <p:sp>
        <p:nvSpPr>
          <p:cNvPr id="26" name="Text 23"/>
          <p:cNvSpPr/>
          <p:nvPr/>
        </p:nvSpPr>
        <p:spPr>
          <a:xfrm>
            <a:off x="4846320" y="4343400"/>
            <a:ext cx="3794760" cy="256032"/>
          </a:xfrm>
          <a:prstGeom prst="rect">
            <a:avLst/>
          </a:prstGeom>
          <a:noFill/>
          <a:ln/>
        </p:spPr>
        <p:txBody>
          <a:bodyPr wrap="square"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  outline-offset: 2px;</a:t>
            </a:r>
            <a:endParaRPr lang="en-US" sz="850" dirty="0"/>
          </a:p>
        </p:txBody>
      </p:sp>
      <p:sp>
        <p:nvSpPr>
          <p:cNvPr id="27" name="Text 24"/>
          <p:cNvSpPr/>
          <p:nvPr/>
        </p:nvSpPr>
        <p:spPr>
          <a:xfrm>
            <a:off x="4846320" y="4599432"/>
            <a:ext cx="3794760" cy="256032"/>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29" name="Text 25"/>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5 — SCREEN READERS (WCAG 1.1.1, 1.3.1, 4.1.2)</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your block's HTML gets announced</a:t>
            </a:r>
            <a:endParaRPr lang="en-US" sz="2600" dirty="0"/>
          </a:p>
        </p:txBody>
      </p:sp>
      <p:pic>
        <p:nvPicPr>
          <p:cNvPr id="4" name="Image 0" descr="preencoded.png">    </p:cNvPr>
          <p:cNvPicPr>
            <a:picLocks noChangeAspect="1"/>
          </p:cNvPicPr>
          <p:nvPr/>
        </p:nvPicPr>
        <p:blipFill>
          <a:blip r:embed="rId1"/>
          <a:stretch>
            <a:fillRect/>
          </a:stretch>
        </p:blipFill>
        <p:spPr>
          <a:xfrm>
            <a:off x="411480" y="1207008"/>
            <a:ext cx="502920" cy="502920"/>
          </a:xfrm>
          <a:prstGeom prst="rect">
            <a:avLst/>
          </a:prstGeom>
        </p:spPr>
      </p:pic>
      <p:sp>
        <p:nvSpPr>
          <p:cNvPr id="5" name="Text 2"/>
          <p:cNvSpPr/>
          <p:nvPr/>
        </p:nvSpPr>
        <p:spPr>
          <a:xfrm>
            <a:off x="1005840" y="1261872"/>
            <a:ext cx="7772400" cy="411480"/>
          </a:xfrm>
          <a:prstGeom prst="rect">
            <a:avLst/>
          </a:prstGeom>
          <a:noFill/>
          <a:ln/>
        </p:spPr>
        <p:txBody>
          <a:bodyPr wrap="square" rtlCol="0" anchor="ctr"/>
          <a:lstStyle/>
          <a:p>
            <a:pPr indent="0" marL="0">
              <a:buNone/>
            </a:pPr>
            <a:r>
              <a:rPr lang="en-US" sz="1100" dirty="0">
                <a:solidFill>
                  <a:srgbClr val="8DA6B8"/>
                </a:solidFill>
              </a:rPr>
              <a:t>Screen readers build an Accessibility Tree from your DOM. Everything on this tree needs a name, role, and state.</a:t>
            </a:r>
            <a:endParaRPr lang="en-US" sz="1100" dirty="0"/>
          </a:p>
        </p:txBody>
      </p:sp>
      <p:sp>
        <p:nvSpPr>
          <p:cNvPr id="6" name="Shape 3"/>
          <p:cNvSpPr/>
          <p:nvPr/>
        </p:nvSpPr>
        <p:spPr>
          <a:xfrm>
            <a:off x="365760" y="1828800"/>
            <a:ext cx="8412480" cy="685800"/>
          </a:xfrm>
          <a:prstGeom prst="roundRect">
            <a:avLst>
              <a:gd name="adj" fmla="val 9333"/>
            </a:avLst>
          </a:prstGeom>
          <a:solidFill>
            <a:srgbClr val="1A2D3F"/>
          </a:solidFill>
          <a:ln w="12700">
            <a:solidFill>
              <a:srgbClr val="0EA5A0"/>
            </a:solidFill>
            <a:prstDash val="solid"/>
          </a:ln>
        </p:spPr>
      </p:sp>
      <p:sp>
        <p:nvSpPr>
          <p:cNvPr id="7" name="Text 4"/>
          <p:cNvSpPr/>
          <p:nvPr/>
        </p:nvSpPr>
        <p:spPr>
          <a:xfrm>
            <a:off x="502920" y="1883664"/>
            <a:ext cx="1554480" cy="256032"/>
          </a:xfrm>
          <a:prstGeom prst="rect">
            <a:avLst/>
          </a:prstGeom>
          <a:noFill/>
          <a:ln/>
        </p:spPr>
        <p:txBody>
          <a:bodyPr wrap="square" rtlCol="0" anchor="ctr"/>
          <a:lstStyle/>
          <a:p>
            <a:pPr indent="0" marL="0">
              <a:buNone/>
            </a:pPr>
            <a:r>
              <a:rPr lang="en-US" sz="900" b="1" dirty="0">
                <a:solidFill>
                  <a:srgbClr val="0EA5A0"/>
                </a:solidFill>
              </a:rPr>
              <a:t>alt text (1.1.1)</a:t>
            </a:r>
            <a:endParaRPr lang="en-US" sz="900" dirty="0"/>
          </a:p>
        </p:txBody>
      </p:sp>
      <p:pic>
        <p:nvPicPr>
          <p:cNvPr id="8" name="Image 1" descr="preencoded.png">    </p:cNvPr>
          <p:cNvPicPr>
            <a:picLocks noChangeAspect="1"/>
          </p:cNvPicPr>
          <p:nvPr/>
        </p:nvPicPr>
        <p:blipFill>
          <a:blip r:embed="rId2"/>
          <a:stretch>
            <a:fillRect/>
          </a:stretch>
        </p:blipFill>
        <p:spPr>
          <a:xfrm>
            <a:off x="2148840" y="1892808"/>
            <a:ext cx="182880" cy="182880"/>
          </a:xfrm>
          <a:prstGeom prst="rect">
            <a:avLst/>
          </a:prstGeom>
        </p:spPr>
      </p:pic>
      <p:sp>
        <p:nvSpPr>
          <p:cNvPr id="9" name="Text 5"/>
          <p:cNvSpPr/>
          <p:nvPr/>
        </p:nvSpPr>
        <p:spPr>
          <a:xfrm>
            <a:off x="2395728" y="1883664"/>
            <a:ext cx="2926080" cy="256032"/>
          </a:xfrm>
          <a:prstGeom prst="rect">
            <a:avLst/>
          </a:prstGeom>
          <a:noFill/>
          <a:ln/>
        </p:spPr>
        <p:txBody>
          <a:bodyPr wrap="square" rtlCol="0" anchor="ctr"/>
          <a:lstStyle/>
          <a:p>
            <a:pPr indent="0" marL="0">
              <a:buNone/>
            </a:pPr>
            <a:r>
              <a:rPr lang="en-US" sz="850" dirty="0">
                <a:solidFill>
                  <a:srgbClr val="E87A7A"/>
                </a:solidFill>
                <a:latin typeface="Courier New" pitchFamily="34" charset="0"/>
                <a:ea typeface="Courier New" pitchFamily="34" charset="-122"/>
                <a:cs typeface="Courier New" pitchFamily="34" charset="-120"/>
              </a:rPr>
              <a:t>&lt;img src="warning.svg"&gt;</a:t>
            </a:r>
            <a:endParaRPr lang="en-US" sz="850" dirty="0"/>
          </a:p>
        </p:txBody>
      </p:sp>
      <p:pic>
        <p:nvPicPr>
          <p:cNvPr id="10" name="Image 2" descr="preencoded.png">    </p:cNvPr>
          <p:cNvPicPr>
            <a:picLocks noChangeAspect="1"/>
          </p:cNvPicPr>
          <p:nvPr/>
        </p:nvPicPr>
        <p:blipFill>
          <a:blip r:embed="rId3"/>
          <a:stretch>
            <a:fillRect/>
          </a:stretch>
        </p:blipFill>
        <p:spPr>
          <a:xfrm>
            <a:off x="5486400" y="1892808"/>
            <a:ext cx="182880" cy="182880"/>
          </a:xfrm>
          <a:prstGeom prst="rect">
            <a:avLst/>
          </a:prstGeom>
        </p:spPr>
      </p:pic>
      <p:sp>
        <p:nvSpPr>
          <p:cNvPr id="11" name="Text 6"/>
          <p:cNvSpPr/>
          <p:nvPr/>
        </p:nvSpPr>
        <p:spPr>
          <a:xfrm>
            <a:off x="5733288" y="1883664"/>
            <a:ext cx="2926080" cy="256032"/>
          </a:xfrm>
          <a:prstGeom prst="rect">
            <a:avLst/>
          </a:prstGeom>
          <a:noFill/>
          <a:ln/>
        </p:spPr>
        <p:txBody>
          <a:bodyPr wrap="square"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&lt;img src="warning.svg" alt="Warning"&gt;</a:t>
            </a:r>
            <a:endParaRPr lang="en-US" sz="850" dirty="0"/>
          </a:p>
        </p:txBody>
      </p:sp>
      <p:sp>
        <p:nvSpPr>
          <p:cNvPr id="12" name="Shape 7"/>
          <p:cNvSpPr/>
          <p:nvPr/>
        </p:nvSpPr>
        <p:spPr>
          <a:xfrm>
            <a:off x="365760" y="2606040"/>
            <a:ext cx="8412480" cy="685800"/>
          </a:xfrm>
          <a:prstGeom prst="roundRect">
            <a:avLst>
              <a:gd name="adj" fmla="val 9333"/>
            </a:avLst>
          </a:prstGeom>
          <a:solidFill>
            <a:srgbClr val="1A2D3F"/>
          </a:solidFill>
          <a:ln w="12700">
            <a:solidFill>
              <a:srgbClr val="F0A500"/>
            </a:solidFill>
            <a:prstDash val="solid"/>
          </a:ln>
        </p:spPr>
      </p:sp>
      <p:sp>
        <p:nvSpPr>
          <p:cNvPr id="13" name="Text 8"/>
          <p:cNvSpPr/>
          <p:nvPr/>
        </p:nvSpPr>
        <p:spPr>
          <a:xfrm>
            <a:off x="502920" y="2660904"/>
            <a:ext cx="1554480" cy="256032"/>
          </a:xfrm>
          <a:prstGeom prst="rect">
            <a:avLst/>
          </a:prstGeom>
          <a:noFill/>
          <a:ln/>
        </p:spPr>
        <p:txBody>
          <a:bodyPr wrap="square" rtlCol="0" anchor="ctr"/>
          <a:lstStyle/>
          <a:p>
            <a:pPr indent="0" marL="0">
              <a:buNone/>
            </a:pPr>
            <a:r>
              <a:rPr lang="en-US" sz="900" b="1" dirty="0">
                <a:solidFill>
                  <a:srgbClr val="F0A500"/>
                </a:solidFill>
              </a:rPr>
              <a:t>Button name (4.1.2)</a:t>
            </a:r>
            <a:endParaRPr lang="en-US" sz="900" dirty="0"/>
          </a:p>
        </p:txBody>
      </p:sp>
      <p:pic>
        <p:nvPicPr>
          <p:cNvPr id="14" name="Image 3" descr="preencoded.png">    </p:cNvPr>
          <p:cNvPicPr>
            <a:picLocks noChangeAspect="1"/>
          </p:cNvPicPr>
          <p:nvPr/>
        </p:nvPicPr>
        <p:blipFill>
          <a:blip r:embed="rId4"/>
          <a:stretch>
            <a:fillRect/>
          </a:stretch>
        </p:blipFill>
        <p:spPr>
          <a:xfrm>
            <a:off x="2148840" y="2670048"/>
            <a:ext cx="182880" cy="182880"/>
          </a:xfrm>
          <a:prstGeom prst="rect">
            <a:avLst/>
          </a:prstGeom>
        </p:spPr>
      </p:pic>
      <p:sp>
        <p:nvSpPr>
          <p:cNvPr id="15" name="Text 9"/>
          <p:cNvSpPr/>
          <p:nvPr/>
        </p:nvSpPr>
        <p:spPr>
          <a:xfrm>
            <a:off x="2395728" y="2660904"/>
            <a:ext cx="2926080" cy="256032"/>
          </a:xfrm>
          <a:prstGeom prst="rect">
            <a:avLst/>
          </a:prstGeom>
          <a:noFill/>
          <a:ln/>
        </p:spPr>
        <p:txBody>
          <a:bodyPr wrap="square" rtlCol="0" anchor="ctr"/>
          <a:lstStyle/>
          <a:p>
            <a:pPr indent="0" marL="0">
              <a:buNone/>
            </a:pPr>
            <a:r>
              <a:rPr lang="en-US" sz="850" dirty="0">
                <a:solidFill>
                  <a:srgbClr val="E87A7A"/>
                </a:solidFill>
                <a:latin typeface="Courier New" pitchFamily="34" charset="0"/>
                <a:ea typeface="Courier New" pitchFamily="34" charset="-122"/>
                <a:cs typeface="Courier New" pitchFamily="34" charset="-120"/>
              </a:rPr>
              <a:t>&lt;button&gt;✕&lt;/button&gt;</a:t>
            </a:r>
            <a:endParaRPr lang="en-US" sz="850" dirty="0"/>
          </a:p>
        </p:txBody>
      </p:sp>
      <p:pic>
        <p:nvPicPr>
          <p:cNvPr id="16" name="Image 4" descr="preencoded.png">    </p:cNvPr>
          <p:cNvPicPr>
            <a:picLocks noChangeAspect="1"/>
          </p:cNvPicPr>
          <p:nvPr/>
        </p:nvPicPr>
        <p:blipFill>
          <a:blip r:embed="rId5"/>
          <a:stretch>
            <a:fillRect/>
          </a:stretch>
        </p:blipFill>
        <p:spPr>
          <a:xfrm>
            <a:off x="5486400" y="2670048"/>
            <a:ext cx="182880" cy="182880"/>
          </a:xfrm>
          <a:prstGeom prst="rect">
            <a:avLst/>
          </a:prstGeom>
        </p:spPr>
      </p:pic>
      <p:sp>
        <p:nvSpPr>
          <p:cNvPr id="17" name="Text 10"/>
          <p:cNvSpPr/>
          <p:nvPr/>
        </p:nvSpPr>
        <p:spPr>
          <a:xfrm>
            <a:off x="5733288" y="2660904"/>
            <a:ext cx="2926080" cy="256032"/>
          </a:xfrm>
          <a:prstGeom prst="rect">
            <a:avLst/>
          </a:prstGeom>
          <a:noFill/>
          <a:ln/>
        </p:spPr>
        <p:txBody>
          <a:bodyPr wrap="square"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&lt;button aria-label="Dismiss"&gt;✕&lt;/button&gt;</a:t>
            </a:r>
            <a:endParaRPr lang="en-US" sz="850" dirty="0"/>
          </a:p>
        </p:txBody>
      </p:sp>
      <p:sp>
        <p:nvSpPr>
          <p:cNvPr id="18" name="Shape 11"/>
          <p:cNvSpPr/>
          <p:nvPr/>
        </p:nvSpPr>
        <p:spPr>
          <a:xfrm>
            <a:off x="365760" y="3383280"/>
            <a:ext cx="8412480" cy="685800"/>
          </a:xfrm>
          <a:prstGeom prst="roundRect">
            <a:avLst>
              <a:gd name="adj" fmla="val 9333"/>
            </a:avLst>
          </a:prstGeom>
          <a:solidFill>
            <a:srgbClr val="1A2D3F"/>
          </a:solidFill>
          <a:ln w="12700">
            <a:solidFill>
              <a:srgbClr val="22C55E"/>
            </a:solidFill>
            <a:prstDash val="solid"/>
          </a:ln>
        </p:spPr>
      </p:sp>
      <p:sp>
        <p:nvSpPr>
          <p:cNvPr id="19" name="Text 12"/>
          <p:cNvSpPr/>
          <p:nvPr/>
        </p:nvSpPr>
        <p:spPr>
          <a:xfrm>
            <a:off x="502920" y="3438144"/>
            <a:ext cx="1554480" cy="256032"/>
          </a:xfrm>
          <a:prstGeom prst="rect">
            <a:avLst/>
          </a:prstGeom>
          <a:noFill/>
          <a:ln/>
        </p:spPr>
        <p:txBody>
          <a:bodyPr wrap="square" rtlCol="0" anchor="ctr"/>
          <a:lstStyle/>
          <a:p>
            <a:pPr indent="0" marL="0">
              <a:buNone/>
            </a:pPr>
            <a:r>
              <a:rPr lang="en-US" sz="900" b="1" dirty="0">
                <a:solidFill>
                  <a:srgbClr val="22C55E"/>
                </a:solidFill>
              </a:rPr>
              <a:t>Live region (1.3.1)</a:t>
            </a:r>
            <a:endParaRPr lang="en-US" sz="900" dirty="0"/>
          </a:p>
        </p:txBody>
      </p:sp>
      <p:pic>
        <p:nvPicPr>
          <p:cNvPr id="20" name="Image 5" descr="preencoded.png">    </p:cNvPr>
          <p:cNvPicPr>
            <a:picLocks noChangeAspect="1"/>
          </p:cNvPicPr>
          <p:nvPr/>
        </p:nvPicPr>
        <p:blipFill>
          <a:blip r:embed="rId6"/>
          <a:stretch>
            <a:fillRect/>
          </a:stretch>
        </p:blipFill>
        <p:spPr>
          <a:xfrm>
            <a:off x="2148840" y="3447288"/>
            <a:ext cx="182880" cy="182880"/>
          </a:xfrm>
          <a:prstGeom prst="rect">
            <a:avLst/>
          </a:prstGeom>
        </p:spPr>
      </p:pic>
      <p:sp>
        <p:nvSpPr>
          <p:cNvPr id="21" name="Text 13"/>
          <p:cNvSpPr/>
          <p:nvPr/>
        </p:nvSpPr>
        <p:spPr>
          <a:xfrm>
            <a:off x="2395728" y="3438144"/>
            <a:ext cx="2926080" cy="256032"/>
          </a:xfrm>
          <a:prstGeom prst="rect">
            <a:avLst/>
          </a:prstGeom>
          <a:noFill/>
          <a:ln/>
        </p:spPr>
        <p:txBody>
          <a:bodyPr wrap="square" rtlCol="0" anchor="ctr"/>
          <a:lstStyle/>
          <a:p>
            <a:pPr indent="0" marL="0">
              <a:buNone/>
            </a:pPr>
            <a:r>
              <a:rPr lang="en-US" sz="850" dirty="0">
                <a:solidFill>
                  <a:srgbClr val="E87A7A"/>
                </a:solidFill>
                <a:latin typeface="Courier New" pitchFamily="34" charset="0"/>
                <a:ea typeface="Courier New" pitchFamily="34" charset="-122"/>
                <a:cs typeface="Courier New" pitchFamily="34" charset="-120"/>
              </a:rPr>
              <a:t>&lt;div class="status"&gt;Saved&lt;/div&gt;</a:t>
            </a:r>
            <a:endParaRPr lang="en-US" sz="850" dirty="0"/>
          </a:p>
        </p:txBody>
      </p:sp>
      <p:pic>
        <p:nvPicPr>
          <p:cNvPr id="22" name="Image 6" descr="preencoded.png">    </p:cNvPr>
          <p:cNvPicPr>
            <a:picLocks noChangeAspect="1"/>
          </p:cNvPicPr>
          <p:nvPr/>
        </p:nvPicPr>
        <p:blipFill>
          <a:blip r:embed="rId7"/>
          <a:stretch>
            <a:fillRect/>
          </a:stretch>
        </p:blipFill>
        <p:spPr>
          <a:xfrm>
            <a:off x="5486400" y="3447288"/>
            <a:ext cx="182880" cy="182880"/>
          </a:xfrm>
          <a:prstGeom prst="rect">
            <a:avLst/>
          </a:prstGeom>
        </p:spPr>
      </p:pic>
      <p:sp>
        <p:nvSpPr>
          <p:cNvPr id="23" name="Text 14"/>
          <p:cNvSpPr/>
          <p:nvPr/>
        </p:nvSpPr>
        <p:spPr>
          <a:xfrm>
            <a:off x="5733288" y="3438144"/>
            <a:ext cx="2926080" cy="256032"/>
          </a:xfrm>
          <a:prstGeom prst="rect">
            <a:avLst/>
          </a:prstGeom>
          <a:noFill/>
          <a:ln/>
        </p:spPr>
        <p:txBody>
          <a:bodyPr wrap="square"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&lt;div role="status" aria-live="polite"&gt;Saved&lt;/div&gt;</a:t>
            </a:r>
            <a:endParaRPr lang="en-US" sz="850" dirty="0"/>
          </a:p>
        </p:txBody>
      </p:sp>
      <p:sp>
        <p:nvSpPr>
          <p:cNvPr id="24" name="Shape 15"/>
          <p:cNvSpPr/>
          <p:nvPr/>
        </p:nvSpPr>
        <p:spPr>
          <a:xfrm>
            <a:off x="365760" y="4160520"/>
            <a:ext cx="8412480" cy="685800"/>
          </a:xfrm>
          <a:prstGeom prst="roundRect">
            <a:avLst>
              <a:gd name="adj" fmla="val 9333"/>
            </a:avLst>
          </a:prstGeom>
          <a:solidFill>
            <a:srgbClr val="1A2D3F"/>
          </a:solidFill>
          <a:ln w="12700">
            <a:solidFill>
              <a:srgbClr val="A78BFA"/>
            </a:solidFill>
            <a:prstDash val="solid"/>
          </a:ln>
        </p:spPr>
      </p:sp>
      <p:sp>
        <p:nvSpPr>
          <p:cNvPr id="25" name="Text 16"/>
          <p:cNvSpPr/>
          <p:nvPr/>
        </p:nvSpPr>
        <p:spPr>
          <a:xfrm>
            <a:off x="502920" y="4215384"/>
            <a:ext cx="1554480" cy="256032"/>
          </a:xfrm>
          <a:prstGeom prst="rect">
            <a:avLst/>
          </a:prstGeom>
          <a:noFill/>
          <a:ln/>
        </p:spPr>
        <p:txBody>
          <a:bodyPr wrap="square" rtlCol="0" anchor="ctr"/>
          <a:lstStyle/>
          <a:p>
            <a:pPr indent="0" marL="0">
              <a:buNone/>
            </a:pPr>
            <a:r>
              <a:rPr lang="en-US" sz="900" b="1" dirty="0">
                <a:solidFill>
                  <a:srgbClr val="A78BFA"/>
                </a:solidFill>
              </a:rPr>
              <a:t>Hidden deco (1.1.1)</a:t>
            </a:r>
            <a:endParaRPr lang="en-US" sz="900" dirty="0"/>
          </a:p>
        </p:txBody>
      </p:sp>
      <p:pic>
        <p:nvPicPr>
          <p:cNvPr id="26" name="Image 7" descr="preencoded.png">    </p:cNvPr>
          <p:cNvPicPr>
            <a:picLocks noChangeAspect="1"/>
          </p:cNvPicPr>
          <p:nvPr/>
        </p:nvPicPr>
        <p:blipFill>
          <a:blip r:embed="rId8"/>
          <a:stretch>
            <a:fillRect/>
          </a:stretch>
        </p:blipFill>
        <p:spPr>
          <a:xfrm>
            <a:off x="2148840" y="4224528"/>
            <a:ext cx="182880" cy="182880"/>
          </a:xfrm>
          <a:prstGeom prst="rect">
            <a:avLst/>
          </a:prstGeom>
        </p:spPr>
      </p:pic>
      <p:sp>
        <p:nvSpPr>
          <p:cNvPr id="27" name="Text 17"/>
          <p:cNvSpPr/>
          <p:nvPr/>
        </p:nvSpPr>
        <p:spPr>
          <a:xfrm>
            <a:off x="2395728" y="4215384"/>
            <a:ext cx="2926080" cy="256032"/>
          </a:xfrm>
          <a:prstGeom prst="rect">
            <a:avLst/>
          </a:prstGeom>
          <a:noFill/>
          <a:ln/>
        </p:spPr>
        <p:txBody>
          <a:bodyPr wrap="square" rtlCol="0" anchor="ctr"/>
          <a:lstStyle/>
          <a:p>
            <a:pPr indent="0" marL="0">
              <a:buNone/>
            </a:pPr>
            <a:r>
              <a:rPr lang="en-US" sz="850" dirty="0">
                <a:solidFill>
                  <a:srgbClr val="E87A7A"/>
                </a:solidFill>
                <a:latin typeface="Courier New" pitchFamily="34" charset="0"/>
                <a:ea typeface="Courier New" pitchFamily="34" charset="-122"/>
                <a:cs typeface="Courier New" pitchFamily="34" charset="-120"/>
              </a:rPr>
              <a:t>&lt;span class="icon"&gt;🔔&lt;/span&gt; New message</a:t>
            </a:r>
            <a:endParaRPr lang="en-US" sz="850" dirty="0"/>
          </a:p>
        </p:txBody>
      </p:sp>
      <p:pic>
        <p:nvPicPr>
          <p:cNvPr id="28" name="Image 8" descr="preencoded.png">    </p:cNvPr>
          <p:cNvPicPr>
            <a:picLocks noChangeAspect="1"/>
          </p:cNvPicPr>
          <p:nvPr/>
        </p:nvPicPr>
        <p:blipFill>
          <a:blip r:embed="rId9"/>
          <a:stretch>
            <a:fillRect/>
          </a:stretch>
        </p:blipFill>
        <p:spPr>
          <a:xfrm>
            <a:off x="5486400" y="4224528"/>
            <a:ext cx="182880" cy="182880"/>
          </a:xfrm>
          <a:prstGeom prst="rect">
            <a:avLst/>
          </a:prstGeom>
        </p:spPr>
      </p:pic>
      <p:sp>
        <p:nvSpPr>
          <p:cNvPr id="29" name="Text 18"/>
          <p:cNvSpPr/>
          <p:nvPr/>
        </p:nvSpPr>
        <p:spPr>
          <a:xfrm>
            <a:off x="5733288" y="4215384"/>
            <a:ext cx="2926080" cy="256032"/>
          </a:xfrm>
          <a:prstGeom prst="rect">
            <a:avLst/>
          </a:prstGeom>
          <a:noFill/>
          <a:ln/>
        </p:spPr>
        <p:txBody>
          <a:bodyPr wrap="square" rtlCol="0" anchor="ctr"/>
          <a:lstStyle/>
          <a:p>
            <a:pPr indent="0" marL="0">
              <a:buNone/>
            </a:pPr>
            <a:r>
              <a:rPr lang="en-US" sz="850" dirty="0">
                <a:solidFill>
                  <a:srgbClr val="22C55E"/>
                </a:solidFill>
                <a:latin typeface="Courier New" pitchFamily="34" charset="0"/>
                <a:ea typeface="Courier New" pitchFamily="34" charset="-122"/>
                <a:cs typeface="Courier New" pitchFamily="34" charset="-120"/>
              </a:rPr>
              <a:t>&lt;span aria-hidden="true"&gt;🔔&lt;/span&gt; New message</a:t>
            </a:r>
            <a:endParaRPr lang="en-US" sz="850" dirty="0"/>
          </a:p>
        </p:txBody>
      </p:sp>
      <p:sp>
        <p:nvSpPr>
          <p:cNvPr id="31" name="Text 19"/>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6 — DYNAMIC CONTENT (WCAG 4.1.3, 1.4.13)</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Announcing changes without stealing focus</a:t>
            </a:r>
            <a:endParaRPr lang="en-US" sz="2600" dirty="0"/>
          </a:p>
        </p:txBody>
      </p:sp>
      <p:sp>
        <p:nvSpPr>
          <p:cNvPr id="4" name="Shape 2"/>
          <p:cNvSpPr/>
          <p:nvPr/>
        </p:nvSpPr>
        <p:spPr>
          <a:xfrm>
            <a:off x="365760" y="1170432"/>
            <a:ext cx="5029200" cy="3611880"/>
          </a:xfrm>
          <a:prstGeom prst="roundRect">
            <a:avLst>
              <a:gd name="adj" fmla="val 2532"/>
            </a:avLst>
          </a:prstGeom>
          <a:solidFill>
            <a:srgbClr val="1A2D3F"/>
          </a:solidFill>
          <a:ln w="19050">
            <a:solidFill>
              <a:srgbClr val="0EA5A0"/>
            </a:solidFill>
            <a:prstDash val="solid"/>
          </a:ln>
        </p:spPr>
      </p:sp>
      <p:sp>
        <p:nvSpPr>
          <p:cNvPr id="5" name="Text 3"/>
          <p:cNvSpPr/>
          <p:nvPr/>
        </p:nvSpPr>
        <p:spPr>
          <a:xfrm>
            <a:off x="502920" y="1261872"/>
            <a:ext cx="4754880" cy="292608"/>
          </a:xfrm>
          <a:prstGeom prst="rect">
            <a:avLst/>
          </a:prstGeom>
          <a:noFill/>
          <a:ln/>
        </p:spPr>
        <p:txBody>
          <a:bodyPr wrap="square" rtlCol="0" anchor="ctr"/>
          <a:lstStyle/>
          <a:p>
            <a:pPr indent="0" marL="0">
              <a:buNone/>
            </a:pPr>
            <a:r>
              <a:rPr lang="en-US" sz="1200" b="1" dirty="0">
                <a:solidFill>
                  <a:srgbClr val="0EA5A0"/>
                </a:solidFill>
              </a:rPr>
              <a:t>aria-live values</a:t>
            </a:r>
            <a:endParaRPr lang="en-US" sz="1200" dirty="0"/>
          </a:p>
        </p:txBody>
      </p:sp>
      <p:sp>
        <p:nvSpPr>
          <p:cNvPr id="6" name="Shape 4"/>
          <p:cNvSpPr/>
          <p:nvPr/>
        </p:nvSpPr>
        <p:spPr>
          <a:xfrm>
            <a:off x="502920" y="1664208"/>
            <a:ext cx="4709160" cy="841248"/>
          </a:xfrm>
          <a:prstGeom prst="roundRect">
            <a:avLst>
              <a:gd name="adj" fmla="val 7609"/>
            </a:avLst>
          </a:prstGeom>
          <a:solidFill>
            <a:srgbClr val="0D1B2A"/>
          </a:solidFill>
          <a:ln w="12700">
            <a:solidFill>
              <a:srgbClr val="334455"/>
            </a:solidFill>
            <a:prstDash val="solid"/>
          </a:ln>
        </p:spPr>
      </p:sp>
      <p:sp>
        <p:nvSpPr>
          <p:cNvPr id="7" name="Text 5"/>
          <p:cNvSpPr/>
          <p:nvPr/>
        </p:nvSpPr>
        <p:spPr>
          <a:xfrm>
            <a:off x="640080" y="1737360"/>
            <a:ext cx="1280160" cy="292608"/>
          </a:xfrm>
          <a:prstGeom prst="rect">
            <a:avLst/>
          </a:prstGeom>
          <a:noFill/>
          <a:ln/>
        </p:spPr>
        <p:txBody>
          <a:bodyPr wrap="square" rtlCol="0" anchor="ctr"/>
          <a:lstStyle/>
          <a:p>
            <a:pPr indent="0" marL="0">
              <a:buNone/>
            </a:pPr>
            <a:r>
              <a:rPr lang="en-US" sz="1100" b="1" dirty="0">
                <a:solidFill>
                  <a:srgbClr val="8DA6B8"/>
                </a:solidFill>
                <a:latin typeface="Courier New" pitchFamily="34" charset="0"/>
                <a:ea typeface="Courier New" pitchFamily="34" charset="-122"/>
                <a:cs typeface="Courier New" pitchFamily="34" charset="-120"/>
              </a:rPr>
              <a:t>"off"</a:t>
            </a:r>
            <a:endParaRPr lang="en-US" sz="1100" dirty="0"/>
          </a:p>
        </p:txBody>
      </p:sp>
      <p:sp>
        <p:nvSpPr>
          <p:cNvPr id="8" name="Text 6"/>
          <p:cNvSpPr/>
          <p:nvPr/>
        </p:nvSpPr>
        <p:spPr>
          <a:xfrm>
            <a:off x="640080" y="2066544"/>
            <a:ext cx="4389120" cy="347472"/>
          </a:xfrm>
          <a:prstGeom prst="rect">
            <a:avLst/>
          </a:prstGeom>
          <a:noFill/>
          <a:ln/>
        </p:spPr>
        <p:txBody>
          <a:bodyPr wrap="square" rtlCol="0" anchor="ctr"/>
          <a:lstStyle/>
          <a:p>
            <a:pPr indent="0" marL="0">
              <a:buNone/>
            </a:pPr>
            <a:r>
              <a:rPr lang="en-US" sz="950" dirty="0">
                <a:solidFill>
                  <a:srgbClr val="8DA6B8"/>
                </a:solidFill>
              </a:rPr>
              <a:t>Default — no announcement on change</a:t>
            </a:r>
            <a:endParaRPr lang="en-US" sz="950" dirty="0"/>
          </a:p>
        </p:txBody>
      </p:sp>
      <p:sp>
        <p:nvSpPr>
          <p:cNvPr id="9" name="Shape 7"/>
          <p:cNvSpPr/>
          <p:nvPr/>
        </p:nvSpPr>
        <p:spPr>
          <a:xfrm>
            <a:off x="502920" y="2651760"/>
            <a:ext cx="4709160" cy="841248"/>
          </a:xfrm>
          <a:prstGeom prst="roundRect">
            <a:avLst>
              <a:gd name="adj" fmla="val 7609"/>
            </a:avLst>
          </a:prstGeom>
          <a:solidFill>
            <a:srgbClr val="0D1B2A"/>
          </a:solidFill>
          <a:ln w="12700">
            <a:solidFill>
              <a:srgbClr val="22C55E"/>
            </a:solidFill>
            <a:prstDash val="solid"/>
          </a:ln>
        </p:spPr>
      </p:sp>
      <p:sp>
        <p:nvSpPr>
          <p:cNvPr id="10" name="Text 8"/>
          <p:cNvSpPr/>
          <p:nvPr/>
        </p:nvSpPr>
        <p:spPr>
          <a:xfrm>
            <a:off x="640080" y="2724912"/>
            <a:ext cx="1280160" cy="292608"/>
          </a:xfrm>
          <a:prstGeom prst="rect">
            <a:avLst/>
          </a:prstGeom>
          <a:noFill/>
          <a:ln/>
        </p:spPr>
        <p:txBody>
          <a:bodyPr wrap="square" rtlCol="0" anchor="ctr"/>
          <a:lstStyle/>
          <a:p>
            <a:pPr indent="0" marL="0">
              <a:buNone/>
            </a:pPr>
            <a:r>
              <a:rPr lang="en-US" sz="1100" b="1" dirty="0">
                <a:solidFill>
                  <a:srgbClr val="22C55E"/>
                </a:solidFill>
                <a:latin typeface="Courier New" pitchFamily="34" charset="0"/>
                <a:ea typeface="Courier New" pitchFamily="34" charset="-122"/>
                <a:cs typeface="Courier New" pitchFamily="34" charset="-120"/>
              </a:rPr>
              <a:t>"polite"</a:t>
            </a:r>
            <a:endParaRPr lang="en-US" sz="1100" dirty="0"/>
          </a:p>
        </p:txBody>
      </p:sp>
      <p:sp>
        <p:nvSpPr>
          <p:cNvPr id="11" name="Text 9"/>
          <p:cNvSpPr/>
          <p:nvPr/>
        </p:nvSpPr>
        <p:spPr>
          <a:xfrm>
            <a:off x="640080" y="3054096"/>
            <a:ext cx="4389120" cy="347472"/>
          </a:xfrm>
          <a:prstGeom prst="rect">
            <a:avLst/>
          </a:prstGeom>
          <a:noFill/>
          <a:ln/>
        </p:spPr>
        <p:txBody>
          <a:bodyPr wrap="square" rtlCol="0" anchor="ctr"/>
          <a:lstStyle/>
          <a:p>
            <a:pPr indent="0" marL="0">
              <a:buNone/>
            </a:pPr>
            <a:r>
              <a:rPr lang="en-US" sz="950" dirty="0">
                <a:solidFill>
                  <a:srgbClr val="8DA6B8"/>
                </a:solidFill>
              </a:rPr>
              <a:t>Announces when the user is idle. Use for most status messages, notices, form confirmations.</a:t>
            </a:r>
            <a:endParaRPr lang="en-US" sz="950" dirty="0"/>
          </a:p>
        </p:txBody>
      </p:sp>
      <p:sp>
        <p:nvSpPr>
          <p:cNvPr id="12" name="Shape 10"/>
          <p:cNvSpPr/>
          <p:nvPr/>
        </p:nvSpPr>
        <p:spPr>
          <a:xfrm>
            <a:off x="502920" y="3639312"/>
            <a:ext cx="4709160" cy="841248"/>
          </a:xfrm>
          <a:prstGeom prst="roundRect">
            <a:avLst>
              <a:gd name="adj" fmla="val 7609"/>
            </a:avLst>
          </a:prstGeom>
          <a:solidFill>
            <a:srgbClr val="0D1B2A"/>
          </a:solidFill>
          <a:ln w="12700">
            <a:solidFill>
              <a:srgbClr val="F0A500"/>
            </a:solidFill>
            <a:prstDash val="solid"/>
          </a:ln>
        </p:spPr>
      </p:sp>
      <p:sp>
        <p:nvSpPr>
          <p:cNvPr id="13" name="Text 11"/>
          <p:cNvSpPr/>
          <p:nvPr/>
        </p:nvSpPr>
        <p:spPr>
          <a:xfrm>
            <a:off x="640080" y="3712464"/>
            <a:ext cx="1280160" cy="292608"/>
          </a:xfrm>
          <a:prstGeom prst="rect">
            <a:avLst/>
          </a:prstGeom>
          <a:noFill/>
          <a:ln/>
        </p:spPr>
        <p:txBody>
          <a:bodyPr wrap="square" rtlCol="0" anchor="ctr"/>
          <a:lstStyle/>
          <a:p>
            <a:pPr indent="0" marL="0">
              <a:buNone/>
            </a:pPr>
            <a:r>
              <a:rPr lang="en-US" sz="1100" b="1" dirty="0">
                <a:solidFill>
                  <a:srgbClr val="F0A500"/>
                </a:solidFill>
                <a:latin typeface="Courier New" pitchFamily="34" charset="0"/>
                <a:ea typeface="Courier New" pitchFamily="34" charset="-122"/>
                <a:cs typeface="Courier New" pitchFamily="34" charset="-120"/>
              </a:rPr>
              <a:t>"assertive"</a:t>
            </a:r>
            <a:endParaRPr lang="en-US" sz="1100" dirty="0"/>
          </a:p>
        </p:txBody>
      </p:sp>
      <p:sp>
        <p:nvSpPr>
          <p:cNvPr id="14" name="Text 12"/>
          <p:cNvSpPr/>
          <p:nvPr/>
        </p:nvSpPr>
        <p:spPr>
          <a:xfrm>
            <a:off x="640080" y="4041648"/>
            <a:ext cx="4389120" cy="347472"/>
          </a:xfrm>
          <a:prstGeom prst="rect">
            <a:avLst/>
          </a:prstGeom>
          <a:noFill/>
          <a:ln/>
        </p:spPr>
        <p:txBody>
          <a:bodyPr wrap="square" rtlCol="0" anchor="ctr"/>
          <a:lstStyle/>
          <a:p>
            <a:pPr indent="0" marL="0">
              <a:buNone/>
            </a:pPr>
            <a:r>
              <a:rPr lang="en-US" sz="950" dirty="0">
                <a:solidFill>
                  <a:srgbClr val="8DA6B8"/>
                </a:solidFill>
              </a:rPr>
              <a:t>Interrupts the screen reader immediately. Only for critical alerts — use sparingly.</a:t>
            </a:r>
            <a:endParaRPr lang="en-US" sz="950" dirty="0"/>
          </a:p>
        </p:txBody>
      </p:sp>
      <p:sp>
        <p:nvSpPr>
          <p:cNvPr id="15" name="Shape 13"/>
          <p:cNvSpPr/>
          <p:nvPr/>
        </p:nvSpPr>
        <p:spPr>
          <a:xfrm>
            <a:off x="5577840" y="1170432"/>
            <a:ext cx="3200400" cy="3611880"/>
          </a:xfrm>
          <a:prstGeom prst="roundRect">
            <a:avLst>
              <a:gd name="adj" fmla="val 2857"/>
            </a:avLst>
          </a:prstGeom>
          <a:solidFill>
            <a:srgbClr val="0A0F16"/>
          </a:solidFill>
          <a:ln w="19050">
            <a:solidFill>
              <a:srgbClr val="22C55E"/>
            </a:solidFill>
            <a:prstDash val="solid"/>
          </a:ln>
          <a:effectLst>
            <a:outerShdw sx="100000" sy="100000" kx="0" ky="0" algn="bl" rotWithShape="0" blurRad="101600" dist="38100" dir="2700000">
              <a:srgbClr val="000000">
                <a:alpha val="22000"/>
              </a:srgbClr>
            </a:outerShdw>
          </a:effectLst>
        </p:spPr>
      </p:sp>
      <p:sp>
        <p:nvSpPr>
          <p:cNvPr id="16" name="Text 14"/>
          <p:cNvSpPr/>
          <p:nvPr/>
        </p:nvSpPr>
        <p:spPr>
          <a:xfrm>
            <a:off x="5715000" y="1261872"/>
            <a:ext cx="2926080" cy="292608"/>
          </a:xfrm>
          <a:prstGeom prst="rect">
            <a:avLst/>
          </a:prstGeom>
          <a:noFill/>
          <a:ln/>
        </p:spPr>
        <p:txBody>
          <a:bodyPr wrap="square" rtlCol="0" anchor="ctr"/>
          <a:lstStyle/>
          <a:p>
            <a:pPr indent="0" marL="0">
              <a:buNone/>
            </a:pPr>
            <a:r>
              <a:rPr lang="en-US" sz="1000" b="1" dirty="0">
                <a:solidFill>
                  <a:srgbClr val="22C55E"/>
                </a:solidFill>
              </a:rPr>
              <a:t>Complete save.js</a:t>
            </a:r>
            <a:endParaRPr lang="en-US" sz="1000" dirty="0"/>
          </a:p>
        </p:txBody>
      </p:sp>
      <p:sp>
        <p:nvSpPr>
          <p:cNvPr id="17" name="Text 15"/>
          <p:cNvSpPr/>
          <p:nvPr/>
        </p:nvSpPr>
        <p:spPr>
          <a:xfrm>
            <a:off x="5687568" y="1609344"/>
            <a:ext cx="2971800" cy="210312"/>
          </a:xfrm>
          <a:prstGeom prst="rect">
            <a:avLst/>
          </a:prstGeom>
          <a:noFill/>
          <a:ln/>
        </p:spPr>
        <p:txBody>
          <a:bodyPr wrap="square" rtlCol="0" anchor="ctr"/>
          <a:lstStyle/>
          <a:p>
            <a:pPr indent="0" marL="0">
              <a:buNone/>
            </a:pPr>
            <a:r>
              <a:rPr lang="en-US" sz="780" dirty="0">
                <a:solidFill>
                  <a:srgbClr val="0EA5A0"/>
                </a:solidFill>
                <a:latin typeface="Courier New" pitchFamily="34" charset="0"/>
                <a:ea typeface="Courier New" pitchFamily="34" charset="-122"/>
                <a:cs typeface="Courier New" pitchFamily="34" charset="-120"/>
              </a:rPr>
              <a:t>export default function save(</a:t>
            </a:r>
            <a:endParaRPr lang="en-US" sz="780" dirty="0"/>
          </a:p>
        </p:txBody>
      </p:sp>
      <p:sp>
        <p:nvSpPr>
          <p:cNvPr id="18" name="Text 16"/>
          <p:cNvSpPr/>
          <p:nvPr/>
        </p:nvSpPr>
        <p:spPr>
          <a:xfrm>
            <a:off x="5687568" y="1819656"/>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 attributes }</a:t>
            </a:r>
            <a:endParaRPr lang="en-US" sz="780" dirty="0"/>
          </a:p>
        </p:txBody>
      </p:sp>
      <p:sp>
        <p:nvSpPr>
          <p:cNvPr id="19" name="Text 17"/>
          <p:cNvSpPr/>
          <p:nvPr/>
        </p:nvSpPr>
        <p:spPr>
          <a:xfrm>
            <a:off x="5687568" y="2029968"/>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a:t>
            </a:r>
            <a:endParaRPr lang="en-US" sz="780" dirty="0"/>
          </a:p>
        </p:txBody>
      </p:sp>
      <p:sp>
        <p:nvSpPr>
          <p:cNvPr id="20" name="Text 18"/>
          <p:cNvSpPr/>
          <p:nvPr/>
        </p:nvSpPr>
        <p:spPr>
          <a:xfrm>
            <a:off x="5687568" y="2240280"/>
            <a:ext cx="2971800" cy="210312"/>
          </a:xfrm>
          <a:prstGeom prst="rect">
            <a:avLst/>
          </a:prstGeom>
          <a:noFill/>
          <a:ln/>
        </p:spPr>
        <p:txBody>
          <a:bodyPr wrap="square" rtlCol="0" anchor="ctr"/>
          <a:lstStyle/>
          <a:p>
            <a:pPr indent="0" marL="0">
              <a:buNone/>
            </a:pPr>
            <a:r>
              <a:rPr lang="en-US" sz="780" dirty="0">
                <a:solidFill>
                  <a:srgbClr val="0EA5A0"/>
                </a:solidFill>
                <a:latin typeface="Courier New" pitchFamily="34" charset="0"/>
                <a:ea typeface="Courier New" pitchFamily="34" charset="-122"/>
                <a:cs typeface="Courier New" pitchFamily="34" charset="-120"/>
              </a:rPr>
              <a:t>  const blockProps =</a:t>
            </a:r>
            <a:endParaRPr lang="en-US" sz="780" dirty="0"/>
          </a:p>
        </p:txBody>
      </p:sp>
      <p:sp>
        <p:nvSpPr>
          <p:cNvPr id="21" name="Text 19"/>
          <p:cNvSpPr/>
          <p:nvPr/>
        </p:nvSpPr>
        <p:spPr>
          <a:xfrm>
            <a:off x="5687568" y="2450592"/>
            <a:ext cx="2971800" cy="210312"/>
          </a:xfrm>
          <a:prstGeom prst="rect">
            <a:avLst/>
          </a:prstGeom>
          <a:noFill/>
          <a:ln/>
        </p:spPr>
        <p:txBody>
          <a:bodyPr wrap="square" rtlCol="0" anchor="ctr"/>
          <a:lstStyle/>
          <a:p>
            <a:pPr indent="0" marL="0">
              <a:buNone/>
            </a:pPr>
            <a:r>
              <a:rPr lang="en-US" sz="780" dirty="0">
                <a:solidFill>
                  <a:srgbClr val="0EA5A0"/>
                </a:solidFill>
                <a:latin typeface="Courier New" pitchFamily="34" charset="0"/>
                <a:ea typeface="Courier New" pitchFamily="34" charset="-122"/>
                <a:cs typeface="Courier New" pitchFamily="34" charset="-120"/>
              </a:rPr>
              <a:t>    useBlockProps.save();</a:t>
            </a:r>
            <a:endParaRPr lang="en-US" sz="780" dirty="0"/>
          </a:p>
        </p:txBody>
      </p:sp>
      <p:sp>
        <p:nvSpPr>
          <p:cNvPr id="22" name="Text 20"/>
          <p:cNvSpPr/>
          <p:nvPr/>
        </p:nvSpPr>
        <p:spPr>
          <a:xfrm>
            <a:off x="5687568" y="2660904"/>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return (</a:t>
            </a:r>
            <a:endParaRPr lang="en-US" sz="780" dirty="0"/>
          </a:p>
        </p:txBody>
      </p:sp>
      <p:sp>
        <p:nvSpPr>
          <p:cNvPr id="23" name="Text 21"/>
          <p:cNvSpPr/>
          <p:nvPr/>
        </p:nvSpPr>
        <p:spPr>
          <a:xfrm>
            <a:off x="5687568" y="2871216"/>
            <a:ext cx="2971800" cy="210312"/>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    &lt;section</a:t>
            </a:r>
            <a:endParaRPr lang="en-US" sz="780" dirty="0"/>
          </a:p>
        </p:txBody>
      </p:sp>
      <p:sp>
        <p:nvSpPr>
          <p:cNvPr id="24" name="Text 22"/>
          <p:cNvSpPr/>
          <p:nvPr/>
        </p:nvSpPr>
        <p:spPr>
          <a:xfrm>
            <a:off x="5687568" y="3081528"/>
            <a:ext cx="2971800" cy="210312"/>
          </a:xfrm>
          <a:prstGeom prst="rect">
            <a:avLst/>
          </a:prstGeom>
          <a:noFill/>
          <a:ln/>
        </p:spPr>
        <p:txBody>
          <a:bodyPr wrap="square" rtlCol="0" anchor="ctr"/>
          <a:lstStyle/>
          <a:p>
            <a:pPr indent="0" marL="0">
              <a:buNone/>
            </a:pPr>
            <a:r>
              <a:rPr lang="en-US" sz="780" dirty="0">
                <a:solidFill>
                  <a:srgbClr val="0EA5A0"/>
                </a:solidFill>
                <a:latin typeface="Courier New" pitchFamily="34" charset="0"/>
                <a:ea typeface="Courier New" pitchFamily="34" charset="-122"/>
                <a:cs typeface="Courier New" pitchFamily="34" charset="-120"/>
              </a:rPr>
              <a:t>      { ...blockProps }</a:t>
            </a:r>
            <a:endParaRPr lang="en-US" sz="780" dirty="0"/>
          </a:p>
        </p:txBody>
      </p:sp>
      <p:sp>
        <p:nvSpPr>
          <p:cNvPr id="25" name="Text 23"/>
          <p:cNvSpPr/>
          <p:nvPr/>
        </p:nvSpPr>
        <p:spPr>
          <a:xfrm>
            <a:off x="5687568" y="3291840"/>
            <a:ext cx="2971800" cy="210312"/>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role="region"</a:t>
            </a:r>
            <a:endParaRPr lang="en-US" sz="780" dirty="0"/>
          </a:p>
        </p:txBody>
      </p:sp>
      <p:sp>
        <p:nvSpPr>
          <p:cNvPr id="26" name="Text 24"/>
          <p:cNvSpPr/>
          <p:nvPr/>
        </p:nvSpPr>
        <p:spPr>
          <a:xfrm>
            <a:off x="5687568" y="3502152"/>
            <a:ext cx="2971800" cy="210312"/>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aria-label="Notice"</a:t>
            </a:r>
            <a:endParaRPr lang="en-US" sz="780" dirty="0"/>
          </a:p>
        </p:txBody>
      </p:sp>
      <p:sp>
        <p:nvSpPr>
          <p:cNvPr id="27" name="Text 25"/>
          <p:cNvSpPr/>
          <p:nvPr/>
        </p:nvSpPr>
        <p:spPr>
          <a:xfrm>
            <a:off x="5687568" y="3712464"/>
            <a:ext cx="2971800" cy="210312"/>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aria-live="polite"</a:t>
            </a:r>
            <a:endParaRPr lang="en-US" sz="780" dirty="0"/>
          </a:p>
        </p:txBody>
      </p:sp>
      <p:sp>
        <p:nvSpPr>
          <p:cNvPr id="28" name="Text 26"/>
          <p:cNvSpPr/>
          <p:nvPr/>
        </p:nvSpPr>
        <p:spPr>
          <a:xfrm>
            <a:off x="5687568" y="3922776"/>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&gt;</a:t>
            </a:r>
            <a:endParaRPr lang="en-US" sz="780" dirty="0"/>
          </a:p>
        </p:txBody>
      </p:sp>
      <p:sp>
        <p:nvSpPr>
          <p:cNvPr id="29" name="Text 27"/>
          <p:cNvSpPr/>
          <p:nvPr/>
        </p:nvSpPr>
        <p:spPr>
          <a:xfrm>
            <a:off x="5687568" y="4133088"/>
            <a:ext cx="2971800" cy="210312"/>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      &lt;RichText.Content</a:t>
            </a:r>
            <a:endParaRPr lang="en-US" sz="780" dirty="0"/>
          </a:p>
        </p:txBody>
      </p:sp>
      <p:sp>
        <p:nvSpPr>
          <p:cNvPr id="30" name="Text 28"/>
          <p:cNvSpPr/>
          <p:nvPr/>
        </p:nvSpPr>
        <p:spPr>
          <a:xfrm>
            <a:off x="5687568" y="4343400"/>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tagName="p"</a:t>
            </a:r>
            <a:endParaRPr lang="en-US" sz="780" dirty="0"/>
          </a:p>
        </p:txBody>
      </p:sp>
      <p:sp>
        <p:nvSpPr>
          <p:cNvPr id="31" name="Text 29"/>
          <p:cNvSpPr/>
          <p:nvPr/>
        </p:nvSpPr>
        <p:spPr>
          <a:xfrm>
            <a:off x="5687568" y="4553712"/>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value={</a:t>
            </a:r>
            <a:endParaRPr lang="en-US" sz="780" dirty="0"/>
          </a:p>
        </p:txBody>
      </p:sp>
      <p:sp>
        <p:nvSpPr>
          <p:cNvPr id="32" name="Text 30"/>
          <p:cNvSpPr/>
          <p:nvPr/>
        </p:nvSpPr>
        <p:spPr>
          <a:xfrm>
            <a:off x="5687568" y="4764024"/>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attributes.noticeText</a:t>
            </a:r>
            <a:endParaRPr lang="en-US" sz="780" dirty="0"/>
          </a:p>
        </p:txBody>
      </p:sp>
      <p:sp>
        <p:nvSpPr>
          <p:cNvPr id="33" name="Text 31"/>
          <p:cNvSpPr/>
          <p:nvPr/>
        </p:nvSpPr>
        <p:spPr>
          <a:xfrm>
            <a:off x="5687568" y="4974336"/>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a:t>
            </a:r>
            <a:endParaRPr lang="en-US" sz="780" dirty="0"/>
          </a:p>
        </p:txBody>
      </p:sp>
      <p:sp>
        <p:nvSpPr>
          <p:cNvPr id="34" name="Text 32"/>
          <p:cNvSpPr/>
          <p:nvPr/>
        </p:nvSpPr>
        <p:spPr>
          <a:xfrm>
            <a:off x="5687568" y="5184648"/>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/&gt;</a:t>
            </a:r>
            <a:endParaRPr lang="en-US" sz="780" dirty="0"/>
          </a:p>
        </p:txBody>
      </p:sp>
      <p:sp>
        <p:nvSpPr>
          <p:cNvPr id="35" name="Text 33"/>
          <p:cNvSpPr/>
          <p:nvPr/>
        </p:nvSpPr>
        <p:spPr>
          <a:xfrm>
            <a:off x="5687568" y="5394960"/>
            <a:ext cx="2971800" cy="210312"/>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    &lt;/section&gt;</a:t>
            </a:r>
            <a:endParaRPr lang="en-US" sz="780" dirty="0"/>
          </a:p>
        </p:txBody>
      </p:sp>
      <p:sp>
        <p:nvSpPr>
          <p:cNvPr id="36" name="Text 34"/>
          <p:cNvSpPr/>
          <p:nvPr/>
        </p:nvSpPr>
        <p:spPr>
          <a:xfrm>
            <a:off x="5687568" y="5605272"/>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a:t>
            </a:r>
            <a:endParaRPr lang="en-US" sz="780" dirty="0"/>
          </a:p>
        </p:txBody>
      </p:sp>
      <p:sp>
        <p:nvSpPr>
          <p:cNvPr id="37" name="Text 35"/>
          <p:cNvSpPr/>
          <p:nvPr/>
        </p:nvSpPr>
        <p:spPr>
          <a:xfrm>
            <a:off x="5687568" y="5815584"/>
            <a:ext cx="2971800" cy="210312"/>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a:t>
            </a:r>
            <a:endParaRPr lang="en-US" sz="780" dirty="0"/>
          </a:p>
        </p:txBody>
      </p:sp>
      <p:sp>
        <p:nvSpPr>
          <p:cNvPr id="39" name="Text 36"/>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7 — COLOUR INDEPENDENCE (WCAG 1.4.1, 1.4.8)</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Never use colour as the only means of conveying information</a:t>
            </a:r>
            <a:endParaRPr lang="en-US" sz="2300" dirty="0"/>
          </a:p>
        </p:txBody>
      </p:sp>
      <p:sp>
        <p:nvSpPr>
          <p:cNvPr id="4" name="Shape 2"/>
          <p:cNvSpPr/>
          <p:nvPr/>
        </p:nvSpPr>
        <p:spPr>
          <a:xfrm>
            <a:off x="365760" y="1170432"/>
            <a:ext cx="8412480" cy="475488"/>
          </a:xfrm>
          <a:prstGeom prst="roundRect">
            <a:avLst>
              <a:gd name="adj" fmla="val 13462"/>
            </a:avLst>
          </a:prstGeom>
          <a:solidFill>
            <a:srgbClr val="1A2D3F"/>
          </a:solidFill>
          <a:ln w="19050">
            <a:solidFill>
              <a:srgbClr val="F0A500"/>
            </a:solidFill>
            <a:prstDash val="solid"/>
          </a:ln>
        </p:spPr>
      </p:sp>
      <p:sp>
        <p:nvSpPr>
          <p:cNvPr id="5" name="Text 3"/>
          <p:cNvSpPr/>
          <p:nvPr/>
        </p:nvSpPr>
        <p:spPr>
          <a:xfrm>
            <a:off x="502920" y="1188720"/>
            <a:ext cx="8229600" cy="402336"/>
          </a:xfrm>
          <a:prstGeom prst="rect">
            <a:avLst/>
          </a:prstGeom>
          <a:noFill/>
          <a:ln/>
        </p:spPr>
        <p:txBody>
          <a:bodyPr wrap="square" rtlCol="0" anchor="ctr"/>
          <a:lstStyle/>
          <a:p>
            <a:pPr indent="0" marL="0">
              <a:buNone/>
            </a:pPr>
            <a:r>
              <a:rPr lang="en-US" sz="950" dirty="0">
                <a:solidFill>
                  <a:srgbClr val="F0A500"/>
                </a:solidFill>
              </a:rPr>
              <a:t>WCAG 1.4.1: "Colour is not used as the only visual means of conveying information, indicating an action, prompting a response, or distinguishing a visual element."</a:t>
            </a:r>
            <a:endParaRPr lang="en-US" sz="950" dirty="0"/>
          </a:p>
        </p:txBody>
      </p:sp>
      <p:sp>
        <p:nvSpPr>
          <p:cNvPr id="6" name="Shape 4"/>
          <p:cNvSpPr/>
          <p:nvPr/>
        </p:nvSpPr>
        <p:spPr>
          <a:xfrm>
            <a:off x="365760" y="1810512"/>
            <a:ext cx="4114800" cy="1335024"/>
          </a:xfrm>
          <a:prstGeom prst="roundRect">
            <a:avLst>
              <a:gd name="adj" fmla="val 5479"/>
            </a:avLst>
          </a:prstGeom>
          <a:solidFill>
            <a:srgbClr val="1A2D3F"/>
          </a:solidFill>
          <a:ln w="12700">
            <a:solidFill>
              <a:srgbClr val="0EA5A0"/>
            </a:solidFill>
            <a:prstDash val="solid"/>
          </a:ln>
        </p:spPr>
      </p:sp>
      <p:sp>
        <p:nvSpPr>
          <p:cNvPr id="7" name="Text 5"/>
          <p:cNvSpPr/>
          <p:nvPr/>
        </p:nvSpPr>
        <p:spPr>
          <a:xfrm>
            <a:off x="475488" y="1865376"/>
            <a:ext cx="3840480" cy="256032"/>
          </a:xfrm>
          <a:prstGeom prst="rect">
            <a:avLst/>
          </a:prstGeom>
          <a:noFill/>
          <a:ln/>
        </p:spPr>
        <p:txBody>
          <a:bodyPr wrap="square" rtlCol="0" anchor="ctr"/>
          <a:lstStyle/>
          <a:p>
            <a:pPr indent="0" marL="0">
              <a:buNone/>
            </a:pPr>
            <a:r>
              <a:rPr lang="en-US" sz="1100" b="1" dirty="0">
                <a:solidFill>
                  <a:srgbClr val="0EA5A0"/>
                </a:solidFill>
              </a:rPr>
              <a:t>Notice types</a:t>
            </a:r>
            <a:endParaRPr lang="en-US" sz="1100" dirty="0"/>
          </a:p>
        </p:txBody>
      </p:sp>
      <p:pic>
        <p:nvPicPr>
          <p:cNvPr id="8" name="Image 0" descr="preencoded.png">    </p:cNvPr>
          <p:cNvPicPr>
            <a:picLocks noChangeAspect="1"/>
          </p:cNvPicPr>
          <p:nvPr/>
        </p:nvPicPr>
        <p:blipFill>
          <a:blip r:embed="rId1"/>
          <a:stretch>
            <a:fillRect/>
          </a:stretch>
        </p:blipFill>
        <p:spPr>
          <a:xfrm>
            <a:off x="475488" y="2176272"/>
            <a:ext cx="182880" cy="182880"/>
          </a:xfrm>
          <a:prstGeom prst="rect">
            <a:avLst/>
          </a:prstGeom>
        </p:spPr>
      </p:pic>
      <p:sp>
        <p:nvSpPr>
          <p:cNvPr id="9" name="Text 6"/>
          <p:cNvSpPr/>
          <p:nvPr/>
        </p:nvSpPr>
        <p:spPr>
          <a:xfrm>
            <a:off x="713232" y="2157984"/>
            <a:ext cx="3566160" cy="274320"/>
          </a:xfrm>
          <a:prstGeom prst="rect">
            <a:avLst/>
          </a:prstGeom>
          <a:noFill/>
          <a:ln/>
        </p:spPr>
        <p:txBody>
          <a:bodyPr wrap="square" rtlCol="0" anchor="ctr"/>
          <a:lstStyle/>
          <a:p>
            <a:pPr indent="0" marL="0">
              <a:buNone/>
            </a:pPr>
            <a:r>
              <a:rPr lang="en-US" sz="900" dirty="0">
                <a:solidFill>
                  <a:srgbClr val="E87A7A"/>
                </a:solidFill>
              </a:rPr>
              <a:t>Use red/yellow/green colour alone</a:t>
            </a:r>
            <a:endParaRPr lang="en-US" sz="900" dirty="0"/>
          </a:p>
        </p:txBody>
      </p:sp>
      <p:pic>
        <p:nvPicPr>
          <p:cNvPr id="10" name="Image 1" descr="preencoded.png">    </p:cNvPr>
          <p:cNvPicPr>
            <a:picLocks noChangeAspect="1"/>
          </p:cNvPicPr>
          <p:nvPr/>
        </p:nvPicPr>
        <p:blipFill>
          <a:blip r:embed="rId2"/>
          <a:stretch>
            <a:fillRect/>
          </a:stretch>
        </p:blipFill>
        <p:spPr>
          <a:xfrm>
            <a:off x="475488" y="2505456"/>
            <a:ext cx="182880" cy="182880"/>
          </a:xfrm>
          <a:prstGeom prst="rect">
            <a:avLst/>
          </a:prstGeom>
        </p:spPr>
      </p:pic>
      <p:sp>
        <p:nvSpPr>
          <p:cNvPr id="11" name="Text 7"/>
          <p:cNvSpPr/>
          <p:nvPr/>
        </p:nvSpPr>
        <p:spPr>
          <a:xfrm>
            <a:off x="713232" y="2487168"/>
            <a:ext cx="3566160" cy="530352"/>
          </a:xfrm>
          <a:prstGeom prst="rect">
            <a:avLst/>
          </a:prstGeom>
          <a:noFill/>
          <a:ln/>
        </p:spPr>
        <p:txBody>
          <a:bodyPr wrap="square" rtlCol="0" anchor="ctr"/>
          <a:lstStyle/>
          <a:p>
            <a:pPr indent="0" marL="0">
              <a:buNone/>
            </a:pPr>
            <a:r>
              <a:rPr lang="en-US" sz="850" dirty="0">
                <a:solidFill>
                  <a:srgbClr val="22C55E"/>
                </a:solidFill>
              </a:rPr>
              <a:t>Add an icon + text label</a:t>
            </a:r>
            <a:endParaRPr lang="en-US" sz="850" dirty="0"/>
          </a:p>
          <a:p>
            <a:pPr indent="0" marL="0">
              <a:buNone/>
            </a:pPr>
            <a:r>
              <a:rPr lang="en-US" sz="850" dirty="0">
                <a:solidFill>
                  <a:srgbClr val="22C55E"/>
                </a:solidFill>
              </a:rPr>
              <a:t>&lt;span aria-hidden="true"&gt;⚠️&lt;/span&gt;</a:t>
            </a:r>
            <a:endParaRPr lang="en-US" sz="850" dirty="0"/>
          </a:p>
          <a:p>
            <a:pPr indent="0" marL="0">
              <a:buNone/>
            </a:pPr>
            <a:r>
              <a:rPr lang="en-US" sz="850" dirty="0">
                <a:solidFill>
                  <a:srgbClr val="22C55E"/>
                </a:solidFill>
              </a:rPr>
              <a:t>&lt;span class="sr-only"&gt;Warning:&lt;/span&gt;</a:t>
            </a:r>
            <a:endParaRPr lang="en-US" sz="850" dirty="0"/>
          </a:p>
        </p:txBody>
      </p:sp>
      <p:sp>
        <p:nvSpPr>
          <p:cNvPr id="12" name="Shape 8"/>
          <p:cNvSpPr/>
          <p:nvPr/>
        </p:nvSpPr>
        <p:spPr>
          <a:xfrm>
            <a:off x="4736592" y="1810512"/>
            <a:ext cx="4114800" cy="1335024"/>
          </a:xfrm>
          <a:prstGeom prst="roundRect">
            <a:avLst>
              <a:gd name="adj" fmla="val 5479"/>
            </a:avLst>
          </a:prstGeom>
          <a:solidFill>
            <a:srgbClr val="1A2D3F"/>
          </a:solidFill>
          <a:ln w="12700">
            <a:solidFill>
              <a:srgbClr val="0EA5A0"/>
            </a:solidFill>
            <a:prstDash val="solid"/>
          </a:ln>
        </p:spPr>
      </p:sp>
      <p:sp>
        <p:nvSpPr>
          <p:cNvPr id="13" name="Text 9"/>
          <p:cNvSpPr/>
          <p:nvPr/>
        </p:nvSpPr>
        <p:spPr>
          <a:xfrm>
            <a:off x="4846320" y="1865376"/>
            <a:ext cx="3840480" cy="256032"/>
          </a:xfrm>
          <a:prstGeom prst="rect">
            <a:avLst/>
          </a:prstGeom>
          <a:noFill/>
          <a:ln/>
        </p:spPr>
        <p:txBody>
          <a:bodyPr wrap="square" rtlCol="0" anchor="ctr"/>
          <a:lstStyle/>
          <a:p>
            <a:pPr indent="0" marL="0">
              <a:buNone/>
            </a:pPr>
            <a:r>
              <a:rPr lang="en-US" sz="1100" b="1" dirty="0">
                <a:solidFill>
                  <a:srgbClr val="0EA5A0"/>
                </a:solidFill>
              </a:rPr>
              <a:t>Required fields</a:t>
            </a:r>
            <a:endParaRPr lang="en-US" sz="1100" dirty="0"/>
          </a:p>
        </p:txBody>
      </p:sp>
      <p:pic>
        <p:nvPicPr>
          <p:cNvPr id="14" name="Image 2" descr="preencoded.png">    </p:cNvPr>
          <p:cNvPicPr>
            <a:picLocks noChangeAspect="1"/>
          </p:cNvPicPr>
          <p:nvPr/>
        </p:nvPicPr>
        <p:blipFill>
          <a:blip r:embed="rId3"/>
          <a:stretch>
            <a:fillRect/>
          </a:stretch>
        </p:blipFill>
        <p:spPr>
          <a:xfrm>
            <a:off x="4846320" y="2176272"/>
            <a:ext cx="182880" cy="182880"/>
          </a:xfrm>
          <a:prstGeom prst="rect">
            <a:avLst/>
          </a:prstGeom>
        </p:spPr>
      </p:pic>
      <p:sp>
        <p:nvSpPr>
          <p:cNvPr id="15" name="Text 10"/>
          <p:cNvSpPr/>
          <p:nvPr/>
        </p:nvSpPr>
        <p:spPr>
          <a:xfrm>
            <a:off x="5084064" y="2157984"/>
            <a:ext cx="3566160" cy="274320"/>
          </a:xfrm>
          <a:prstGeom prst="rect">
            <a:avLst/>
          </a:prstGeom>
          <a:noFill/>
          <a:ln/>
        </p:spPr>
        <p:txBody>
          <a:bodyPr wrap="square" rtlCol="0" anchor="ctr"/>
          <a:lstStyle/>
          <a:p>
            <a:pPr indent="0" marL="0">
              <a:buNone/>
            </a:pPr>
            <a:r>
              <a:rPr lang="en-US" sz="900" dirty="0">
                <a:solidFill>
                  <a:srgbClr val="E87A7A"/>
                </a:solidFill>
              </a:rPr>
              <a:t>&lt;label style="color:red"&gt;Name&lt;/label&gt;</a:t>
            </a:r>
            <a:endParaRPr lang="en-US" sz="900" dirty="0"/>
          </a:p>
        </p:txBody>
      </p:sp>
      <p:pic>
        <p:nvPicPr>
          <p:cNvPr id="16" name="Image 3" descr="preencoded.png">    </p:cNvPr>
          <p:cNvPicPr>
            <a:picLocks noChangeAspect="1"/>
          </p:cNvPicPr>
          <p:nvPr/>
        </p:nvPicPr>
        <p:blipFill>
          <a:blip r:embed="rId4"/>
          <a:stretch>
            <a:fillRect/>
          </a:stretch>
        </p:blipFill>
        <p:spPr>
          <a:xfrm>
            <a:off x="4846320" y="2505456"/>
            <a:ext cx="182880" cy="182880"/>
          </a:xfrm>
          <a:prstGeom prst="rect">
            <a:avLst/>
          </a:prstGeom>
        </p:spPr>
      </p:pic>
      <p:sp>
        <p:nvSpPr>
          <p:cNvPr id="17" name="Text 11"/>
          <p:cNvSpPr/>
          <p:nvPr/>
        </p:nvSpPr>
        <p:spPr>
          <a:xfrm>
            <a:off x="5084064" y="2487168"/>
            <a:ext cx="3566160" cy="530352"/>
          </a:xfrm>
          <a:prstGeom prst="rect">
            <a:avLst/>
          </a:prstGeom>
          <a:noFill/>
          <a:ln/>
        </p:spPr>
        <p:txBody>
          <a:bodyPr wrap="square" rtlCol="0" anchor="ctr"/>
          <a:lstStyle/>
          <a:p>
            <a:pPr indent="0" marL="0">
              <a:buNone/>
            </a:pPr>
            <a:r>
              <a:rPr lang="en-US" sz="850" dirty="0">
                <a:solidFill>
                  <a:srgbClr val="22C55E"/>
                </a:solidFill>
              </a:rPr>
              <a:t>&lt;label&gt;Name &lt;abbr title="required" aria-label="required"&gt;*&lt;/abbr&gt;&lt;/label&gt;</a:t>
            </a:r>
            <a:endParaRPr lang="en-US" sz="850" dirty="0"/>
          </a:p>
        </p:txBody>
      </p:sp>
      <p:sp>
        <p:nvSpPr>
          <p:cNvPr id="18" name="Shape 12"/>
          <p:cNvSpPr/>
          <p:nvPr/>
        </p:nvSpPr>
        <p:spPr>
          <a:xfrm>
            <a:off x="365760" y="3273552"/>
            <a:ext cx="4114800" cy="1335024"/>
          </a:xfrm>
          <a:prstGeom prst="roundRect">
            <a:avLst>
              <a:gd name="adj" fmla="val 5479"/>
            </a:avLst>
          </a:prstGeom>
          <a:solidFill>
            <a:srgbClr val="1A2D3F"/>
          </a:solidFill>
          <a:ln w="12700">
            <a:solidFill>
              <a:srgbClr val="0EA5A0"/>
            </a:solidFill>
            <a:prstDash val="solid"/>
          </a:ln>
        </p:spPr>
      </p:sp>
      <p:sp>
        <p:nvSpPr>
          <p:cNvPr id="19" name="Text 13"/>
          <p:cNvSpPr/>
          <p:nvPr/>
        </p:nvSpPr>
        <p:spPr>
          <a:xfrm>
            <a:off x="475488" y="3328416"/>
            <a:ext cx="3840480" cy="256032"/>
          </a:xfrm>
          <a:prstGeom prst="rect">
            <a:avLst/>
          </a:prstGeom>
          <a:noFill/>
          <a:ln/>
        </p:spPr>
        <p:txBody>
          <a:bodyPr wrap="square" rtlCol="0" anchor="ctr"/>
          <a:lstStyle/>
          <a:p>
            <a:pPr indent="0" marL="0">
              <a:buNone/>
            </a:pPr>
            <a:r>
              <a:rPr lang="en-US" sz="1100" b="1" dirty="0">
                <a:solidFill>
                  <a:srgbClr val="0EA5A0"/>
                </a:solidFill>
              </a:rPr>
              <a:t>Error state</a:t>
            </a:r>
            <a:endParaRPr lang="en-US" sz="1100" dirty="0"/>
          </a:p>
        </p:txBody>
      </p:sp>
      <p:pic>
        <p:nvPicPr>
          <p:cNvPr id="20" name="Image 4" descr="preencoded.png">    </p:cNvPr>
          <p:cNvPicPr>
            <a:picLocks noChangeAspect="1"/>
          </p:cNvPicPr>
          <p:nvPr/>
        </p:nvPicPr>
        <p:blipFill>
          <a:blip r:embed="rId5"/>
          <a:stretch>
            <a:fillRect/>
          </a:stretch>
        </p:blipFill>
        <p:spPr>
          <a:xfrm>
            <a:off x="475488" y="3639312"/>
            <a:ext cx="182880" cy="182880"/>
          </a:xfrm>
          <a:prstGeom prst="rect">
            <a:avLst/>
          </a:prstGeom>
        </p:spPr>
      </p:pic>
      <p:sp>
        <p:nvSpPr>
          <p:cNvPr id="21" name="Text 14"/>
          <p:cNvSpPr/>
          <p:nvPr/>
        </p:nvSpPr>
        <p:spPr>
          <a:xfrm>
            <a:off x="713232" y="3621024"/>
            <a:ext cx="3566160" cy="274320"/>
          </a:xfrm>
          <a:prstGeom prst="rect">
            <a:avLst/>
          </a:prstGeom>
          <a:noFill/>
          <a:ln/>
        </p:spPr>
        <p:txBody>
          <a:bodyPr wrap="square" rtlCol="0" anchor="ctr"/>
          <a:lstStyle/>
          <a:p>
            <a:pPr indent="0" marL="0">
              <a:buNone/>
            </a:pPr>
            <a:r>
              <a:rPr lang="en-US" sz="900" dirty="0">
                <a:solidFill>
                  <a:srgbClr val="E87A7A"/>
                </a:solidFill>
              </a:rPr>
              <a:t>Red border alone on input</a:t>
            </a:r>
            <a:endParaRPr lang="en-US" sz="900" dirty="0"/>
          </a:p>
        </p:txBody>
      </p:sp>
      <p:pic>
        <p:nvPicPr>
          <p:cNvPr id="22" name="Image 5" descr="preencoded.png">    </p:cNvPr>
          <p:cNvPicPr>
            <a:picLocks noChangeAspect="1"/>
          </p:cNvPicPr>
          <p:nvPr/>
        </p:nvPicPr>
        <p:blipFill>
          <a:blip r:embed="rId6"/>
          <a:stretch>
            <a:fillRect/>
          </a:stretch>
        </p:blipFill>
        <p:spPr>
          <a:xfrm>
            <a:off x="475488" y="3968496"/>
            <a:ext cx="182880" cy="182880"/>
          </a:xfrm>
          <a:prstGeom prst="rect">
            <a:avLst/>
          </a:prstGeom>
        </p:spPr>
      </p:pic>
      <p:sp>
        <p:nvSpPr>
          <p:cNvPr id="23" name="Text 15"/>
          <p:cNvSpPr/>
          <p:nvPr/>
        </p:nvSpPr>
        <p:spPr>
          <a:xfrm>
            <a:off x="713232" y="3950208"/>
            <a:ext cx="3566160" cy="530352"/>
          </a:xfrm>
          <a:prstGeom prst="rect">
            <a:avLst/>
          </a:prstGeom>
          <a:noFill/>
          <a:ln/>
        </p:spPr>
        <p:txBody>
          <a:bodyPr wrap="square" rtlCol="0" anchor="ctr"/>
          <a:lstStyle/>
          <a:p>
            <a:pPr indent="0" marL="0">
              <a:buNone/>
            </a:pPr>
            <a:r>
              <a:rPr lang="en-US" sz="850" dirty="0">
                <a:solidFill>
                  <a:srgbClr val="22C55E"/>
                </a:solidFill>
              </a:rPr>
              <a:t>role="alert" + aria-invalid="true"</a:t>
            </a:r>
            <a:endParaRPr lang="en-US" sz="850" dirty="0"/>
          </a:p>
          <a:p>
            <a:pPr indent="0" marL="0">
              <a:buNone/>
            </a:pPr>
            <a:r>
              <a:rPr lang="en-US" sz="850" dirty="0">
                <a:solidFill>
                  <a:srgbClr val="22C55E"/>
                </a:solidFill>
              </a:rPr>
              <a:t>+ descriptive error message text</a:t>
            </a:r>
            <a:endParaRPr lang="en-US" sz="850" dirty="0"/>
          </a:p>
        </p:txBody>
      </p:sp>
      <p:sp>
        <p:nvSpPr>
          <p:cNvPr id="24" name="Shape 16"/>
          <p:cNvSpPr/>
          <p:nvPr/>
        </p:nvSpPr>
        <p:spPr>
          <a:xfrm>
            <a:off x="4736592" y="3273552"/>
            <a:ext cx="4114800" cy="1335024"/>
          </a:xfrm>
          <a:prstGeom prst="roundRect">
            <a:avLst>
              <a:gd name="adj" fmla="val 5479"/>
            </a:avLst>
          </a:prstGeom>
          <a:solidFill>
            <a:srgbClr val="1A2D3F"/>
          </a:solidFill>
          <a:ln w="12700">
            <a:solidFill>
              <a:srgbClr val="0EA5A0"/>
            </a:solidFill>
            <a:prstDash val="solid"/>
          </a:ln>
        </p:spPr>
      </p:sp>
      <p:sp>
        <p:nvSpPr>
          <p:cNvPr id="25" name="Text 17"/>
          <p:cNvSpPr/>
          <p:nvPr/>
        </p:nvSpPr>
        <p:spPr>
          <a:xfrm>
            <a:off x="4846320" y="3328416"/>
            <a:ext cx="3840480" cy="256032"/>
          </a:xfrm>
          <a:prstGeom prst="rect">
            <a:avLst/>
          </a:prstGeom>
          <a:noFill/>
          <a:ln/>
        </p:spPr>
        <p:txBody>
          <a:bodyPr wrap="square" rtlCol="0" anchor="ctr"/>
          <a:lstStyle/>
          <a:p>
            <a:pPr indent="0" marL="0">
              <a:buNone/>
            </a:pPr>
            <a:r>
              <a:rPr lang="en-US" sz="1100" b="1" dirty="0">
                <a:solidFill>
                  <a:srgbClr val="0EA5A0"/>
                </a:solidFill>
              </a:rPr>
              <a:t>Focus indicator</a:t>
            </a:r>
            <a:endParaRPr lang="en-US" sz="1100" dirty="0"/>
          </a:p>
        </p:txBody>
      </p:sp>
      <p:pic>
        <p:nvPicPr>
          <p:cNvPr id="26" name="Image 6" descr="preencoded.png">    </p:cNvPr>
          <p:cNvPicPr>
            <a:picLocks noChangeAspect="1"/>
          </p:cNvPicPr>
          <p:nvPr/>
        </p:nvPicPr>
        <p:blipFill>
          <a:blip r:embed="rId7"/>
          <a:stretch>
            <a:fillRect/>
          </a:stretch>
        </p:blipFill>
        <p:spPr>
          <a:xfrm>
            <a:off x="4846320" y="3639312"/>
            <a:ext cx="182880" cy="182880"/>
          </a:xfrm>
          <a:prstGeom prst="rect">
            <a:avLst/>
          </a:prstGeom>
        </p:spPr>
      </p:pic>
      <p:sp>
        <p:nvSpPr>
          <p:cNvPr id="27" name="Text 18"/>
          <p:cNvSpPr/>
          <p:nvPr/>
        </p:nvSpPr>
        <p:spPr>
          <a:xfrm>
            <a:off x="5084064" y="3621024"/>
            <a:ext cx="3566160" cy="274320"/>
          </a:xfrm>
          <a:prstGeom prst="rect">
            <a:avLst/>
          </a:prstGeom>
          <a:noFill/>
          <a:ln/>
        </p:spPr>
        <p:txBody>
          <a:bodyPr wrap="square" rtlCol="0" anchor="ctr"/>
          <a:lstStyle/>
          <a:p>
            <a:pPr indent="0" marL="0">
              <a:buNone/>
            </a:pPr>
            <a:r>
              <a:rPr lang="en-US" sz="900" dirty="0">
                <a:solidFill>
                  <a:srgbClr val="E87A7A"/>
                </a:solidFill>
              </a:rPr>
              <a:t>Colour-change only for focus</a:t>
            </a:r>
            <a:endParaRPr lang="en-US" sz="900" dirty="0"/>
          </a:p>
        </p:txBody>
      </p:sp>
      <p:pic>
        <p:nvPicPr>
          <p:cNvPr id="28" name="Image 7" descr="preencoded.png">    </p:cNvPr>
          <p:cNvPicPr>
            <a:picLocks noChangeAspect="1"/>
          </p:cNvPicPr>
          <p:nvPr/>
        </p:nvPicPr>
        <p:blipFill>
          <a:blip r:embed="rId8"/>
          <a:stretch>
            <a:fillRect/>
          </a:stretch>
        </p:blipFill>
        <p:spPr>
          <a:xfrm>
            <a:off x="4846320" y="3968496"/>
            <a:ext cx="182880" cy="182880"/>
          </a:xfrm>
          <a:prstGeom prst="rect">
            <a:avLst/>
          </a:prstGeom>
        </p:spPr>
      </p:pic>
      <p:sp>
        <p:nvSpPr>
          <p:cNvPr id="29" name="Text 19"/>
          <p:cNvSpPr/>
          <p:nvPr/>
        </p:nvSpPr>
        <p:spPr>
          <a:xfrm>
            <a:off x="5084064" y="3950208"/>
            <a:ext cx="3566160" cy="530352"/>
          </a:xfrm>
          <a:prstGeom prst="rect">
            <a:avLst/>
          </a:prstGeom>
          <a:noFill/>
          <a:ln/>
        </p:spPr>
        <p:txBody>
          <a:bodyPr wrap="square" rtlCol="0" anchor="ctr"/>
          <a:lstStyle/>
          <a:p>
            <a:pPr indent="0" marL="0">
              <a:buNone/>
            </a:pPr>
            <a:r>
              <a:rPr lang="en-US" sz="850" dirty="0">
                <a:solidFill>
                  <a:srgbClr val="22C55E"/>
                </a:solidFill>
              </a:rPr>
              <a:t>Outline + colour change</a:t>
            </a:r>
            <a:endParaRPr lang="en-US" sz="850" dirty="0"/>
          </a:p>
          <a:p>
            <a:pPr indent="0" marL="0">
              <a:buNone/>
            </a:pPr>
            <a:r>
              <a:rPr lang="en-US" sz="850" dirty="0">
                <a:solidFill>
                  <a:srgbClr val="22C55E"/>
                </a:solidFill>
              </a:rPr>
              <a:t>3:1 contrast ratio minimum (2.4.11)</a:t>
            </a:r>
            <a:endParaRPr lang="en-US" sz="850" dirty="0"/>
          </a:p>
        </p:txBody>
      </p:sp>
      <p:sp>
        <p:nvSpPr>
          <p:cNvPr id="31" name="Text 20"/>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8 — TEXT ALTERNATIVES (WCAG 1.1.1)</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Every non-text element needs a text alternative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2743200"/>
        </p:xfrm>
        <a:graphic>
          <a:graphicData uri="http://schemas.openxmlformats.org/drawingml/2006/table">
            <a:tbl>
              <a:tblPr/>
              <a:tblGrid>
                <a:gridCol w="2804160"/>
                <a:gridCol w="2804160"/>
                <a:gridCol w="2804160"/>
              </a:tblGrid>
              <a:tr h="457200">
                <a:tc>
                  <a:txBody>
                    <a:bodyPr/>
                    <a:lstStyle/>
                    <a:p>
                      <a:pPr indent="0" marL="0">
                        <a:buNone/>
                      </a:pPr>
                      <a:r>
                        <a:rPr lang="en-US" sz="900" dirty="0">
                          <a:solidFill>
                            <a:srgbClr val="FFFFFF"/>
                          </a:solidFill>
                          <a:latin typeface="Arial" pitchFamily="34" charset="0"/>
                          <a:ea typeface="Arial" pitchFamily="34" charset="-122"/>
                          <a:cs typeface="Arial" pitchFamily="34" charset="-120"/>
                        </a:rPr>
                        <a:t>Image type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Alt rule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Notes</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457200">
                <a:tc>
                  <a:txBody>
                    <a:bodyPr/>
                    <a:lstStyle/>
                    <a:p>
                      <a:pPr indent="0" marL="0">
                        <a:buNone/>
                      </a:pPr>
                      <a:r>
                        <a:rPr lang="en-US" sz="900" dirty="0">
                          <a:solidFill>
                            <a:srgbClr val="FFFFFF"/>
                          </a:solidFill>
                          <a:latin typeface="Arial" pitchFamily="34" charset="0"/>
                          <a:ea typeface="Arial" pitchFamily="34" charset="-122"/>
                          <a:cs typeface="Arial" pitchFamily="34" charset="-120"/>
                        </a:rPr>
                        <a:t>Informative image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alt="Descriptive text"</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Describes what the image conveys, not what it looks like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457200">
                <a:tc>
                  <a:txBody>
                    <a:bodyPr/>
                    <a:lstStyle/>
                    <a:p>
                      <a:pPr indent="0" marL="0">
                        <a:buNone/>
                      </a:pPr>
                      <a:r>
                        <a:rPr lang="en-US" sz="900" dirty="0">
                          <a:solidFill>
                            <a:srgbClr val="FFFFFF"/>
                          </a:solidFill>
                          <a:latin typeface="Arial" pitchFamily="34" charset="0"/>
                          <a:ea typeface="Arial" pitchFamily="34" charset="-122"/>
                          <a:cs typeface="Arial" pitchFamily="34" charset="-120"/>
                        </a:rPr>
                        <a:t>Decorative image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alt="" (empty string)</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DO NOT omit alt entirely — that exposes the file path to screen readers</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457200">
                <a:tc>
                  <a:txBody>
                    <a:bodyPr/>
                    <a:lstStyle/>
                    <a:p>
                      <a:pPr indent="0" marL="0">
                        <a:buNone/>
                      </a:pPr>
                      <a:r>
                        <a:rPr lang="en-US" sz="900" dirty="0">
                          <a:solidFill>
                            <a:srgbClr val="FFFFFF"/>
                          </a:solidFill>
                          <a:latin typeface="Arial" pitchFamily="34" charset="0"/>
                          <a:ea typeface="Arial" pitchFamily="34" charset="-122"/>
                          <a:cs typeface="Arial" pitchFamily="34" charset="-120"/>
                        </a:rPr>
                        <a:t>Functional image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alt="Action the image performs"</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 button with only an image: alt describes the button purpose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457200">
                <a:tc>
                  <a:txBody>
                    <a:bodyPr/>
                    <a:lstStyle/>
                    <a:p>
                      <a:pPr indent="0" marL="0">
                        <a:buNone/>
                      </a:pPr>
                      <a:r>
                        <a:rPr lang="en-US" sz="900" dirty="0">
                          <a:solidFill>
                            <a:srgbClr val="FFFFFF"/>
                          </a:solidFill>
                          <a:latin typeface="Arial" pitchFamily="34" charset="0"/>
                          <a:ea typeface="Arial" pitchFamily="34" charset="-122"/>
                          <a:cs typeface="Arial" pitchFamily="34" charset="-120"/>
                        </a:rPr>
                        <a:t>Complex image/chart</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alt="" + aria-describedby="id"</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Short alt + longer description nearby in the DOM</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r h="457200">
                <a:tc>
                  <a:txBody>
                    <a:bodyPr/>
                    <a:lstStyle/>
                    <a:p>
                      <a:pPr indent="0" marL="0">
                        <a:buNone/>
                      </a:pPr>
                      <a:r>
                        <a:rPr lang="en-US" sz="900" dirty="0">
                          <a:solidFill>
                            <a:srgbClr val="FFFFFF"/>
                          </a:solidFill>
                          <a:latin typeface="Arial" pitchFamily="34" charset="0"/>
                          <a:ea typeface="Arial" pitchFamily="34" charset="-122"/>
                          <a:cs typeface="Arial" pitchFamily="34" charset="-120"/>
                        </a:rPr>
                        <a:t>SVG icon (inline)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aria-hidden="true" on decorative</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c>
                  <a:txBody>
                    <a:bodyPr/>
                    <a:lstStyle/>
                    <a:p>
                      <a:pPr indent="0" marL="0">
                        <a:buNone/>
                      </a:pPr>
                      <a:r>
                        <a:rPr lang="en-US" sz="900" dirty="0">
                          <a:solidFill>
                            <a:srgbClr val="FFFFFF"/>
                          </a:solidFill>
                          <a:latin typeface="Arial" pitchFamily="34" charset="0"/>
                          <a:ea typeface="Arial" pitchFamily="34" charset="-122"/>
                          <a:cs typeface="Arial" pitchFamily="34" charset="-120"/>
                        </a:rPr>
                        <a:t>If meaningful: &lt;title&gt; inside SVG + role="img" aria-labelledby</a:t>
                      </a:r>
                      <a:endParaRPr lang="en-US" sz="900" dirty="0">
                        <a:latin typeface="Arial" charset="0"/>
                        <a:ea typeface="Arial" charset="0"/>
                        <a:cs typeface="Arial" charset="0"/>
                      </a:endParaRPr>
                    </a:p>
                  </a:txBody>
                  <a:tcPr marL="91440" marR="91440" marT="45720" marB="45720">
                    <a:lnL w="6350" cap="flat" cmpd="sng" algn="ctr">
                      <a:solidFill>
                        <a:srgbClr val="2A3F52"/>
                      </a:solidFill>
                      <a:prstDash val="solid"/>
                      <a:round/>
                      <a:headEnd type="none" w="med" len="med"/>
                      <a:tailEnd type="none" w="med" len="med"/>
                    </a:lnL>
                    <a:lnR w="6350" cap="flat" cmpd="sng" algn="ctr">
                      <a:solidFill>
                        <a:srgbClr val="2A3F52"/>
                      </a:solidFill>
                      <a:prstDash val="solid"/>
                      <a:round/>
                      <a:headEnd type="none" w="med" len="med"/>
                      <a:tailEnd type="none" w="med" len="med"/>
                    </a:lnR>
                    <a:lnT w="6350" cap="flat" cmpd="sng" algn="ctr">
                      <a:solidFill>
                        <a:srgbClr val="2A3F52"/>
                      </a:solidFill>
                      <a:prstDash val="solid"/>
                      <a:round/>
                      <a:headEnd type="none" w="med" len="med"/>
                      <a:tailEnd type="none" w="med" len="med"/>
                    </a:lnT>
                    <a:lnB w="6350" cap="flat" cmpd="sng" algn="ctr">
                      <a:solidFill>
                        <a:srgbClr val="2A3F52"/>
                      </a:solidFill>
                      <a:prstDash val="solid"/>
                      <a:round/>
                      <a:headEnd type="none" w="med" len="med"/>
                      <a:tailEnd type="none" w="med" len="med"/>
                    </a:lnB>
                    <a:solidFill>
                      <a:srgbClr val="1A2D3F"/>
                    </a:solidFill>
                  </a:tcPr>
                </a:tc>
              </a:tr>
            </a:tbl>
          </a:graphicData>
        </a:graphic>
      </p:graphicFrame>
      <p:sp>
        <p:nvSpPr>
          <p:cNvPr id="5" name="Shape 2"/>
          <p:cNvSpPr/>
          <p:nvPr/>
        </p:nvSpPr>
        <p:spPr>
          <a:xfrm>
            <a:off x="365760" y="4069080"/>
            <a:ext cx="8412480" cy="658368"/>
          </a:xfrm>
          <a:prstGeom prst="roundRect">
            <a:avLst>
              <a:gd name="adj" fmla="val 9722"/>
            </a:avLst>
          </a:prstGeom>
          <a:solidFill>
            <a:srgbClr val="0A0F16"/>
          </a:solidFill>
          <a:ln w="12700">
            <a:solidFill>
              <a:srgbClr val="0EA5A0"/>
            </a:solidFill>
            <a:prstDash val="solid"/>
          </a:ln>
        </p:spPr>
      </p:sp>
      <p:sp>
        <p:nvSpPr>
          <p:cNvPr id="6" name="Text 3"/>
          <p:cNvSpPr/>
          <p:nvPr/>
        </p:nvSpPr>
        <p:spPr>
          <a:xfrm>
            <a:off x="502920" y="4114800"/>
            <a:ext cx="8229600" cy="548640"/>
          </a:xfrm>
          <a:prstGeom prst="rect">
            <a:avLst/>
          </a:prstGeom>
          <a:noFill/>
          <a:ln/>
        </p:spPr>
        <p:txBody>
          <a:bodyPr wrap="square" rtlCol="0" anchor="ctr"/>
          <a:lstStyle/>
          <a:p>
            <a:pPr indent="0" marL="0">
              <a:buNone/>
            </a:pPr>
            <a:r>
              <a:rPr lang="en-US" sz="950" dirty="0">
                <a:solidFill>
                  <a:srgbClr val="8DA6B8"/>
                </a:solidFill>
              </a:rPr>
              <a:t>For block icons in the WordPress block inserter: your block's 'icon' property in block.json supports a Dashicon slug or an SVG. If SVG, ensure it includes a &lt;title&gt; element. Block icons are purely decorative in the editor toolbar, so aria-hidden is appropriate there.</a:t>
            </a:r>
            <a:endParaRPr lang="en-US" sz="950" dirty="0"/>
          </a:p>
        </p:txBody>
      </p:sp>
      <p:sp>
        <p:nvSpPr>
          <p:cNvPr id="8" name="Text 4"/>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PART 9 — TESTING YOUR BLOCK</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Automated tools find ~30% of issues. Manual testing finds the rest.</a:t>
            </a:r>
            <a:endParaRPr lang="en-US" sz="2200" dirty="0"/>
          </a:p>
        </p:txBody>
      </p:sp>
      <p:sp>
        <p:nvSpPr>
          <p:cNvPr id="4" name="Shape 2"/>
          <p:cNvSpPr/>
          <p:nvPr/>
        </p:nvSpPr>
        <p:spPr>
          <a:xfrm>
            <a:off x="365760" y="1207008"/>
            <a:ext cx="4114800" cy="1078992"/>
          </a:xfrm>
          <a:prstGeom prst="roundRect">
            <a:avLst>
              <a:gd name="adj" fmla="val 6780"/>
            </a:avLst>
          </a:prstGeom>
          <a:solidFill>
            <a:srgbClr val="1A2D3F"/>
          </a:solidFill>
          <a:ln w="15240">
            <a:solidFill>
              <a:srgbClr val="0EA5A0"/>
            </a:solidFill>
            <a:prstDash val="solid"/>
          </a:ln>
          <a:effectLst>
            <a:outerShdw sx="100000" sy="100000" kx="0" ky="0" algn="bl" rotWithShape="0" blurRad="63500" dist="25400" dir="2700000">
              <a:srgbClr val="000000">
                <a:alpha val="14000"/>
              </a:srgbClr>
            </a:outerShdw>
          </a:effectLst>
        </p:spPr>
      </p:sp>
      <p:sp>
        <p:nvSpPr>
          <p:cNvPr id="5" name="Text 3"/>
          <p:cNvSpPr/>
          <p:nvPr/>
        </p:nvSpPr>
        <p:spPr>
          <a:xfrm>
            <a:off x="475488" y="1261872"/>
            <a:ext cx="2743200" cy="292608"/>
          </a:xfrm>
          <a:prstGeom prst="rect">
            <a:avLst/>
          </a:prstGeom>
          <a:noFill/>
          <a:ln/>
        </p:spPr>
        <p:txBody>
          <a:bodyPr wrap="square" rtlCol="0" anchor="ctr"/>
          <a:lstStyle/>
          <a:p>
            <a:pPr indent="0" marL="0">
              <a:buNone/>
            </a:pPr>
            <a:r>
              <a:rPr lang="en-US" sz="1200" b="1" dirty="0">
                <a:solidFill>
                  <a:srgbClr val="0EA5A0"/>
                </a:solidFill>
              </a:rPr>
              <a:t>axe DevTools</a:t>
            </a:r>
            <a:endParaRPr lang="en-US" sz="1200" dirty="0"/>
          </a:p>
        </p:txBody>
      </p:sp>
      <p:sp>
        <p:nvSpPr>
          <p:cNvPr id="6" name="Text 4"/>
          <p:cNvSpPr/>
          <p:nvPr/>
        </p:nvSpPr>
        <p:spPr>
          <a:xfrm>
            <a:off x="475488" y="1554480"/>
            <a:ext cx="3840480" cy="182880"/>
          </a:xfrm>
          <a:prstGeom prst="rect">
            <a:avLst/>
          </a:prstGeom>
          <a:noFill/>
          <a:ln/>
        </p:spPr>
        <p:txBody>
          <a:bodyPr wrap="square" rtlCol="0" anchor="ctr"/>
          <a:lstStyle/>
          <a:p>
            <a:pPr indent="0" marL="0">
              <a:buNone/>
            </a:pPr>
            <a:r>
              <a:rPr lang="en-US" sz="850" i="1" dirty="0">
                <a:solidFill>
                  <a:srgbClr val="8DA6B8"/>
                </a:solidFill>
              </a:rPr>
              <a:t>Browser extension</a:t>
            </a:r>
            <a:endParaRPr lang="en-US" sz="850" dirty="0"/>
          </a:p>
        </p:txBody>
      </p:sp>
      <p:sp>
        <p:nvSpPr>
          <p:cNvPr id="7" name="Text 5"/>
          <p:cNvSpPr/>
          <p:nvPr/>
        </p:nvSpPr>
        <p:spPr>
          <a:xfrm>
            <a:off x="475488" y="1755648"/>
            <a:ext cx="3840480" cy="420624"/>
          </a:xfrm>
          <a:prstGeom prst="rect">
            <a:avLst/>
          </a:prstGeom>
          <a:noFill/>
          <a:ln/>
        </p:spPr>
        <p:txBody>
          <a:bodyPr wrap="square" rtlCol="0" anchor="ctr"/>
          <a:lstStyle/>
          <a:p>
            <a:pPr indent="0" marL="0">
              <a:buNone/>
            </a:pPr>
            <a:r>
              <a:rPr lang="en-US" sz="900" dirty="0">
                <a:solidFill>
                  <a:srgbClr val="FFFFFF"/>
                </a:solidFill>
              </a:rPr>
              <a:t>Automated scan — zero false positives guarantee. Integrates with Chrome/Firefox devtools.</a:t>
            </a:r>
            <a:endParaRPr lang="en-US" sz="900" dirty="0"/>
          </a:p>
        </p:txBody>
      </p:sp>
      <p:sp>
        <p:nvSpPr>
          <p:cNvPr id="8" name="Shape 6"/>
          <p:cNvSpPr/>
          <p:nvPr/>
        </p:nvSpPr>
        <p:spPr>
          <a:xfrm>
            <a:off x="4736592" y="1207008"/>
            <a:ext cx="4114800" cy="1078992"/>
          </a:xfrm>
          <a:prstGeom prst="roundRect">
            <a:avLst>
              <a:gd name="adj" fmla="val 6780"/>
            </a:avLst>
          </a:prstGeom>
          <a:solidFill>
            <a:srgbClr val="1A2D3F"/>
          </a:solidFill>
          <a:ln w="15240">
            <a:solidFill>
              <a:srgbClr val="14C8C2"/>
            </a:solidFill>
            <a:prstDash val="solid"/>
          </a:ln>
          <a:effectLst>
            <a:outerShdw sx="100000" sy="100000" kx="0" ky="0" algn="bl" rotWithShape="0" blurRad="63500" dist="25400" dir="2700000">
              <a:srgbClr val="000000">
                <a:alpha val="14000"/>
              </a:srgbClr>
            </a:outerShdw>
          </a:effectLst>
        </p:spPr>
      </p:sp>
      <p:sp>
        <p:nvSpPr>
          <p:cNvPr id="9" name="Text 7"/>
          <p:cNvSpPr/>
          <p:nvPr/>
        </p:nvSpPr>
        <p:spPr>
          <a:xfrm>
            <a:off x="4846320" y="1261872"/>
            <a:ext cx="2743200" cy="292608"/>
          </a:xfrm>
          <a:prstGeom prst="rect">
            <a:avLst/>
          </a:prstGeom>
          <a:noFill/>
          <a:ln/>
        </p:spPr>
        <p:txBody>
          <a:bodyPr wrap="square" rtlCol="0" anchor="ctr"/>
          <a:lstStyle/>
          <a:p>
            <a:pPr indent="0" marL="0">
              <a:buNone/>
            </a:pPr>
            <a:r>
              <a:rPr lang="en-US" sz="1200" b="1" dirty="0">
                <a:solidFill>
                  <a:srgbClr val="14C8C2"/>
                </a:solidFill>
              </a:rPr>
              <a:t>WAVE</a:t>
            </a:r>
            <a:endParaRPr lang="en-US" sz="1200" dirty="0"/>
          </a:p>
        </p:txBody>
      </p:sp>
      <p:sp>
        <p:nvSpPr>
          <p:cNvPr id="10" name="Text 8"/>
          <p:cNvSpPr/>
          <p:nvPr/>
        </p:nvSpPr>
        <p:spPr>
          <a:xfrm>
            <a:off x="4846320" y="1554480"/>
            <a:ext cx="3840480" cy="182880"/>
          </a:xfrm>
          <a:prstGeom prst="rect">
            <a:avLst/>
          </a:prstGeom>
          <a:noFill/>
          <a:ln/>
        </p:spPr>
        <p:txBody>
          <a:bodyPr wrap="square" rtlCol="0" anchor="ctr"/>
          <a:lstStyle/>
          <a:p>
            <a:pPr indent="0" marL="0">
              <a:buNone/>
            </a:pPr>
            <a:r>
              <a:rPr lang="en-US" sz="850" i="1" dirty="0">
                <a:solidFill>
                  <a:srgbClr val="8DA6B8"/>
                </a:solidFill>
              </a:rPr>
              <a:t>Browser extension</a:t>
            </a:r>
            <a:endParaRPr lang="en-US" sz="850" dirty="0"/>
          </a:p>
        </p:txBody>
      </p:sp>
      <p:sp>
        <p:nvSpPr>
          <p:cNvPr id="11" name="Text 9"/>
          <p:cNvSpPr/>
          <p:nvPr/>
        </p:nvSpPr>
        <p:spPr>
          <a:xfrm>
            <a:off x="4846320" y="1755648"/>
            <a:ext cx="3840480" cy="420624"/>
          </a:xfrm>
          <a:prstGeom prst="rect">
            <a:avLst/>
          </a:prstGeom>
          <a:noFill/>
          <a:ln/>
        </p:spPr>
        <p:txBody>
          <a:bodyPr wrap="square" rtlCol="0" anchor="ctr"/>
          <a:lstStyle/>
          <a:p>
            <a:pPr indent="0" marL="0">
              <a:buNone/>
            </a:pPr>
            <a:r>
              <a:rPr lang="en-US" sz="900" dirty="0">
                <a:solidFill>
                  <a:srgbClr val="FFFFFF"/>
                </a:solidFill>
              </a:rPr>
              <a:t>Visual overlay showing errors, alerts, structural elements. Great for quick visual audit.</a:t>
            </a:r>
            <a:endParaRPr lang="en-US" sz="900" dirty="0"/>
          </a:p>
        </p:txBody>
      </p:sp>
      <p:sp>
        <p:nvSpPr>
          <p:cNvPr id="12" name="Shape 10"/>
          <p:cNvSpPr/>
          <p:nvPr/>
        </p:nvSpPr>
        <p:spPr>
          <a:xfrm>
            <a:off x="365760" y="2414016"/>
            <a:ext cx="4114800" cy="1078992"/>
          </a:xfrm>
          <a:prstGeom prst="roundRect">
            <a:avLst>
              <a:gd name="adj" fmla="val 6780"/>
            </a:avLst>
          </a:prstGeom>
          <a:solidFill>
            <a:srgbClr val="1A2D3F"/>
          </a:solidFill>
          <a:ln w="15240">
            <a:solidFill>
              <a:srgbClr val="F0A500"/>
            </a:solidFill>
            <a:prstDash val="solid"/>
          </a:ln>
          <a:effectLst>
            <a:outerShdw sx="100000" sy="100000" kx="0" ky="0" algn="bl" rotWithShape="0" blurRad="63500" dist="25400" dir="2700000">
              <a:srgbClr val="000000">
                <a:alpha val="14000"/>
              </a:srgbClr>
            </a:outerShdw>
          </a:effectLst>
        </p:spPr>
      </p:sp>
      <p:sp>
        <p:nvSpPr>
          <p:cNvPr id="13" name="Text 11"/>
          <p:cNvSpPr/>
          <p:nvPr/>
        </p:nvSpPr>
        <p:spPr>
          <a:xfrm>
            <a:off x="475488" y="2468880"/>
            <a:ext cx="2743200" cy="292608"/>
          </a:xfrm>
          <a:prstGeom prst="rect">
            <a:avLst/>
          </a:prstGeom>
          <a:noFill/>
          <a:ln/>
        </p:spPr>
        <p:txBody>
          <a:bodyPr wrap="square" rtlCol="0" anchor="ctr"/>
          <a:lstStyle/>
          <a:p>
            <a:pPr indent="0" marL="0">
              <a:buNone/>
            </a:pPr>
            <a:r>
              <a:rPr lang="en-US" sz="1200" b="1" dirty="0">
                <a:solidFill>
                  <a:srgbClr val="F0A500"/>
                </a:solidFill>
              </a:rPr>
              <a:t>Lighthouse</a:t>
            </a:r>
            <a:endParaRPr lang="en-US" sz="1200" dirty="0"/>
          </a:p>
        </p:txBody>
      </p:sp>
      <p:sp>
        <p:nvSpPr>
          <p:cNvPr id="14" name="Text 12"/>
          <p:cNvSpPr/>
          <p:nvPr/>
        </p:nvSpPr>
        <p:spPr>
          <a:xfrm>
            <a:off x="475488" y="2761488"/>
            <a:ext cx="3840480" cy="182880"/>
          </a:xfrm>
          <a:prstGeom prst="rect">
            <a:avLst/>
          </a:prstGeom>
          <a:noFill/>
          <a:ln/>
        </p:spPr>
        <p:txBody>
          <a:bodyPr wrap="square" rtlCol="0" anchor="ctr"/>
          <a:lstStyle/>
          <a:p>
            <a:pPr indent="0" marL="0">
              <a:buNone/>
            </a:pPr>
            <a:r>
              <a:rPr lang="en-US" sz="850" i="1" dirty="0">
                <a:solidFill>
                  <a:srgbClr val="8DA6B8"/>
                </a:solidFill>
              </a:rPr>
              <a:t>Built into Chrome</a:t>
            </a:r>
            <a:endParaRPr lang="en-US" sz="850" dirty="0"/>
          </a:p>
        </p:txBody>
      </p:sp>
      <p:sp>
        <p:nvSpPr>
          <p:cNvPr id="15" name="Text 13"/>
          <p:cNvSpPr/>
          <p:nvPr/>
        </p:nvSpPr>
        <p:spPr>
          <a:xfrm>
            <a:off x="475488" y="2962656"/>
            <a:ext cx="3840480" cy="420624"/>
          </a:xfrm>
          <a:prstGeom prst="rect">
            <a:avLst/>
          </a:prstGeom>
          <a:noFill/>
          <a:ln/>
        </p:spPr>
        <p:txBody>
          <a:bodyPr wrap="square" rtlCol="0" anchor="ctr"/>
          <a:lstStyle/>
          <a:p>
            <a:pPr indent="0" marL="0">
              <a:buNone/>
            </a:pPr>
            <a:r>
              <a:rPr lang="en-US" sz="900" dirty="0">
                <a:solidFill>
                  <a:srgbClr val="FFFFFF"/>
                </a:solidFill>
              </a:rPr>
              <a:t>Run in DevTools → Accessibility. Scores 0–100. Part of CI/CD pipelines.</a:t>
            </a:r>
            <a:endParaRPr lang="en-US" sz="900" dirty="0"/>
          </a:p>
        </p:txBody>
      </p:sp>
      <p:sp>
        <p:nvSpPr>
          <p:cNvPr id="16" name="Shape 14"/>
          <p:cNvSpPr/>
          <p:nvPr/>
        </p:nvSpPr>
        <p:spPr>
          <a:xfrm>
            <a:off x="4736592" y="2414016"/>
            <a:ext cx="4114800" cy="1078992"/>
          </a:xfrm>
          <a:prstGeom prst="roundRect">
            <a:avLst>
              <a:gd name="adj" fmla="val 6780"/>
            </a:avLst>
          </a:prstGeom>
          <a:solidFill>
            <a:srgbClr val="1A2D3F"/>
          </a:solidFill>
          <a:ln w="15240">
            <a:solidFill>
              <a:srgbClr val="A78BFA"/>
            </a:solidFill>
            <a:prstDash val="solid"/>
          </a:ln>
          <a:effectLst>
            <a:outerShdw sx="100000" sy="100000" kx="0" ky="0" algn="bl" rotWithShape="0" blurRad="63500" dist="25400" dir="2700000">
              <a:srgbClr val="000000">
                <a:alpha val="14000"/>
              </a:srgbClr>
            </a:outerShdw>
          </a:effectLst>
        </p:spPr>
      </p:sp>
      <p:sp>
        <p:nvSpPr>
          <p:cNvPr id="17" name="Text 15"/>
          <p:cNvSpPr/>
          <p:nvPr/>
        </p:nvSpPr>
        <p:spPr>
          <a:xfrm>
            <a:off x="4846320" y="2468880"/>
            <a:ext cx="2743200" cy="292608"/>
          </a:xfrm>
          <a:prstGeom prst="rect">
            <a:avLst/>
          </a:prstGeom>
          <a:noFill/>
          <a:ln/>
        </p:spPr>
        <p:txBody>
          <a:bodyPr wrap="square" rtlCol="0" anchor="ctr"/>
          <a:lstStyle/>
          <a:p>
            <a:pPr indent="0" marL="0">
              <a:buNone/>
            </a:pPr>
            <a:r>
              <a:rPr lang="en-US" sz="1200" b="1" dirty="0">
                <a:solidFill>
                  <a:srgbClr val="A78BFA"/>
                </a:solidFill>
              </a:rPr>
              <a:t>NVDA + Firefox</a:t>
            </a:r>
            <a:endParaRPr lang="en-US" sz="1200" dirty="0"/>
          </a:p>
        </p:txBody>
      </p:sp>
      <p:sp>
        <p:nvSpPr>
          <p:cNvPr id="18" name="Text 16"/>
          <p:cNvSpPr/>
          <p:nvPr/>
        </p:nvSpPr>
        <p:spPr>
          <a:xfrm>
            <a:off x="4846320" y="2761488"/>
            <a:ext cx="3840480" cy="182880"/>
          </a:xfrm>
          <a:prstGeom prst="rect">
            <a:avLst/>
          </a:prstGeom>
          <a:noFill/>
          <a:ln/>
        </p:spPr>
        <p:txBody>
          <a:bodyPr wrap="square" rtlCol="0" anchor="ctr"/>
          <a:lstStyle/>
          <a:p>
            <a:pPr indent="0" marL="0">
              <a:buNone/>
            </a:pPr>
            <a:r>
              <a:rPr lang="en-US" sz="850" i="1" dirty="0">
                <a:solidFill>
                  <a:srgbClr val="8DA6B8"/>
                </a:solidFill>
              </a:rPr>
              <a:t>Screen reader (free)</a:t>
            </a:r>
            <a:endParaRPr lang="en-US" sz="850" dirty="0"/>
          </a:p>
        </p:txBody>
      </p:sp>
      <p:sp>
        <p:nvSpPr>
          <p:cNvPr id="19" name="Text 17"/>
          <p:cNvSpPr/>
          <p:nvPr/>
        </p:nvSpPr>
        <p:spPr>
          <a:xfrm>
            <a:off x="4846320" y="2962656"/>
            <a:ext cx="3840480" cy="420624"/>
          </a:xfrm>
          <a:prstGeom prst="rect">
            <a:avLst/>
          </a:prstGeom>
          <a:noFill/>
          <a:ln/>
        </p:spPr>
        <p:txBody>
          <a:bodyPr wrap="square" rtlCol="0" anchor="ctr"/>
          <a:lstStyle/>
          <a:p>
            <a:pPr indent="0" marL="0">
              <a:buNone/>
            </a:pPr>
            <a:r>
              <a:rPr lang="en-US" sz="900" dirty="0">
                <a:solidFill>
                  <a:srgbClr val="FFFFFF"/>
                </a:solidFill>
              </a:rPr>
              <a:t>Most representative Windows screen reader test. Download from nvaccess.org.</a:t>
            </a:r>
            <a:endParaRPr lang="en-US" sz="900" dirty="0"/>
          </a:p>
        </p:txBody>
      </p:sp>
      <p:sp>
        <p:nvSpPr>
          <p:cNvPr id="20" name="Shape 18"/>
          <p:cNvSpPr/>
          <p:nvPr/>
        </p:nvSpPr>
        <p:spPr>
          <a:xfrm>
            <a:off x="365760" y="3621024"/>
            <a:ext cx="4114800" cy="1078992"/>
          </a:xfrm>
          <a:prstGeom prst="roundRect">
            <a:avLst>
              <a:gd name="adj" fmla="val 6780"/>
            </a:avLst>
          </a:prstGeom>
          <a:solidFill>
            <a:srgbClr val="1A2D3F"/>
          </a:solidFill>
          <a:ln w="15240">
            <a:solidFill>
              <a:srgbClr val="22C55E"/>
            </a:solidFill>
            <a:prstDash val="solid"/>
          </a:ln>
          <a:effectLst>
            <a:outerShdw sx="100000" sy="100000" kx="0" ky="0" algn="bl" rotWithShape="0" blurRad="63500" dist="25400" dir="2700000">
              <a:srgbClr val="000000">
                <a:alpha val="14000"/>
              </a:srgbClr>
            </a:outerShdw>
          </a:effectLst>
        </p:spPr>
      </p:sp>
      <p:sp>
        <p:nvSpPr>
          <p:cNvPr id="21" name="Text 19"/>
          <p:cNvSpPr/>
          <p:nvPr/>
        </p:nvSpPr>
        <p:spPr>
          <a:xfrm>
            <a:off x="475488" y="3675888"/>
            <a:ext cx="2743200" cy="292608"/>
          </a:xfrm>
          <a:prstGeom prst="rect">
            <a:avLst/>
          </a:prstGeom>
          <a:noFill/>
          <a:ln/>
        </p:spPr>
        <p:txBody>
          <a:bodyPr wrap="square" rtlCol="0" anchor="ctr"/>
          <a:lstStyle/>
          <a:p>
            <a:pPr indent="0" marL="0">
              <a:buNone/>
            </a:pPr>
            <a:r>
              <a:rPr lang="en-US" sz="1200" b="1" dirty="0">
                <a:solidFill>
                  <a:srgbClr val="22C55E"/>
                </a:solidFill>
              </a:rPr>
              <a:t>VoiceOver</a:t>
            </a:r>
            <a:endParaRPr lang="en-US" sz="1200" dirty="0"/>
          </a:p>
        </p:txBody>
      </p:sp>
      <p:sp>
        <p:nvSpPr>
          <p:cNvPr id="22" name="Text 20"/>
          <p:cNvSpPr/>
          <p:nvPr/>
        </p:nvSpPr>
        <p:spPr>
          <a:xfrm>
            <a:off x="475488" y="3968496"/>
            <a:ext cx="3840480" cy="182880"/>
          </a:xfrm>
          <a:prstGeom prst="rect">
            <a:avLst/>
          </a:prstGeom>
          <a:noFill/>
          <a:ln/>
        </p:spPr>
        <p:txBody>
          <a:bodyPr wrap="square" rtlCol="0" anchor="ctr"/>
          <a:lstStyle/>
          <a:p>
            <a:pPr indent="0" marL="0">
              <a:buNone/>
            </a:pPr>
            <a:r>
              <a:rPr lang="en-US" sz="850" i="1" dirty="0">
                <a:solidFill>
                  <a:srgbClr val="8DA6B8"/>
                </a:solidFill>
              </a:rPr>
              <a:t>Built into macOS/iOS</a:t>
            </a:r>
            <a:endParaRPr lang="en-US" sz="850" dirty="0"/>
          </a:p>
        </p:txBody>
      </p:sp>
      <p:sp>
        <p:nvSpPr>
          <p:cNvPr id="23" name="Text 21"/>
          <p:cNvSpPr/>
          <p:nvPr/>
        </p:nvSpPr>
        <p:spPr>
          <a:xfrm>
            <a:off x="475488" y="4169664"/>
            <a:ext cx="3840480" cy="420624"/>
          </a:xfrm>
          <a:prstGeom prst="rect">
            <a:avLst/>
          </a:prstGeom>
          <a:noFill/>
          <a:ln/>
        </p:spPr>
        <p:txBody>
          <a:bodyPr wrap="square" rtlCol="0" anchor="ctr"/>
          <a:lstStyle/>
          <a:p>
            <a:pPr indent="0" marL="0">
              <a:buNone/>
            </a:pPr>
            <a:r>
              <a:rPr lang="en-US" sz="900" dirty="0">
                <a:solidFill>
                  <a:srgbClr val="FFFFFF"/>
                </a:solidFill>
              </a:rPr>
              <a:t>Cmd+F5 to activate. Use Safari. Essential for iOS testing.</a:t>
            </a:r>
            <a:endParaRPr lang="en-US" sz="900" dirty="0"/>
          </a:p>
        </p:txBody>
      </p:sp>
      <p:sp>
        <p:nvSpPr>
          <p:cNvPr id="24" name="Shape 22"/>
          <p:cNvSpPr/>
          <p:nvPr/>
        </p:nvSpPr>
        <p:spPr>
          <a:xfrm>
            <a:off x="4736592" y="3621024"/>
            <a:ext cx="4114800" cy="1078992"/>
          </a:xfrm>
          <a:prstGeom prst="roundRect">
            <a:avLst>
              <a:gd name="adj" fmla="val 6780"/>
            </a:avLst>
          </a:prstGeom>
          <a:solidFill>
            <a:srgbClr val="1A2D3F"/>
          </a:solidFill>
          <a:ln w="15240">
            <a:solidFill>
              <a:srgbClr val="8DA6B8"/>
            </a:solidFill>
            <a:prstDash val="solid"/>
          </a:ln>
          <a:effectLst>
            <a:outerShdw sx="100000" sy="100000" kx="0" ky="0" algn="bl" rotWithShape="0" blurRad="63500" dist="25400" dir="2700000">
              <a:srgbClr val="000000">
                <a:alpha val="14000"/>
              </a:srgbClr>
            </a:outerShdw>
          </a:effectLst>
        </p:spPr>
      </p:sp>
      <p:sp>
        <p:nvSpPr>
          <p:cNvPr id="25" name="Text 23"/>
          <p:cNvSpPr/>
          <p:nvPr/>
        </p:nvSpPr>
        <p:spPr>
          <a:xfrm>
            <a:off x="4846320" y="3675888"/>
            <a:ext cx="2743200" cy="292608"/>
          </a:xfrm>
          <a:prstGeom prst="rect">
            <a:avLst/>
          </a:prstGeom>
          <a:noFill/>
          <a:ln/>
        </p:spPr>
        <p:txBody>
          <a:bodyPr wrap="square" rtlCol="0" anchor="ctr"/>
          <a:lstStyle/>
          <a:p>
            <a:pPr indent="0" marL="0">
              <a:buNone/>
            </a:pPr>
            <a:r>
              <a:rPr lang="en-US" sz="1200" b="1" dirty="0">
                <a:solidFill>
                  <a:srgbClr val="8DA6B8"/>
                </a:solidFill>
              </a:rPr>
              <a:t>Keyboard-only tab test</a:t>
            </a:r>
            <a:endParaRPr lang="en-US" sz="1200" dirty="0"/>
          </a:p>
        </p:txBody>
      </p:sp>
      <p:sp>
        <p:nvSpPr>
          <p:cNvPr id="26" name="Text 24"/>
          <p:cNvSpPr/>
          <p:nvPr/>
        </p:nvSpPr>
        <p:spPr>
          <a:xfrm>
            <a:off x="4846320" y="3968496"/>
            <a:ext cx="3840480" cy="182880"/>
          </a:xfrm>
          <a:prstGeom prst="rect">
            <a:avLst/>
          </a:prstGeom>
          <a:noFill/>
          <a:ln/>
        </p:spPr>
        <p:txBody>
          <a:bodyPr wrap="square" rtlCol="0" anchor="ctr"/>
          <a:lstStyle/>
          <a:p>
            <a:pPr indent="0" marL="0">
              <a:buNone/>
            </a:pPr>
            <a:r>
              <a:rPr lang="en-US" sz="850" i="1" dirty="0">
                <a:solidFill>
                  <a:srgbClr val="8DA6B8"/>
                </a:solidFill>
              </a:rPr>
              <a:t>Manual — no tools needed</a:t>
            </a:r>
            <a:endParaRPr lang="en-US" sz="850" dirty="0"/>
          </a:p>
        </p:txBody>
      </p:sp>
      <p:sp>
        <p:nvSpPr>
          <p:cNvPr id="27" name="Text 25"/>
          <p:cNvSpPr/>
          <p:nvPr/>
        </p:nvSpPr>
        <p:spPr>
          <a:xfrm>
            <a:off x="4846320" y="4169664"/>
            <a:ext cx="3840480" cy="420624"/>
          </a:xfrm>
          <a:prstGeom prst="rect">
            <a:avLst/>
          </a:prstGeom>
          <a:noFill/>
          <a:ln/>
        </p:spPr>
        <p:txBody>
          <a:bodyPr wrap="square" rtlCol="0" anchor="ctr"/>
          <a:lstStyle/>
          <a:p>
            <a:pPr indent="0" marL="0">
              <a:buNone/>
            </a:pPr>
            <a:r>
              <a:rPr lang="en-US" sz="900" dirty="0">
                <a:solidFill>
                  <a:srgbClr val="FFFFFF"/>
                </a:solidFill>
              </a:rPr>
              <a:t>Unplug your mouse. Navigate your entire block UI with Tab, Enter, Space, Arrows.</a:t>
            </a:r>
            <a:endParaRPr lang="en-US" sz="900" dirty="0"/>
          </a:p>
        </p:txBody>
      </p:sp>
      <p:sp>
        <p:nvSpPr>
          <p:cNvPr id="29" name="Text 26"/>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PUTTING IT ALL TOGETHER</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fully accessible Notice block</a:t>
            </a:r>
            <a:endParaRPr lang="en-US" sz="2600" dirty="0"/>
          </a:p>
        </p:txBody>
      </p:sp>
      <p:sp>
        <p:nvSpPr>
          <p:cNvPr id="4" name="Shape 2"/>
          <p:cNvSpPr/>
          <p:nvPr/>
        </p:nvSpPr>
        <p:spPr>
          <a:xfrm>
            <a:off x="365760" y="1170432"/>
            <a:ext cx="4114800" cy="3657600"/>
          </a:xfrm>
          <a:prstGeom prst="roundRect">
            <a:avLst>
              <a:gd name="adj" fmla="val 2500"/>
            </a:avLst>
          </a:prstGeom>
          <a:solidFill>
            <a:srgbClr val="0A0F16"/>
          </a:solidFill>
          <a:ln w="19050">
            <a:solidFill>
              <a:srgbClr val="0EA5A0"/>
            </a:solidFill>
            <a:prstDash val="solid"/>
          </a:ln>
        </p:spPr>
      </p:sp>
      <p:sp>
        <p:nvSpPr>
          <p:cNvPr id="5" name="Text 3"/>
          <p:cNvSpPr/>
          <p:nvPr/>
        </p:nvSpPr>
        <p:spPr>
          <a:xfrm>
            <a:off x="502920" y="1243584"/>
            <a:ext cx="3840480" cy="274320"/>
          </a:xfrm>
          <a:prstGeom prst="rect">
            <a:avLst/>
          </a:prstGeom>
          <a:noFill/>
          <a:ln/>
        </p:spPr>
        <p:txBody>
          <a:bodyPr wrap="square" rtlCol="0" anchor="ctr"/>
          <a:lstStyle/>
          <a:p>
            <a:pPr indent="0" marL="0">
              <a:buNone/>
            </a:pPr>
            <a:r>
              <a:rPr lang="en-US" sz="1000" b="1" dirty="0">
                <a:solidFill>
                  <a:srgbClr val="0EA5A0"/>
                </a:solidFill>
              </a:rPr>
              <a:t>edit.js</a:t>
            </a:r>
            <a:endParaRPr lang="en-US" sz="1000" dirty="0"/>
          </a:p>
        </p:txBody>
      </p:sp>
      <p:sp>
        <p:nvSpPr>
          <p:cNvPr id="6" name="Text 4"/>
          <p:cNvSpPr/>
          <p:nvPr/>
        </p:nvSpPr>
        <p:spPr>
          <a:xfrm>
            <a:off x="502920" y="1572768"/>
            <a:ext cx="3840480" cy="182880"/>
          </a:xfrm>
          <a:prstGeom prst="rect">
            <a:avLst/>
          </a:prstGeom>
          <a:noFill/>
          <a:ln/>
        </p:spPr>
        <p:txBody>
          <a:bodyPr wrap="square" rtlCol="0" anchor="ctr"/>
          <a:lstStyle/>
          <a:p>
            <a:pPr indent="0" marL="0">
              <a:buNone/>
            </a:pPr>
            <a:r>
              <a:rPr lang="en-US" sz="720" dirty="0">
                <a:solidFill>
                  <a:srgbClr val="0EA5A0"/>
                </a:solidFill>
                <a:latin typeface="Courier New" pitchFamily="34" charset="0"/>
                <a:ea typeface="Courier New" pitchFamily="34" charset="-122"/>
                <a:cs typeface="Courier New" pitchFamily="34" charset="-120"/>
              </a:rPr>
              <a:t>import { useBlockProps,</a:t>
            </a:r>
            <a:endParaRPr lang="en-US" sz="720" dirty="0"/>
          </a:p>
        </p:txBody>
      </p:sp>
      <p:sp>
        <p:nvSpPr>
          <p:cNvPr id="7" name="Text 5"/>
          <p:cNvSpPr/>
          <p:nvPr/>
        </p:nvSpPr>
        <p:spPr>
          <a:xfrm>
            <a:off x="502920" y="1755648"/>
            <a:ext cx="3840480" cy="182880"/>
          </a:xfrm>
          <a:prstGeom prst="rect">
            <a:avLst/>
          </a:prstGeom>
          <a:noFill/>
          <a:ln/>
        </p:spPr>
        <p:txBody>
          <a:bodyPr wrap="square" rtlCol="0" anchor="ctr"/>
          <a:lstStyle/>
          <a:p>
            <a:pPr indent="0" marL="0">
              <a:buNone/>
            </a:pPr>
            <a:r>
              <a:rPr lang="en-US" sz="720" dirty="0">
                <a:solidFill>
                  <a:srgbClr val="14C8C2"/>
                </a:solidFill>
                <a:latin typeface="Courier New" pitchFamily="34" charset="0"/>
                <a:ea typeface="Courier New" pitchFamily="34" charset="-122"/>
                <a:cs typeface="Courier New" pitchFamily="34" charset="-120"/>
              </a:rPr>
              <a:t>  RichText, InspectorControls }</a:t>
            </a:r>
            <a:endParaRPr lang="en-US" sz="720" dirty="0"/>
          </a:p>
        </p:txBody>
      </p:sp>
      <p:sp>
        <p:nvSpPr>
          <p:cNvPr id="8" name="Text 6"/>
          <p:cNvSpPr/>
          <p:nvPr/>
        </p:nvSpPr>
        <p:spPr>
          <a:xfrm>
            <a:off x="502920" y="193852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from '@wordpress/block-editor';</a:t>
            </a:r>
            <a:endParaRPr lang="en-US" sz="720" dirty="0"/>
          </a:p>
        </p:txBody>
      </p:sp>
      <p:sp>
        <p:nvSpPr>
          <p:cNvPr id="9" name="Text 7"/>
          <p:cNvSpPr/>
          <p:nvPr/>
        </p:nvSpPr>
        <p:spPr>
          <a:xfrm>
            <a:off x="502920" y="2121408"/>
            <a:ext cx="3840480" cy="182880"/>
          </a:xfrm>
          <a:prstGeom prst="rect">
            <a:avLst/>
          </a:prstGeom>
          <a:noFill/>
          <a:ln/>
        </p:spPr>
        <p:txBody>
          <a:bodyPr wrap="square" rtlCol="0" anchor="ctr"/>
          <a:lstStyle/>
          <a:p>
            <a:pPr indent="0" marL="0">
              <a:buNone/>
            </a:pPr>
            <a:r>
              <a:rPr lang="en-US" sz="720" dirty="0">
                <a:solidFill>
                  <a:srgbClr val="14C8C2"/>
                </a:solidFill>
                <a:latin typeface="Courier New" pitchFamily="34" charset="0"/>
                <a:ea typeface="Courier New" pitchFamily="34" charset="-122"/>
                <a:cs typeface="Courier New" pitchFamily="34" charset="-120"/>
              </a:rPr>
              <a:t>import { PanelBody, SelectControl }</a:t>
            </a:r>
            <a:endParaRPr lang="en-US" sz="720" dirty="0"/>
          </a:p>
        </p:txBody>
      </p:sp>
      <p:sp>
        <p:nvSpPr>
          <p:cNvPr id="10" name="Text 8"/>
          <p:cNvSpPr/>
          <p:nvPr/>
        </p:nvSpPr>
        <p:spPr>
          <a:xfrm>
            <a:off x="502920" y="230428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from '@wordpress/components';</a:t>
            </a:r>
            <a:endParaRPr lang="en-US" sz="720" dirty="0"/>
          </a:p>
        </p:txBody>
      </p:sp>
      <p:sp>
        <p:nvSpPr>
          <p:cNvPr id="11" name="Text 9"/>
          <p:cNvSpPr/>
          <p:nvPr/>
        </p:nvSpPr>
        <p:spPr>
          <a:xfrm>
            <a:off x="502920" y="2487168"/>
            <a:ext cx="3840480" cy="182880"/>
          </a:xfrm>
          <a:prstGeom prst="rect">
            <a:avLst/>
          </a:prstGeom>
          <a:noFill/>
          <a:ln/>
        </p:spPr>
        <p:txBody>
          <a:bodyPr wrap="square" rtlCol="0" anchor="ctr"/>
          <a:lstStyle/>
          <a:p>
            <a:pPr indent="0" marL="0">
              <a:buNone/>
            </a:pPr>
            <a:endParaRPr lang="en-US" sz="720" dirty="0"/>
          </a:p>
        </p:txBody>
      </p:sp>
      <p:sp>
        <p:nvSpPr>
          <p:cNvPr id="12" name="Text 10"/>
          <p:cNvSpPr/>
          <p:nvPr/>
        </p:nvSpPr>
        <p:spPr>
          <a:xfrm>
            <a:off x="502920" y="2670048"/>
            <a:ext cx="3840480" cy="182880"/>
          </a:xfrm>
          <a:prstGeom prst="rect">
            <a:avLst/>
          </a:prstGeom>
          <a:noFill/>
          <a:ln/>
        </p:spPr>
        <p:txBody>
          <a:bodyPr wrap="square" rtlCol="0" anchor="ctr"/>
          <a:lstStyle/>
          <a:p>
            <a:pPr indent="0" marL="0">
              <a:buNone/>
            </a:pPr>
            <a:r>
              <a:rPr lang="en-US" sz="720" dirty="0">
                <a:solidFill>
                  <a:srgbClr val="0EA5A0"/>
                </a:solidFill>
                <a:latin typeface="Courier New" pitchFamily="34" charset="0"/>
                <a:ea typeface="Courier New" pitchFamily="34" charset="-122"/>
                <a:cs typeface="Courier New" pitchFamily="34" charset="-120"/>
              </a:rPr>
              <a:t>export default function Edit(</a:t>
            </a:r>
            <a:endParaRPr lang="en-US" sz="720" dirty="0"/>
          </a:p>
        </p:txBody>
      </p:sp>
      <p:sp>
        <p:nvSpPr>
          <p:cNvPr id="13" name="Text 11"/>
          <p:cNvSpPr/>
          <p:nvPr/>
        </p:nvSpPr>
        <p:spPr>
          <a:xfrm>
            <a:off x="502920" y="285292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 attributes, setAttributes }</a:t>
            </a:r>
            <a:endParaRPr lang="en-US" sz="720" dirty="0"/>
          </a:p>
        </p:txBody>
      </p:sp>
      <p:sp>
        <p:nvSpPr>
          <p:cNvPr id="14" name="Text 12"/>
          <p:cNvSpPr/>
          <p:nvPr/>
        </p:nvSpPr>
        <p:spPr>
          <a:xfrm>
            <a:off x="502920" y="303580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a:t>
            </a:r>
            <a:endParaRPr lang="en-US" sz="720" dirty="0"/>
          </a:p>
        </p:txBody>
      </p:sp>
      <p:sp>
        <p:nvSpPr>
          <p:cNvPr id="15" name="Text 13"/>
          <p:cNvSpPr/>
          <p:nvPr/>
        </p:nvSpPr>
        <p:spPr>
          <a:xfrm>
            <a:off x="502920" y="321868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const { noticeText, noticeType }</a:t>
            </a:r>
            <a:endParaRPr lang="en-US" sz="720" dirty="0"/>
          </a:p>
        </p:txBody>
      </p:sp>
      <p:sp>
        <p:nvSpPr>
          <p:cNvPr id="16" name="Text 14"/>
          <p:cNvSpPr/>
          <p:nvPr/>
        </p:nvSpPr>
        <p:spPr>
          <a:xfrm>
            <a:off x="502920" y="340156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 attributes;</a:t>
            </a:r>
            <a:endParaRPr lang="en-US" sz="720" dirty="0"/>
          </a:p>
        </p:txBody>
      </p:sp>
      <p:sp>
        <p:nvSpPr>
          <p:cNvPr id="17" name="Text 15"/>
          <p:cNvSpPr/>
          <p:nvPr/>
        </p:nvSpPr>
        <p:spPr>
          <a:xfrm>
            <a:off x="502920" y="358444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const blockProps = useBlockProps({</a:t>
            </a:r>
            <a:endParaRPr lang="en-US" sz="720" dirty="0"/>
          </a:p>
        </p:txBody>
      </p:sp>
      <p:sp>
        <p:nvSpPr>
          <p:cNvPr id="18" name="Text 16"/>
          <p:cNvSpPr/>
          <p:nvPr/>
        </p:nvSpPr>
        <p:spPr>
          <a:xfrm>
            <a:off x="502920" y="376732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className: `notice--${noticeType}`,</a:t>
            </a:r>
            <a:endParaRPr lang="en-US" sz="720" dirty="0"/>
          </a:p>
        </p:txBody>
      </p:sp>
      <p:sp>
        <p:nvSpPr>
          <p:cNvPr id="19" name="Text 17"/>
          <p:cNvSpPr/>
          <p:nvPr/>
        </p:nvSpPr>
        <p:spPr>
          <a:xfrm>
            <a:off x="502920" y="395020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a:t>
            </a:r>
            <a:endParaRPr lang="en-US" sz="720" dirty="0"/>
          </a:p>
        </p:txBody>
      </p:sp>
      <p:sp>
        <p:nvSpPr>
          <p:cNvPr id="20" name="Text 18"/>
          <p:cNvSpPr/>
          <p:nvPr/>
        </p:nvSpPr>
        <p:spPr>
          <a:xfrm>
            <a:off x="502920" y="413308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return (&lt;&gt;</a:t>
            </a:r>
            <a:endParaRPr lang="en-US" sz="720" dirty="0"/>
          </a:p>
        </p:txBody>
      </p:sp>
      <p:sp>
        <p:nvSpPr>
          <p:cNvPr id="21" name="Text 19"/>
          <p:cNvSpPr/>
          <p:nvPr/>
        </p:nvSpPr>
        <p:spPr>
          <a:xfrm>
            <a:off x="502920" y="4315968"/>
            <a:ext cx="3840480" cy="182880"/>
          </a:xfrm>
          <a:prstGeom prst="rect">
            <a:avLst/>
          </a:prstGeom>
          <a:noFill/>
          <a:ln/>
        </p:spPr>
        <p:txBody>
          <a:bodyPr wrap="square" rtlCol="0" anchor="ctr"/>
          <a:lstStyle/>
          <a:p>
            <a:pPr indent="0" marL="0">
              <a:buNone/>
            </a:pPr>
            <a:r>
              <a:rPr lang="en-US" sz="720" dirty="0">
                <a:solidFill>
                  <a:srgbClr val="14C8C2"/>
                </a:solidFill>
                <a:latin typeface="Courier New" pitchFamily="34" charset="0"/>
                <a:ea typeface="Courier New" pitchFamily="34" charset="-122"/>
                <a:cs typeface="Courier New" pitchFamily="34" charset="-120"/>
              </a:rPr>
              <a:t>    &lt;InspectorControls&gt;</a:t>
            </a:r>
            <a:endParaRPr lang="en-US" sz="720" dirty="0"/>
          </a:p>
        </p:txBody>
      </p:sp>
      <p:sp>
        <p:nvSpPr>
          <p:cNvPr id="22" name="Text 20"/>
          <p:cNvSpPr/>
          <p:nvPr/>
        </p:nvSpPr>
        <p:spPr>
          <a:xfrm>
            <a:off x="502920" y="4498848"/>
            <a:ext cx="3840480" cy="182880"/>
          </a:xfrm>
          <a:prstGeom prst="rect">
            <a:avLst/>
          </a:prstGeom>
          <a:noFill/>
          <a:ln/>
        </p:spPr>
        <p:txBody>
          <a:bodyPr wrap="square" rtlCol="0" anchor="ctr"/>
          <a:lstStyle/>
          <a:p>
            <a:pPr indent="0" marL="0">
              <a:buNone/>
            </a:pPr>
            <a:r>
              <a:rPr lang="en-US" sz="720" dirty="0">
                <a:solidFill>
                  <a:srgbClr val="14C8C2"/>
                </a:solidFill>
                <a:latin typeface="Courier New" pitchFamily="34" charset="0"/>
                <a:ea typeface="Courier New" pitchFamily="34" charset="-122"/>
                <a:cs typeface="Courier New" pitchFamily="34" charset="-120"/>
              </a:rPr>
              <a:t>      &lt;PanelBody title='Accessibility'&gt;</a:t>
            </a:r>
            <a:endParaRPr lang="en-US" sz="720" dirty="0"/>
          </a:p>
        </p:txBody>
      </p:sp>
      <p:sp>
        <p:nvSpPr>
          <p:cNvPr id="23" name="Text 21"/>
          <p:cNvSpPr/>
          <p:nvPr/>
        </p:nvSpPr>
        <p:spPr>
          <a:xfrm>
            <a:off x="502920" y="4681728"/>
            <a:ext cx="3840480" cy="182880"/>
          </a:xfrm>
          <a:prstGeom prst="rect">
            <a:avLst/>
          </a:prstGeom>
          <a:noFill/>
          <a:ln/>
        </p:spPr>
        <p:txBody>
          <a:bodyPr wrap="square" rtlCol="0" anchor="ctr"/>
          <a:lstStyle/>
          <a:p>
            <a:pPr indent="0" marL="0">
              <a:buNone/>
            </a:pPr>
            <a:r>
              <a:rPr lang="en-US" sz="720" dirty="0">
                <a:solidFill>
                  <a:srgbClr val="14C8C2"/>
                </a:solidFill>
                <a:latin typeface="Courier New" pitchFamily="34" charset="0"/>
                <a:ea typeface="Courier New" pitchFamily="34" charset="-122"/>
                <a:cs typeface="Courier New" pitchFamily="34" charset="-120"/>
              </a:rPr>
              <a:t>        &lt;SelectControl</a:t>
            </a:r>
            <a:endParaRPr lang="en-US" sz="720" dirty="0"/>
          </a:p>
        </p:txBody>
      </p:sp>
      <p:sp>
        <p:nvSpPr>
          <p:cNvPr id="24" name="Text 22"/>
          <p:cNvSpPr/>
          <p:nvPr/>
        </p:nvSpPr>
        <p:spPr>
          <a:xfrm>
            <a:off x="502920" y="486460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label='Notice type'</a:t>
            </a:r>
            <a:endParaRPr lang="en-US" sz="720" dirty="0"/>
          </a:p>
        </p:txBody>
      </p:sp>
      <p:sp>
        <p:nvSpPr>
          <p:cNvPr id="25" name="Text 23"/>
          <p:cNvSpPr/>
          <p:nvPr/>
        </p:nvSpPr>
        <p:spPr>
          <a:xfrm>
            <a:off x="502920" y="504748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value={noticeType}</a:t>
            </a:r>
            <a:endParaRPr lang="en-US" sz="720" dirty="0"/>
          </a:p>
        </p:txBody>
      </p:sp>
      <p:sp>
        <p:nvSpPr>
          <p:cNvPr id="26" name="Text 24"/>
          <p:cNvSpPr/>
          <p:nvPr/>
        </p:nvSpPr>
        <p:spPr>
          <a:xfrm>
            <a:off x="502920" y="523036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options={[</a:t>
            </a:r>
            <a:endParaRPr lang="en-US" sz="720" dirty="0"/>
          </a:p>
        </p:txBody>
      </p:sp>
      <p:sp>
        <p:nvSpPr>
          <p:cNvPr id="27" name="Text 25"/>
          <p:cNvSpPr/>
          <p:nvPr/>
        </p:nvSpPr>
        <p:spPr>
          <a:xfrm>
            <a:off x="502920" y="541324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{label:'Info',value:'info'},</a:t>
            </a:r>
            <a:endParaRPr lang="en-US" sz="720" dirty="0"/>
          </a:p>
        </p:txBody>
      </p:sp>
      <p:sp>
        <p:nvSpPr>
          <p:cNvPr id="28" name="Text 26"/>
          <p:cNvSpPr/>
          <p:nvPr/>
        </p:nvSpPr>
        <p:spPr>
          <a:xfrm>
            <a:off x="502920" y="559612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{label:'Warning',value:'warn'},</a:t>
            </a:r>
            <a:endParaRPr lang="en-US" sz="720" dirty="0"/>
          </a:p>
        </p:txBody>
      </p:sp>
      <p:sp>
        <p:nvSpPr>
          <p:cNvPr id="29" name="Text 27"/>
          <p:cNvSpPr/>
          <p:nvPr/>
        </p:nvSpPr>
        <p:spPr>
          <a:xfrm>
            <a:off x="502920" y="577900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{label:'Error',value:'error'},</a:t>
            </a:r>
            <a:endParaRPr lang="en-US" sz="720" dirty="0"/>
          </a:p>
        </p:txBody>
      </p:sp>
      <p:sp>
        <p:nvSpPr>
          <p:cNvPr id="30" name="Text 28"/>
          <p:cNvSpPr/>
          <p:nvPr/>
        </p:nvSpPr>
        <p:spPr>
          <a:xfrm>
            <a:off x="502920" y="596188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a:t>
            </a:r>
            <a:endParaRPr lang="en-US" sz="720" dirty="0"/>
          </a:p>
        </p:txBody>
      </p:sp>
      <p:sp>
        <p:nvSpPr>
          <p:cNvPr id="31" name="Text 29"/>
          <p:cNvSpPr/>
          <p:nvPr/>
        </p:nvSpPr>
        <p:spPr>
          <a:xfrm>
            <a:off x="502920" y="614476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onChange={(v)=&gt;setAttributes(</a:t>
            </a:r>
            <a:endParaRPr lang="en-US" sz="720" dirty="0"/>
          </a:p>
        </p:txBody>
      </p:sp>
      <p:sp>
        <p:nvSpPr>
          <p:cNvPr id="32" name="Text 30"/>
          <p:cNvSpPr/>
          <p:nvPr/>
        </p:nvSpPr>
        <p:spPr>
          <a:xfrm>
            <a:off x="502920" y="632764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{noticeType:v})}</a:t>
            </a:r>
            <a:endParaRPr lang="en-US" sz="720" dirty="0"/>
          </a:p>
        </p:txBody>
      </p:sp>
      <p:sp>
        <p:nvSpPr>
          <p:cNvPr id="33" name="Text 31"/>
          <p:cNvSpPr/>
          <p:nvPr/>
        </p:nvSpPr>
        <p:spPr>
          <a:xfrm>
            <a:off x="502920" y="6510528"/>
            <a:ext cx="3840480" cy="182880"/>
          </a:xfrm>
          <a:prstGeom prst="rect">
            <a:avLst/>
          </a:prstGeom>
          <a:noFill/>
          <a:ln/>
        </p:spPr>
        <p:txBody>
          <a:bodyPr wrap="square" rtlCol="0" anchor="ctr"/>
          <a:lstStyle/>
          <a:p>
            <a:pPr indent="0" marL="0">
              <a:buNone/>
            </a:pPr>
            <a:r>
              <a:rPr lang="en-US" sz="720" dirty="0">
                <a:solidFill>
                  <a:srgbClr val="FFFFFF"/>
                </a:solidFill>
                <a:latin typeface="Courier New" pitchFamily="34" charset="0"/>
                <a:ea typeface="Courier New" pitchFamily="34" charset="-122"/>
                <a:cs typeface="Courier New" pitchFamily="34" charset="-120"/>
              </a:rPr>
              <a:t>        /&gt;</a:t>
            </a:r>
            <a:endParaRPr lang="en-US" sz="720" dirty="0"/>
          </a:p>
        </p:txBody>
      </p:sp>
      <p:sp>
        <p:nvSpPr>
          <p:cNvPr id="34" name="Text 32"/>
          <p:cNvSpPr/>
          <p:nvPr/>
        </p:nvSpPr>
        <p:spPr>
          <a:xfrm>
            <a:off x="502920" y="6693408"/>
            <a:ext cx="3840480" cy="182880"/>
          </a:xfrm>
          <a:prstGeom prst="rect">
            <a:avLst/>
          </a:prstGeom>
          <a:noFill/>
          <a:ln/>
        </p:spPr>
        <p:txBody>
          <a:bodyPr wrap="square" rtlCol="0" anchor="ctr"/>
          <a:lstStyle/>
          <a:p>
            <a:pPr indent="0" marL="0">
              <a:buNone/>
            </a:pPr>
            <a:r>
              <a:rPr lang="en-US" sz="720" dirty="0">
                <a:solidFill>
                  <a:srgbClr val="14C8C2"/>
                </a:solidFill>
                <a:latin typeface="Courier New" pitchFamily="34" charset="0"/>
                <a:ea typeface="Courier New" pitchFamily="34" charset="-122"/>
                <a:cs typeface="Courier New" pitchFamily="34" charset="-120"/>
              </a:rPr>
              <a:t>      &lt;/PanelBody&gt;</a:t>
            </a:r>
            <a:endParaRPr lang="en-US" sz="720" dirty="0"/>
          </a:p>
        </p:txBody>
      </p:sp>
      <p:sp>
        <p:nvSpPr>
          <p:cNvPr id="35" name="Shape 33"/>
          <p:cNvSpPr/>
          <p:nvPr/>
        </p:nvSpPr>
        <p:spPr>
          <a:xfrm>
            <a:off x="4663440" y="1170432"/>
            <a:ext cx="4114800" cy="1737360"/>
          </a:xfrm>
          <a:prstGeom prst="roundRect">
            <a:avLst>
              <a:gd name="adj" fmla="val 4211"/>
            </a:avLst>
          </a:prstGeom>
          <a:solidFill>
            <a:srgbClr val="0A0F16"/>
          </a:solidFill>
          <a:ln w="19050">
            <a:solidFill>
              <a:srgbClr val="F0A500"/>
            </a:solidFill>
            <a:prstDash val="solid"/>
          </a:ln>
        </p:spPr>
      </p:sp>
      <p:sp>
        <p:nvSpPr>
          <p:cNvPr id="36" name="Text 34"/>
          <p:cNvSpPr/>
          <p:nvPr/>
        </p:nvSpPr>
        <p:spPr>
          <a:xfrm>
            <a:off x="4800600" y="1243584"/>
            <a:ext cx="3840480" cy="274320"/>
          </a:xfrm>
          <a:prstGeom prst="rect">
            <a:avLst/>
          </a:prstGeom>
          <a:noFill/>
          <a:ln/>
        </p:spPr>
        <p:txBody>
          <a:bodyPr wrap="square" rtlCol="0" anchor="ctr"/>
          <a:lstStyle/>
          <a:p>
            <a:pPr indent="0" marL="0">
              <a:buNone/>
            </a:pPr>
            <a:r>
              <a:rPr lang="en-US" sz="1000" b="1" dirty="0">
                <a:solidFill>
                  <a:srgbClr val="F0A500"/>
                </a:solidFill>
              </a:rPr>
              <a:t>save.js — accessible output</a:t>
            </a:r>
            <a:endParaRPr lang="en-US" sz="1000" dirty="0"/>
          </a:p>
        </p:txBody>
      </p:sp>
      <p:sp>
        <p:nvSpPr>
          <p:cNvPr id="37" name="Text 35"/>
          <p:cNvSpPr/>
          <p:nvPr/>
        </p:nvSpPr>
        <p:spPr>
          <a:xfrm>
            <a:off x="4800600" y="1572768"/>
            <a:ext cx="3840480" cy="182880"/>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&lt;section {...blockProps}</a:t>
            </a:r>
            <a:endParaRPr lang="en-US" sz="780" dirty="0"/>
          </a:p>
        </p:txBody>
      </p:sp>
      <p:sp>
        <p:nvSpPr>
          <p:cNvPr id="38" name="Text 36"/>
          <p:cNvSpPr/>
          <p:nvPr/>
        </p:nvSpPr>
        <p:spPr>
          <a:xfrm>
            <a:off x="4800600" y="1755648"/>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role="region"</a:t>
            </a:r>
            <a:endParaRPr lang="en-US" sz="780" dirty="0"/>
          </a:p>
        </p:txBody>
      </p:sp>
      <p:sp>
        <p:nvSpPr>
          <p:cNvPr id="39" name="Text 37"/>
          <p:cNvSpPr/>
          <p:nvPr/>
        </p:nvSpPr>
        <p:spPr>
          <a:xfrm>
            <a:off x="4800600" y="1938528"/>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aria-label={`${noticeType} notice`}</a:t>
            </a:r>
            <a:endParaRPr lang="en-US" sz="780" dirty="0"/>
          </a:p>
        </p:txBody>
      </p:sp>
      <p:sp>
        <p:nvSpPr>
          <p:cNvPr id="40" name="Text 38"/>
          <p:cNvSpPr/>
          <p:nvPr/>
        </p:nvSpPr>
        <p:spPr>
          <a:xfrm>
            <a:off x="4800600" y="2121408"/>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aria-live="polite"</a:t>
            </a:r>
            <a:endParaRPr lang="en-US" sz="780" dirty="0"/>
          </a:p>
        </p:txBody>
      </p:sp>
      <p:sp>
        <p:nvSpPr>
          <p:cNvPr id="41" name="Text 39"/>
          <p:cNvSpPr/>
          <p:nvPr/>
        </p:nvSpPr>
        <p:spPr>
          <a:xfrm>
            <a:off x="4800600" y="2304288"/>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&gt;</a:t>
            </a:r>
            <a:endParaRPr lang="en-US" sz="780" dirty="0"/>
          </a:p>
        </p:txBody>
      </p:sp>
      <p:sp>
        <p:nvSpPr>
          <p:cNvPr id="42" name="Text 40"/>
          <p:cNvSpPr/>
          <p:nvPr/>
        </p:nvSpPr>
        <p:spPr>
          <a:xfrm>
            <a:off x="4800600" y="2487168"/>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&lt;span className="notice__icon"</a:t>
            </a:r>
            <a:endParaRPr lang="en-US" sz="780" dirty="0"/>
          </a:p>
        </p:txBody>
      </p:sp>
      <p:sp>
        <p:nvSpPr>
          <p:cNvPr id="43" name="Text 41"/>
          <p:cNvSpPr/>
          <p:nvPr/>
        </p:nvSpPr>
        <p:spPr>
          <a:xfrm>
            <a:off x="4800600" y="2670048"/>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aria-hidden="true"&gt;{icon}&lt;/span&gt;</a:t>
            </a:r>
            <a:endParaRPr lang="en-US" sz="780" dirty="0"/>
          </a:p>
        </p:txBody>
      </p:sp>
      <p:sp>
        <p:nvSpPr>
          <p:cNvPr id="44" name="Text 42"/>
          <p:cNvSpPr/>
          <p:nvPr/>
        </p:nvSpPr>
        <p:spPr>
          <a:xfrm>
            <a:off x="4800600" y="2852928"/>
            <a:ext cx="3840480" cy="182880"/>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  &lt;RichText.Content tagName="p"</a:t>
            </a:r>
            <a:endParaRPr lang="en-US" sz="780" dirty="0"/>
          </a:p>
        </p:txBody>
      </p:sp>
      <p:sp>
        <p:nvSpPr>
          <p:cNvPr id="45" name="Text 43"/>
          <p:cNvSpPr/>
          <p:nvPr/>
        </p:nvSpPr>
        <p:spPr>
          <a:xfrm>
            <a:off x="4800600" y="3035808"/>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value={noticeText} /&gt;</a:t>
            </a:r>
            <a:endParaRPr lang="en-US" sz="780" dirty="0"/>
          </a:p>
        </p:txBody>
      </p:sp>
      <p:sp>
        <p:nvSpPr>
          <p:cNvPr id="46" name="Text 44"/>
          <p:cNvSpPr/>
          <p:nvPr/>
        </p:nvSpPr>
        <p:spPr>
          <a:xfrm>
            <a:off x="4800600" y="3218688"/>
            <a:ext cx="3840480" cy="182880"/>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&lt;/section&gt;</a:t>
            </a:r>
            <a:endParaRPr lang="en-US" sz="780" dirty="0"/>
          </a:p>
        </p:txBody>
      </p:sp>
      <p:sp>
        <p:nvSpPr>
          <p:cNvPr id="47" name="Shape 45"/>
          <p:cNvSpPr/>
          <p:nvPr/>
        </p:nvSpPr>
        <p:spPr>
          <a:xfrm>
            <a:off x="4663440" y="3063240"/>
            <a:ext cx="4114800" cy="1764792"/>
          </a:xfrm>
          <a:prstGeom prst="roundRect">
            <a:avLst>
              <a:gd name="adj" fmla="val 4145"/>
            </a:avLst>
          </a:prstGeom>
          <a:solidFill>
            <a:srgbClr val="0A0F16"/>
          </a:solidFill>
          <a:ln w="19050">
            <a:solidFill>
              <a:srgbClr val="22C55E"/>
            </a:solidFill>
            <a:prstDash val="solid"/>
          </a:ln>
        </p:spPr>
      </p:sp>
      <p:sp>
        <p:nvSpPr>
          <p:cNvPr id="48" name="Text 46"/>
          <p:cNvSpPr/>
          <p:nvPr/>
        </p:nvSpPr>
        <p:spPr>
          <a:xfrm>
            <a:off x="4800600" y="3136392"/>
            <a:ext cx="3840480" cy="274320"/>
          </a:xfrm>
          <a:prstGeom prst="rect">
            <a:avLst/>
          </a:prstGeom>
          <a:noFill/>
          <a:ln/>
        </p:spPr>
        <p:txBody>
          <a:bodyPr wrap="square" rtlCol="0" anchor="ctr"/>
          <a:lstStyle/>
          <a:p>
            <a:pPr indent="0" marL="0">
              <a:buNone/>
            </a:pPr>
            <a:r>
              <a:rPr lang="en-US" sz="1000" b="1" dirty="0">
                <a:solidFill>
                  <a:srgbClr val="22C55E"/>
                </a:solidFill>
              </a:rPr>
              <a:t>block.json — supports</a:t>
            </a:r>
            <a:endParaRPr lang="en-US" sz="1000" dirty="0"/>
          </a:p>
        </p:txBody>
      </p:sp>
      <p:sp>
        <p:nvSpPr>
          <p:cNvPr id="49" name="Text 47"/>
          <p:cNvSpPr/>
          <p:nvPr/>
        </p:nvSpPr>
        <p:spPr>
          <a:xfrm>
            <a:off x="4800600" y="347472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"attributes": {</a:t>
            </a:r>
            <a:endParaRPr lang="en-US" sz="780" dirty="0"/>
          </a:p>
        </p:txBody>
      </p:sp>
      <p:sp>
        <p:nvSpPr>
          <p:cNvPr id="50" name="Text 48"/>
          <p:cNvSpPr/>
          <p:nvPr/>
        </p:nvSpPr>
        <p:spPr>
          <a:xfrm>
            <a:off x="4800600" y="3657600"/>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"noticeText": {"type":"string"},</a:t>
            </a:r>
            <a:endParaRPr lang="en-US" sz="780" dirty="0"/>
          </a:p>
        </p:txBody>
      </p:sp>
      <p:sp>
        <p:nvSpPr>
          <p:cNvPr id="51" name="Text 49"/>
          <p:cNvSpPr/>
          <p:nvPr/>
        </p:nvSpPr>
        <p:spPr>
          <a:xfrm>
            <a:off x="4800600" y="3840480"/>
            <a:ext cx="3840480" cy="182880"/>
          </a:xfrm>
          <a:prstGeom prst="rect">
            <a:avLst/>
          </a:prstGeom>
          <a:noFill/>
          <a:ln/>
        </p:spPr>
        <p:txBody>
          <a:bodyPr wrap="square" rtlCol="0" anchor="ctr"/>
          <a:lstStyle/>
          <a:p>
            <a:pPr indent="0" marL="0">
              <a:buNone/>
            </a:pPr>
            <a:r>
              <a:rPr lang="en-US" sz="780" dirty="0">
                <a:solidFill>
                  <a:srgbClr val="14C8C2"/>
                </a:solidFill>
                <a:latin typeface="Courier New" pitchFamily="34" charset="0"/>
                <a:ea typeface="Courier New" pitchFamily="34" charset="-122"/>
                <a:cs typeface="Courier New" pitchFamily="34" charset="-120"/>
              </a:rPr>
              <a:t>  "noticeType": {</a:t>
            </a:r>
            <a:endParaRPr lang="en-US" sz="780" dirty="0"/>
          </a:p>
        </p:txBody>
      </p:sp>
      <p:sp>
        <p:nvSpPr>
          <p:cNvPr id="52" name="Text 50"/>
          <p:cNvSpPr/>
          <p:nvPr/>
        </p:nvSpPr>
        <p:spPr>
          <a:xfrm>
            <a:off x="4800600" y="4023360"/>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"type":"string",</a:t>
            </a:r>
            <a:endParaRPr lang="en-US" sz="780" dirty="0"/>
          </a:p>
        </p:txBody>
      </p:sp>
      <p:sp>
        <p:nvSpPr>
          <p:cNvPr id="53" name="Text 51"/>
          <p:cNvSpPr/>
          <p:nvPr/>
        </p:nvSpPr>
        <p:spPr>
          <a:xfrm>
            <a:off x="4800600" y="4206240"/>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    "default":"info"</a:t>
            </a:r>
            <a:endParaRPr lang="en-US" sz="780" dirty="0"/>
          </a:p>
        </p:txBody>
      </p:sp>
      <p:sp>
        <p:nvSpPr>
          <p:cNvPr id="54" name="Text 52"/>
          <p:cNvSpPr/>
          <p:nvPr/>
        </p:nvSpPr>
        <p:spPr>
          <a:xfrm>
            <a:off x="4800600" y="438912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a:t>
            </a:r>
            <a:endParaRPr lang="en-US" sz="780" dirty="0"/>
          </a:p>
        </p:txBody>
      </p:sp>
      <p:sp>
        <p:nvSpPr>
          <p:cNvPr id="55" name="Text 53"/>
          <p:cNvSpPr/>
          <p:nvPr/>
        </p:nvSpPr>
        <p:spPr>
          <a:xfrm>
            <a:off x="4800600" y="457200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a:t>
            </a:r>
            <a:endParaRPr lang="en-US" sz="780" dirty="0"/>
          </a:p>
        </p:txBody>
      </p:sp>
      <p:sp>
        <p:nvSpPr>
          <p:cNvPr id="56" name="Text 54"/>
          <p:cNvSpPr/>
          <p:nvPr/>
        </p:nvSpPr>
        <p:spPr>
          <a:xfrm>
            <a:off x="4800600" y="4754880"/>
            <a:ext cx="3840480" cy="182880"/>
          </a:xfrm>
          <a:prstGeom prst="rect">
            <a:avLst/>
          </a:prstGeom>
          <a:noFill/>
          <a:ln/>
        </p:spPr>
        <p:txBody>
          <a:bodyPr wrap="square" rtlCol="0" anchor="ctr"/>
          <a:lstStyle/>
          <a:p>
            <a:pPr indent="0" marL="0">
              <a:buNone/>
            </a:pPr>
            <a:r>
              <a:rPr lang="en-US" sz="780" dirty="0">
                <a:solidFill>
                  <a:srgbClr val="F0A500"/>
                </a:solidFill>
                <a:latin typeface="Courier New" pitchFamily="34" charset="0"/>
                <a:ea typeface="Courier New" pitchFamily="34" charset="-122"/>
                <a:cs typeface="Courier New" pitchFamily="34" charset="-120"/>
              </a:rPr>
              <a:t>"supports": {</a:t>
            </a:r>
            <a:endParaRPr lang="en-US" sz="780" dirty="0"/>
          </a:p>
        </p:txBody>
      </p:sp>
      <p:sp>
        <p:nvSpPr>
          <p:cNvPr id="57" name="Text 55"/>
          <p:cNvSpPr/>
          <p:nvPr/>
        </p:nvSpPr>
        <p:spPr>
          <a:xfrm>
            <a:off x="4800600" y="493776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"color":{"background":true,</a:t>
            </a:r>
            <a:endParaRPr lang="en-US" sz="780" dirty="0"/>
          </a:p>
        </p:txBody>
      </p:sp>
      <p:sp>
        <p:nvSpPr>
          <p:cNvPr id="58" name="Text 56"/>
          <p:cNvSpPr/>
          <p:nvPr/>
        </p:nvSpPr>
        <p:spPr>
          <a:xfrm>
            <a:off x="4800600" y="512064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"text":true},</a:t>
            </a:r>
            <a:endParaRPr lang="en-US" sz="780" dirty="0"/>
          </a:p>
        </p:txBody>
      </p:sp>
      <p:sp>
        <p:nvSpPr>
          <p:cNvPr id="59" name="Text 57"/>
          <p:cNvSpPr/>
          <p:nvPr/>
        </p:nvSpPr>
        <p:spPr>
          <a:xfrm>
            <a:off x="4800600" y="530352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"spacing":{"padding":true}</a:t>
            </a:r>
            <a:endParaRPr lang="en-US" sz="780" dirty="0"/>
          </a:p>
        </p:txBody>
      </p:sp>
      <p:sp>
        <p:nvSpPr>
          <p:cNvPr id="60" name="Text 58"/>
          <p:cNvSpPr/>
          <p:nvPr/>
        </p:nvSpPr>
        <p:spPr>
          <a:xfrm>
            <a:off x="4800600" y="5486400"/>
            <a:ext cx="3840480" cy="182880"/>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a:t>
            </a:r>
            <a:endParaRPr lang="en-US" sz="780" dirty="0"/>
          </a:p>
        </p:txBody>
      </p:sp>
      <p:sp>
        <p:nvSpPr>
          <p:cNvPr id="62" name="Text 59"/>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800" b="1" spc="300" kern="0" dirty="0">
                <a:solidFill>
                  <a:srgbClr val="0EA5A0"/>
                </a:solidFill>
              </a:rPr>
              <a:t>YOUR BLOCK ACCESSIBILITY CHECKLIST</a:t>
            </a:r>
            <a:endParaRPr lang="en-US" sz="800" dirty="0"/>
          </a:p>
        </p:txBody>
      </p:sp>
      <p:sp>
        <p:nvSpPr>
          <p:cNvPr id="3" name="Text 1"/>
          <p:cNvSpPr/>
          <p:nvPr/>
        </p:nvSpPr>
        <p:spPr>
          <a:xfrm>
            <a:off x="411480" y="457200"/>
            <a:ext cx="8229600"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Before you ship — verify every item</a:t>
            </a:r>
            <a:endParaRPr lang="en-US" sz="2600" dirty="0"/>
          </a:p>
        </p:txBody>
      </p:sp>
      <p:sp>
        <p:nvSpPr>
          <p:cNvPr id="4" name="Shape 2"/>
          <p:cNvSpPr/>
          <p:nvPr/>
        </p:nvSpPr>
        <p:spPr>
          <a:xfrm>
            <a:off x="320040" y="1207008"/>
            <a:ext cx="2743200" cy="1664208"/>
          </a:xfrm>
          <a:prstGeom prst="roundRect">
            <a:avLst>
              <a:gd name="adj" fmla="val 4396"/>
            </a:avLst>
          </a:prstGeom>
          <a:solidFill>
            <a:srgbClr val="1A2D3F"/>
          </a:solidFill>
          <a:ln w="12700">
            <a:solidFill>
              <a:srgbClr val="0EA5A0"/>
            </a:solidFill>
            <a:prstDash val="solid"/>
          </a:ln>
        </p:spPr>
      </p:sp>
      <p:sp>
        <p:nvSpPr>
          <p:cNvPr id="5" name="Text 3"/>
          <p:cNvSpPr/>
          <p:nvPr/>
        </p:nvSpPr>
        <p:spPr>
          <a:xfrm>
            <a:off x="429768" y="1261872"/>
            <a:ext cx="2514600" cy="274320"/>
          </a:xfrm>
          <a:prstGeom prst="rect">
            <a:avLst/>
          </a:prstGeom>
          <a:noFill/>
          <a:ln/>
        </p:spPr>
        <p:txBody>
          <a:bodyPr wrap="square" rtlCol="0" anchor="ctr"/>
          <a:lstStyle/>
          <a:p>
            <a:pPr indent="0" marL="0">
              <a:buNone/>
            </a:pPr>
            <a:r>
              <a:rPr lang="en-US" sz="1100" b="1" dirty="0">
                <a:solidFill>
                  <a:srgbClr val="0EA5A0"/>
                </a:solidFill>
              </a:rPr>
              <a:t>Semantic HTML</a:t>
            </a:r>
            <a:endParaRPr lang="en-US" sz="1100" dirty="0"/>
          </a:p>
        </p:txBody>
      </p:sp>
      <p:sp>
        <p:nvSpPr>
          <p:cNvPr id="6" name="Text 4"/>
          <p:cNvSpPr/>
          <p:nvPr/>
        </p:nvSpPr>
        <p:spPr>
          <a:xfrm>
            <a:off x="429768" y="1609344"/>
            <a:ext cx="2514600" cy="347472"/>
          </a:xfrm>
          <a:prstGeom prst="rect">
            <a:avLst/>
          </a:prstGeom>
          <a:noFill/>
          <a:ln/>
        </p:spPr>
        <p:txBody>
          <a:bodyPr wrap="square" rtlCol="0" anchor="ctr"/>
          <a:lstStyle/>
          <a:p>
            <a:pPr indent="0" marL="0">
              <a:buNone/>
            </a:pPr>
            <a:r>
              <a:rPr lang="en-US" sz="850" dirty="0">
                <a:solidFill>
                  <a:srgbClr val="FFFFFF"/>
                </a:solidFill>
              </a:rPr>
              <a:t>□  Wrapper uses &lt;section&gt; or &lt;article&gt;, not &lt;div&gt;</a:t>
            </a:r>
            <a:endParaRPr lang="en-US" sz="850" dirty="0"/>
          </a:p>
        </p:txBody>
      </p:sp>
      <p:sp>
        <p:nvSpPr>
          <p:cNvPr id="7" name="Text 5"/>
          <p:cNvSpPr/>
          <p:nvPr/>
        </p:nvSpPr>
        <p:spPr>
          <a:xfrm>
            <a:off x="429768" y="1993392"/>
            <a:ext cx="2514600" cy="347472"/>
          </a:xfrm>
          <a:prstGeom prst="rect">
            <a:avLst/>
          </a:prstGeom>
          <a:noFill/>
          <a:ln/>
        </p:spPr>
        <p:txBody>
          <a:bodyPr wrap="square" rtlCol="0" anchor="ctr"/>
          <a:lstStyle/>
          <a:p>
            <a:pPr indent="0" marL="0">
              <a:buNone/>
            </a:pPr>
            <a:r>
              <a:rPr lang="en-US" sz="850" dirty="0">
                <a:solidFill>
                  <a:srgbClr val="FFFFFF"/>
                </a:solidFill>
              </a:rPr>
              <a:t>□  Headings in logical order (no skipping levels)</a:t>
            </a:r>
            <a:endParaRPr lang="en-US" sz="850" dirty="0"/>
          </a:p>
        </p:txBody>
      </p:sp>
      <p:sp>
        <p:nvSpPr>
          <p:cNvPr id="8" name="Text 6"/>
          <p:cNvSpPr/>
          <p:nvPr/>
        </p:nvSpPr>
        <p:spPr>
          <a:xfrm>
            <a:off x="429768" y="2377440"/>
            <a:ext cx="2514600" cy="347472"/>
          </a:xfrm>
          <a:prstGeom prst="rect">
            <a:avLst/>
          </a:prstGeom>
          <a:noFill/>
          <a:ln/>
        </p:spPr>
        <p:txBody>
          <a:bodyPr wrap="square" rtlCol="0" anchor="ctr"/>
          <a:lstStyle/>
          <a:p>
            <a:pPr indent="0" marL="0">
              <a:buNone/>
            </a:pPr>
            <a:r>
              <a:rPr lang="en-US" sz="850" dirty="0">
                <a:solidFill>
                  <a:srgbClr val="FFFFFF"/>
                </a:solidFill>
              </a:rPr>
              <a:t>□  Interactive elements use native &lt;button&gt; or &lt;a&gt;</a:t>
            </a:r>
            <a:endParaRPr lang="en-US" sz="850" dirty="0"/>
          </a:p>
        </p:txBody>
      </p:sp>
      <p:sp>
        <p:nvSpPr>
          <p:cNvPr id="9" name="Shape 7"/>
          <p:cNvSpPr/>
          <p:nvPr/>
        </p:nvSpPr>
        <p:spPr>
          <a:xfrm>
            <a:off x="3264408" y="1207008"/>
            <a:ext cx="2743200" cy="1664208"/>
          </a:xfrm>
          <a:prstGeom prst="roundRect">
            <a:avLst>
              <a:gd name="adj" fmla="val 4396"/>
            </a:avLst>
          </a:prstGeom>
          <a:solidFill>
            <a:srgbClr val="1A2D3F"/>
          </a:solidFill>
          <a:ln w="12700">
            <a:solidFill>
              <a:srgbClr val="0EA5A0"/>
            </a:solidFill>
            <a:prstDash val="solid"/>
          </a:ln>
        </p:spPr>
      </p:sp>
      <p:sp>
        <p:nvSpPr>
          <p:cNvPr id="10" name="Text 8"/>
          <p:cNvSpPr/>
          <p:nvPr/>
        </p:nvSpPr>
        <p:spPr>
          <a:xfrm>
            <a:off x="3374136" y="1261872"/>
            <a:ext cx="2514600" cy="274320"/>
          </a:xfrm>
          <a:prstGeom prst="rect">
            <a:avLst/>
          </a:prstGeom>
          <a:noFill/>
          <a:ln/>
        </p:spPr>
        <p:txBody>
          <a:bodyPr wrap="square" rtlCol="0" anchor="ctr"/>
          <a:lstStyle/>
          <a:p>
            <a:pPr indent="0" marL="0">
              <a:buNone/>
            </a:pPr>
            <a:r>
              <a:rPr lang="en-US" sz="1100" b="1" dirty="0">
                <a:solidFill>
                  <a:srgbClr val="0EA5A0"/>
                </a:solidFill>
              </a:rPr>
              <a:t>ARIA</a:t>
            </a:r>
            <a:endParaRPr lang="en-US" sz="1100" dirty="0"/>
          </a:p>
        </p:txBody>
      </p:sp>
      <p:sp>
        <p:nvSpPr>
          <p:cNvPr id="11" name="Text 9"/>
          <p:cNvSpPr/>
          <p:nvPr/>
        </p:nvSpPr>
        <p:spPr>
          <a:xfrm>
            <a:off x="3374136" y="1609344"/>
            <a:ext cx="2514600" cy="347472"/>
          </a:xfrm>
          <a:prstGeom prst="rect">
            <a:avLst/>
          </a:prstGeom>
          <a:noFill/>
          <a:ln/>
        </p:spPr>
        <p:txBody>
          <a:bodyPr wrap="square" rtlCol="0" anchor="ctr"/>
          <a:lstStyle/>
          <a:p>
            <a:pPr indent="0" marL="0">
              <a:buNone/>
            </a:pPr>
            <a:r>
              <a:rPr lang="en-US" sz="850" dirty="0">
                <a:solidFill>
                  <a:srgbClr val="FFFFFF"/>
                </a:solidFill>
              </a:rPr>
              <a:t>□  role="region" + aria-label on block wrapper</a:t>
            </a:r>
            <a:endParaRPr lang="en-US" sz="850" dirty="0"/>
          </a:p>
        </p:txBody>
      </p:sp>
      <p:sp>
        <p:nvSpPr>
          <p:cNvPr id="12" name="Text 10"/>
          <p:cNvSpPr/>
          <p:nvPr/>
        </p:nvSpPr>
        <p:spPr>
          <a:xfrm>
            <a:off x="3374136" y="1993392"/>
            <a:ext cx="2514600" cy="347472"/>
          </a:xfrm>
          <a:prstGeom prst="rect">
            <a:avLst/>
          </a:prstGeom>
          <a:noFill/>
          <a:ln/>
        </p:spPr>
        <p:txBody>
          <a:bodyPr wrap="square" rtlCol="0" anchor="ctr"/>
          <a:lstStyle/>
          <a:p>
            <a:pPr indent="0" marL="0">
              <a:buNone/>
            </a:pPr>
            <a:r>
              <a:rPr lang="en-US" sz="850" dirty="0">
                <a:solidFill>
                  <a:srgbClr val="FFFFFF"/>
                </a:solidFill>
              </a:rPr>
              <a:t>□  aria-live="polite" if content updates dynamically</a:t>
            </a:r>
            <a:endParaRPr lang="en-US" sz="850" dirty="0"/>
          </a:p>
        </p:txBody>
      </p:sp>
      <p:sp>
        <p:nvSpPr>
          <p:cNvPr id="13" name="Text 11"/>
          <p:cNvSpPr/>
          <p:nvPr/>
        </p:nvSpPr>
        <p:spPr>
          <a:xfrm>
            <a:off x="3374136" y="2377440"/>
            <a:ext cx="2514600" cy="347472"/>
          </a:xfrm>
          <a:prstGeom prst="rect">
            <a:avLst/>
          </a:prstGeom>
          <a:noFill/>
          <a:ln/>
        </p:spPr>
        <p:txBody>
          <a:bodyPr wrap="square" rtlCol="0" anchor="ctr"/>
          <a:lstStyle/>
          <a:p>
            <a:pPr indent="0" marL="0">
              <a:buNone/>
            </a:pPr>
            <a:r>
              <a:rPr lang="en-US" sz="850" dirty="0">
                <a:solidFill>
                  <a:srgbClr val="FFFFFF"/>
                </a:solidFill>
              </a:rPr>
              <a:t>□  aria-hidden="true" on all decorative icons</a:t>
            </a:r>
            <a:endParaRPr lang="en-US" sz="850" dirty="0"/>
          </a:p>
        </p:txBody>
      </p:sp>
      <p:sp>
        <p:nvSpPr>
          <p:cNvPr id="14" name="Shape 12"/>
          <p:cNvSpPr/>
          <p:nvPr/>
        </p:nvSpPr>
        <p:spPr>
          <a:xfrm>
            <a:off x="6208776" y="1207008"/>
            <a:ext cx="2743200" cy="1664208"/>
          </a:xfrm>
          <a:prstGeom prst="roundRect">
            <a:avLst>
              <a:gd name="adj" fmla="val 4396"/>
            </a:avLst>
          </a:prstGeom>
          <a:solidFill>
            <a:srgbClr val="1A2D3F"/>
          </a:solidFill>
          <a:ln w="12700">
            <a:solidFill>
              <a:srgbClr val="0EA5A0"/>
            </a:solidFill>
            <a:prstDash val="solid"/>
          </a:ln>
        </p:spPr>
      </p:sp>
      <p:sp>
        <p:nvSpPr>
          <p:cNvPr id="15" name="Text 13"/>
          <p:cNvSpPr/>
          <p:nvPr/>
        </p:nvSpPr>
        <p:spPr>
          <a:xfrm>
            <a:off x="6318504" y="1261872"/>
            <a:ext cx="2514600" cy="274320"/>
          </a:xfrm>
          <a:prstGeom prst="rect">
            <a:avLst/>
          </a:prstGeom>
          <a:noFill/>
          <a:ln/>
        </p:spPr>
        <p:txBody>
          <a:bodyPr wrap="square" rtlCol="0" anchor="ctr"/>
          <a:lstStyle/>
          <a:p>
            <a:pPr indent="0" marL="0">
              <a:buNone/>
            </a:pPr>
            <a:r>
              <a:rPr lang="en-US" sz="1100" b="1" dirty="0">
                <a:solidFill>
                  <a:srgbClr val="0EA5A0"/>
                </a:solidFill>
              </a:rPr>
              <a:t>Contrast</a:t>
            </a:r>
            <a:endParaRPr lang="en-US" sz="1100" dirty="0"/>
          </a:p>
        </p:txBody>
      </p:sp>
      <p:sp>
        <p:nvSpPr>
          <p:cNvPr id="16" name="Text 14"/>
          <p:cNvSpPr/>
          <p:nvPr/>
        </p:nvSpPr>
        <p:spPr>
          <a:xfrm>
            <a:off x="6318504" y="1609344"/>
            <a:ext cx="2514600" cy="347472"/>
          </a:xfrm>
          <a:prstGeom prst="rect">
            <a:avLst/>
          </a:prstGeom>
          <a:noFill/>
          <a:ln/>
        </p:spPr>
        <p:txBody>
          <a:bodyPr wrap="square" rtlCol="0" anchor="ctr"/>
          <a:lstStyle/>
          <a:p>
            <a:pPr indent="0" marL="0">
              <a:buNone/>
            </a:pPr>
            <a:r>
              <a:rPr lang="en-US" sz="850" dirty="0">
                <a:solidFill>
                  <a:srgbClr val="FFFFFF"/>
                </a:solidFill>
              </a:rPr>
              <a:t>□  Text contrast ≥ 4.5:1 (AA) — verified with tool</a:t>
            </a:r>
            <a:endParaRPr lang="en-US" sz="850" dirty="0"/>
          </a:p>
        </p:txBody>
      </p:sp>
      <p:sp>
        <p:nvSpPr>
          <p:cNvPr id="17" name="Text 15"/>
          <p:cNvSpPr/>
          <p:nvPr/>
        </p:nvSpPr>
        <p:spPr>
          <a:xfrm>
            <a:off x="6318504" y="1993392"/>
            <a:ext cx="2514600" cy="347472"/>
          </a:xfrm>
          <a:prstGeom prst="rect">
            <a:avLst/>
          </a:prstGeom>
          <a:noFill/>
          <a:ln/>
        </p:spPr>
        <p:txBody>
          <a:bodyPr wrap="square" rtlCol="0" anchor="ctr"/>
          <a:lstStyle/>
          <a:p>
            <a:pPr indent="0" marL="0">
              <a:buNone/>
            </a:pPr>
            <a:r>
              <a:rPr lang="en-US" sz="850" dirty="0">
                <a:solidFill>
                  <a:srgbClr val="FFFFFF"/>
                </a:solidFill>
              </a:rPr>
              <a:t>□  UI component contrast ≥ 3:1 (buttons, icons)</a:t>
            </a:r>
            <a:endParaRPr lang="en-US" sz="850" dirty="0"/>
          </a:p>
        </p:txBody>
      </p:sp>
      <p:sp>
        <p:nvSpPr>
          <p:cNvPr id="18" name="Text 16"/>
          <p:cNvSpPr/>
          <p:nvPr/>
        </p:nvSpPr>
        <p:spPr>
          <a:xfrm>
            <a:off x="6318504" y="2377440"/>
            <a:ext cx="2514600" cy="347472"/>
          </a:xfrm>
          <a:prstGeom prst="rect">
            <a:avLst/>
          </a:prstGeom>
          <a:noFill/>
          <a:ln/>
        </p:spPr>
        <p:txBody>
          <a:bodyPr wrap="square" rtlCol="0" anchor="ctr"/>
          <a:lstStyle/>
          <a:p>
            <a:pPr indent="0" marL="0">
              <a:buNone/>
            </a:pPr>
            <a:r>
              <a:rPr lang="en-US" sz="850" dirty="0">
                <a:solidFill>
                  <a:srgbClr val="FFFFFF"/>
                </a:solidFill>
              </a:rPr>
              <a:t>□  Focus indicator contrast ≥ 3:1 (WCAG 2.2)</a:t>
            </a:r>
            <a:endParaRPr lang="en-US" sz="850" dirty="0"/>
          </a:p>
        </p:txBody>
      </p:sp>
      <p:sp>
        <p:nvSpPr>
          <p:cNvPr id="19" name="Shape 17"/>
          <p:cNvSpPr/>
          <p:nvPr/>
        </p:nvSpPr>
        <p:spPr>
          <a:xfrm>
            <a:off x="320040" y="2990088"/>
            <a:ext cx="2743200" cy="1664208"/>
          </a:xfrm>
          <a:prstGeom prst="roundRect">
            <a:avLst>
              <a:gd name="adj" fmla="val 4396"/>
            </a:avLst>
          </a:prstGeom>
          <a:solidFill>
            <a:srgbClr val="1A2D3F"/>
          </a:solidFill>
          <a:ln w="12700">
            <a:solidFill>
              <a:srgbClr val="0EA5A0"/>
            </a:solidFill>
            <a:prstDash val="solid"/>
          </a:ln>
        </p:spPr>
      </p:sp>
      <p:sp>
        <p:nvSpPr>
          <p:cNvPr id="20" name="Text 18"/>
          <p:cNvSpPr/>
          <p:nvPr/>
        </p:nvSpPr>
        <p:spPr>
          <a:xfrm>
            <a:off x="429768" y="3044952"/>
            <a:ext cx="2514600" cy="274320"/>
          </a:xfrm>
          <a:prstGeom prst="rect">
            <a:avLst/>
          </a:prstGeom>
          <a:noFill/>
          <a:ln/>
        </p:spPr>
        <p:txBody>
          <a:bodyPr wrap="square" rtlCol="0" anchor="ctr"/>
          <a:lstStyle/>
          <a:p>
            <a:pPr indent="0" marL="0">
              <a:buNone/>
            </a:pPr>
            <a:r>
              <a:rPr lang="en-US" sz="1100" b="1" dirty="0">
                <a:solidFill>
                  <a:srgbClr val="0EA5A0"/>
                </a:solidFill>
              </a:rPr>
              <a:t>Keyboard</a:t>
            </a:r>
            <a:endParaRPr lang="en-US" sz="1100" dirty="0"/>
          </a:p>
        </p:txBody>
      </p:sp>
      <p:sp>
        <p:nvSpPr>
          <p:cNvPr id="21" name="Text 19"/>
          <p:cNvSpPr/>
          <p:nvPr/>
        </p:nvSpPr>
        <p:spPr>
          <a:xfrm>
            <a:off x="429768" y="3392424"/>
            <a:ext cx="2514600" cy="347472"/>
          </a:xfrm>
          <a:prstGeom prst="rect">
            <a:avLst/>
          </a:prstGeom>
          <a:noFill/>
          <a:ln/>
        </p:spPr>
        <p:txBody>
          <a:bodyPr wrap="square" rtlCol="0" anchor="ctr"/>
          <a:lstStyle/>
          <a:p>
            <a:pPr indent="0" marL="0">
              <a:buNone/>
            </a:pPr>
            <a:r>
              <a:rPr lang="en-US" sz="850" dirty="0">
                <a:solidFill>
                  <a:srgbClr val="FFFFFF"/>
                </a:solidFill>
              </a:rPr>
              <a:t>□  All interactions work with Tab/Enter/Space</a:t>
            </a:r>
            <a:endParaRPr lang="en-US" sz="850" dirty="0"/>
          </a:p>
        </p:txBody>
      </p:sp>
      <p:sp>
        <p:nvSpPr>
          <p:cNvPr id="22" name="Text 20"/>
          <p:cNvSpPr/>
          <p:nvPr/>
        </p:nvSpPr>
        <p:spPr>
          <a:xfrm>
            <a:off x="429768" y="3776472"/>
            <a:ext cx="2514600" cy="347472"/>
          </a:xfrm>
          <a:prstGeom prst="rect">
            <a:avLst/>
          </a:prstGeom>
          <a:noFill/>
          <a:ln/>
        </p:spPr>
        <p:txBody>
          <a:bodyPr wrap="square" rtlCol="0" anchor="ctr"/>
          <a:lstStyle/>
          <a:p>
            <a:pPr indent="0" marL="0">
              <a:buNone/>
            </a:pPr>
            <a:r>
              <a:rPr lang="en-US" sz="850" dirty="0">
                <a:solidFill>
                  <a:srgbClr val="FFFFFF"/>
                </a:solidFill>
              </a:rPr>
              <a:t>□  Focus is visible at all times</a:t>
            </a:r>
            <a:endParaRPr lang="en-US" sz="850" dirty="0"/>
          </a:p>
        </p:txBody>
      </p:sp>
      <p:sp>
        <p:nvSpPr>
          <p:cNvPr id="23" name="Text 21"/>
          <p:cNvSpPr/>
          <p:nvPr/>
        </p:nvSpPr>
        <p:spPr>
          <a:xfrm>
            <a:off x="429768" y="4160520"/>
            <a:ext cx="2514600" cy="347472"/>
          </a:xfrm>
          <a:prstGeom prst="rect">
            <a:avLst/>
          </a:prstGeom>
          <a:noFill/>
          <a:ln/>
        </p:spPr>
        <p:txBody>
          <a:bodyPr wrap="square" rtlCol="0" anchor="ctr"/>
          <a:lstStyle/>
          <a:p>
            <a:pPr indent="0" marL="0">
              <a:buNone/>
            </a:pPr>
            <a:r>
              <a:rPr lang="en-US" sz="850" dirty="0">
                <a:solidFill>
                  <a:srgbClr val="FFFFFF"/>
                </a:solidFill>
              </a:rPr>
              <a:t>□  No keyboard trap — user can always exit</a:t>
            </a:r>
            <a:endParaRPr lang="en-US" sz="850" dirty="0"/>
          </a:p>
        </p:txBody>
      </p:sp>
      <p:sp>
        <p:nvSpPr>
          <p:cNvPr id="24" name="Shape 22"/>
          <p:cNvSpPr/>
          <p:nvPr/>
        </p:nvSpPr>
        <p:spPr>
          <a:xfrm>
            <a:off x="3264408" y="2990088"/>
            <a:ext cx="2743200" cy="1664208"/>
          </a:xfrm>
          <a:prstGeom prst="roundRect">
            <a:avLst>
              <a:gd name="adj" fmla="val 4396"/>
            </a:avLst>
          </a:prstGeom>
          <a:solidFill>
            <a:srgbClr val="1A2D3F"/>
          </a:solidFill>
          <a:ln w="12700">
            <a:solidFill>
              <a:srgbClr val="0EA5A0"/>
            </a:solidFill>
            <a:prstDash val="solid"/>
          </a:ln>
        </p:spPr>
      </p:sp>
      <p:sp>
        <p:nvSpPr>
          <p:cNvPr id="25" name="Text 23"/>
          <p:cNvSpPr/>
          <p:nvPr/>
        </p:nvSpPr>
        <p:spPr>
          <a:xfrm>
            <a:off x="3374136" y="3044952"/>
            <a:ext cx="2514600" cy="274320"/>
          </a:xfrm>
          <a:prstGeom prst="rect">
            <a:avLst/>
          </a:prstGeom>
          <a:noFill/>
          <a:ln/>
        </p:spPr>
        <p:txBody>
          <a:bodyPr wrap="square" rtlCol="0" anchor="ctr"/>
          <a:lstStyle/>
          <a:p>
            <a:pPr indent="0" marL="0">
              <a:buNone/>
            </a:pPr>
            <a:r>
              <a:rPr lang="en-US" sz="1100" b="1" dirty="0">
                <a:solidFill>
                  <a:srgbClr val="0EA5A0"/>
                </a:solidFill>
              </a:rPr>
              <a:t>Screen Reader</a:t>
            </a:r>
            <a:endParaRPr lang="en-US" sz="1100" dirty="0"/>
          </a:p>
        </p:txBody>
      </p:sp>
      <p:sp>
        <p:nvSpPr>
          <p:cNvPr id="26" name="Text 24"/>
          <p:cNvSpPr/>
          <p:nvPr/>
        </p:nvSpPr>
        <p:spPr>
          <a:xfrm>
            <a:off x="3374136" y="3392424"/>
            <a:ext cx="2514600" cy="347472"/>
          </a:xfrm>
          <a:prstGeom prst="rect">
            <a:avLst/>
          </a:prstGeom>
          <a:noFill/>
          <a:ln/>
        </p:spPr>
        <p:txBody>
          <a:bodyPr wrap="square" rtlCol="0" anchor="ctr"/>
          <a:lstStyle/>
          <a:p>
            <a:pPr indent="0" marL="0">
              <a:buNone/>
            </a:pPr>
            <a:r>
              <a:rPr lang="en-US" sz="850" dirty="0">
                <a:solidFill>
                  <a:srgbClr val="FFFFFF"/>
                </a:solidFill>
              </a:rPr>
              <a:t>□  Tested with NVDA+Firefox or VoiceOver+Safari</a:t>
            </a:r>
            <a:endParaRPr lang="en-US" sz="850" dirty="0"/>
          </a:p>
        </p:txBody>
      </p:sp>
      <p:sp>
        <p:nvSpPr>
          <p:cNvPr id="27" name="Text 25"/>
          <p:cNvSpPr/>
          <p:nvPr/>
        </p:nvSpPr>
        <p:spPr>
          <a:xfrm>
            <a:off x="3374136" y="3776472"/>
            <a:ext cx="2514600" cy="347472"/>
          </a:xfrm>
          <a:prstGeom prst="rect">
            <a:avLst/>
          </a:prstGeom>
          <a:noFill/>
          <a:ln/>
        </p:spPr>
        <p:txBody>
          <a:bodyPr wrap="square" rtlCol="0" anchor="ctr"/>
          <a:lstStyle/>
          <a:p>
            <a:pPr indent="0" marL="0">
              <a:buNone/>
            </a:pPr>
            <a:r>
              <a:rPr lang="en-US" sz="850" dirty="0">
                <a:solidFill>
                  <a:srgbClr val="FFFFFF"/>
                </a:solidFill>
              </a:rPr>
              <a:t>□  Dynamic content announced via aria-live</a:t>
            </a:r>
            <a:endParaRPr lang="en-US" sz="850" dirty="0"/>
          </a:p>
        </p:txBody>
      </p:sp>
      <p:sp>
        <p:nvSpPr>
          <p:cNvPr id="28" name="Text 26"/>
          <p:cNvSpPr/>
          <p:nvPr/>
        </p:nvSpPr>
        <p:spPr>
          <a:xfrm>
            <a:off x="3374136" y="4160520"/>
            <a:ext cx="2514600" cy="347472"/>
          </a:xfrm>
          <a:prstGeom prst="rect">
            <a:avLst/>
          </a:prstGeom>
          <a:noFill/>
          <a:ln/>
        </p:spPr>
        <p:txBody>
          <a:bodyPr wrap="square" rtlCol="0" anchor="ctr"/>
          <a:lstStyle/>
          <a:p>
            <a:pPr indent="0" marL="0">
              <a:buNone/>
            </a:pPr>
            <a:r>
              <a:rPr lang="en-US" sz="850" dirty="0">
                <a:solidFill>
                  <a:srgbClr val="FFFFFF"/>
                </a:solidFill>
              </a:rPr>
              <a:t>□  No duplicate announcements (alt + visible text)</a:t>
            </a:r>
            <a:endParaRPr lang="en-US" sz="850" dirty="0"/>
          </a:p>
        </p:txBody>
      </p:sp>
      <p:sp>
        <p:nvSpPr>
          <p:cNvPr id="29" name="Shape 27"/>
          <p:cNvSpPr/>
          <p:nvPr/>
        </p:nvSpPr>
        <p:spPr>
          <a:xfrm>
            <a:off x="6208776" y="2990088"/>
            <a:ext cx="2743200" cy="1664208"/>
          </a:xfrm>
          <a:prstGeom prst="roundRect">
            <a:avLst>
              <a:gd name="adj" fmla="val 4396"/>
            </a:avLst>
          </a:prstGeom>
          <a:solidFill>
            <a:srgbClr val="1A2D3F"/>
          </a:solidFill>
          <a:ln w="12700">
            <a:solidFill>
              <a:srgbClr val="0EA5A0"/>
            </a:solidFill>
            <a:prstDash val="solid"/>
          </a:ln>
        </p:spPr>
      </p:sp>
      <p:sp>
        <p:nvSpPr>
          <p:cNvPr id="30" name="Text 28"/>
          <p:cNvSpPr/>
          <p:nvPr/>
        </p:nvSpPr>
        <p:spPr>
          <a:xfrm>
            <a:off x="6318504" y="3044952"/>
            <a:ext cx="2514600" cy="274320"/>
          </a:xfrm>
          <a:prstGeom prst="rect">
            <a:avLst/>
          </a:prstGeom>
          <a:noFill/>
          <a:ln/>
        </p:spPr>
        <p:txBody>
          <a:bodyPr wrap="square" rtlCol="0" anchor="ctr"/>
          <a:lstStyle/>
          <a:p>
            <a:pPr indent="0" marL="0">
              <a:buNone/>
            </a:pPr>
            <a:r>
              <a:rPr lang="en-US" sz="1100" b="1" dirty="0">
                <a:solidFill>
                  <a:srgbClr val="0EA5A0"/>
                </a:solidFill>
              </a:rPr>
              <a:t>Colour</a:t>
            </a:r>
            <a:endParaRPr lang="en-US" sz="1100" dirty="0"/>
          </a:p>
        </p:txBody>
      </p:sp>
      <p:sp>
        <p:nvSpPr>
          <p:cNvPr id="31" name="Text 29"/>
          <p:cNvSpPr/>
          <p:nvPr/>
        </p:nvSpPr>
        <p:spPr>
          <a:xfrm>
            <a:off x="6318504" y="3392424"/>
            <a:ext cx="2514600" cy="347472"/>
          </a:xfrm>
          <a:prstGeom prst="rect">
            <a:avLst/>
          </a:prstGeom>
          <a:noFill/>
          <a:ln/>
        </p:spPr>
        <p:txBody>
          <a:bodyPr wrap="square" rtlCol="0" anchor="ctr"/>
          <a:lstStyle/>
          <a:p>
            <a:pPr indent="0" marL="0">
              <a:buNone/>
            </a:pPr>
            <a:r>
              <a:rPr lang="en-US" sz="850" dirty="0">
                <a:solidFill>
                  <a:srgbClr val="FFFFFF"/>
                </a:solidFill>
              </a:rPr>
              <a:t>□  Colour is not the only conveyor of meaning</a:t>
            </a:r>
            <a:endParaRPr lang="en-US" sz="850" dirty="0"/>
          </a:p>
        </p:txBody>
      </p:sp>
      <p:sp>
        <p:nvSpPr>
          <p:cNvPr id="32" name="Text 30"/>
          <p:cNvSpPr/>
          <p:nvPr/>
        </p:nvSpPr>
        <p:spPr>
          <a:xfrm>
            <a:off x="6318504" y="3776472"/>
            <a:ext cx="2514600" cy="347472"/>
          </a:xfrm>
          <a:prstGeom prst="rect">
            <a:avLst/>
          </a:prstGeom>
          <a:noFill/>
          <a:ln/>
        </p:spPr>
        <p:txBody>
          <a:bodyPr wrap="square" rtlCol="0" anchor="ctr"/>
          <a:lstStyle/>
          <a:p>
            <a:pPr indent="0" marL="0">
              <a:buNone/>
            </a:pPr>
            <a:r>
              <a:rPr lang="en-US" sz="850" dirty="0">
                <a:solidFill>
                  <a:srgbClr val="FFFFFF"/>
                </a:solidFill>
              </a:rPr>
              <a:t>□  Icons/labels added alongside colour differences</a:t>
            </a:r>
            <a:endParaRPr lang="en-US" sz="850" dirty="0"/>
          </a:p>
        </p:txBody>
      </p:sp>
      <p:sp>
        <p:nvSpPr>
          <p:cNvPr id="33" name="Text 31"/>
          <p:cNvSpPr/>
          <p:nvPr/>
        </p:nvSpPr>
        <p:spPr>
          <a:xfrm>
            <a:off x="6318504" y="4160520"/>
            <a:ext cx="2514600" cy="347472"/>
          </a:xfrm>
          <a:prstGeom prst="rect">
            <a:avLst/>
          </a:prstGeom>
          <a:noFill/>
          <a:ln/>
        </p:spPr>
        <p:txBody>
          <a:bodyPr wrap="square" rtlCol="0" anchor="ctr"/>
          <a:lstStyle/>
          <a:p>
            <a:pPr indent="0" marL="0">
              <a:buNone/>
            </a:pPr>
            <a:r>
              <a:rPr lang="en-US" sz="850" dirty="0">
                <a:solidFill>
                  <a:srgbClr val="FFFFFF"/>
                </a:solidFill>
              </a:rPr>
              <a:t>□  Block works in Windows High Contrast mode</a:t>
            </a:r>
            <a:endParaRPr lang="en-US" sz="850" dirty="0"/>
          </a:p>
        </p:txBody>
      </p:sp>
      <p:sp>
        <p:nvSpPr>
          <p:cNvPr id="35" name="Text 32"/>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1371600"/>
            <a:ext cx="4114800" cy="4114800"/>
          </a:xfrm>
          <a:prstGeom prst="ellipse">
            <a:avLst/>
          </a:prstGeom>
          <a:solidFill>
            <a:srgbClr val="0EA5A0">
              <a:alpha val="14000"/>
            </a:srgbClr>
          </a:solidFill>
          <a:ln w="12700">
            <a:solidFill>
              <a:srgbClr val="0EA5A0">
                <a:alpha val="14000"/>
              </a:srgbClr>
            </a:solidFill>
            <a:prstDash val="solid"/>
          </a:ln>
        </p:spPr>
      </p:sp>
      <p:sp>
        <p:nvSpPr>
          <p:cNvPr id="3" name="Text 1"/>
          <p:cNvSpPr/>
          <p:nvPr/>
        </p:nvSpPr>
        <p:spPr>
          <a:xfrm>
            <a:off x="411480" y="457200"/>
            <a:ext cx="7315200" cy="1280160"/>
          </a:xfrm>
          <a:prstGeom prst="rect">
            <a:avLst/>
          </a:prstGeom>
          <a:noFill/>
          <a:ln/>
        </p:spPr>
        <p:txBody>
          <a:bodyPr wrap="square" rtlCol="0" anchor="ctr"/>
          <a:lstStyle/>
          <a:p>
            <a:pPr indent="0" marL="0">
              <a:lnSpc>
                <a:spcPct val="120000"/>
              </a:lnSpc>
              <a:buNone/>
            </a:pPr>
            <a:r>
              <a:rPr lang="en-US" sz="3600" b="1" dirty="0">
                <a:solidFill>
                  <a:srgbClr val="0EA5A0"/>
                </a:solidFill>
                <a:latin typeface="Cambria" pitchFamily="34" charset="0"/>
                <a:ea typeface="Cambria" pitchFamily="34" charset="-122"/>
                <a:cs typeface="Cambria" pitchFamily="34" charset="-120"/>
              </a:rPr>
              <a:t>Accessible blocks are</a:t>
            </a:r>
            <a:endParaRPr lang="en-US" sz="3600" dirty="0"/>
          </a:p>
          <a:p>
            <a:pPr indent="0" marL="0">
              <a:lnSpc>
                <a:spcPct val="120000"/>
              </a:lnSpc>
              <a:buNone/>
            </a:pPr>
            <a:r>
              <a:rPr lang="en-US" sz="3600" b="1" dirty="0">
                <a:solidFill>
                  <a:srgbClr val="0EA5A0"/>
                </a:solidFill>
                <a:latin typeface="Cambria" pitchFamily="34" charset="0"/>
                <a:ea typeface="Cambria" pitchFamily="34" charset="-122"/>
                <a:cs typeface="Cambria" pitchFamily="34" charset="-120"/>
              </a:rPr>
              <a:t>better blocks.</a:t>
            </a:r>
            <a:endParaRPr lang="en-US" sz="3600" dirty="0"/>
          </a:p>
        </p:txBody>
      </p:sp>
      <p:sp>
        <p:nvSpPr>
          <p:cNvPr id="4" name="Text 2"/>
          <p:cNvSpPr/>
          <p:nvPr/>
        </p:nvSpPr>
        <p:spPr>
          <a:xfrm>
            <a:off x="411480" y="1874520"/>
            <a:ext cx="6400800" cy="640080"/>
          </a:xfrm>
          <a:prstGeom prst="rect">
            <a:avLst/>
          </a:prstGeom>
          <a:noFill/>
          <a:ln/>
        </p:spPr>
        <p:txBody>
          <a:bodyPr wrap="square" rtlCol="0" anchor="ctr"/>
          <a:lstStyle/>
          <a:p>
            <a:pPr indent="0" marL="0">
              <a:buNone/>
            </a:pPr>
            <a:r>
              <a:rPr lang="en-US" sz="1600" i="1" dirty="0">
                <a:solidFill>
                  <a:srgbClr val="8DA6B8"/>
                </a:solidFill>
              </a:rPr>
              <a:t>Not an afterthought. Not extra work.</a:t>
            </a:r>
            <a:endParaRPr lang="en-US" sz="1600" dirty="0"/>
          </a:p>
          <a:p>
            <a:pPr indent="0" marL="0">
              <a:buNone/>
            </a:pPr>
            <a:r>
              <a:rPr lang="en-US" sz="1600" i="1" dirty="0">
                <a:solidFill>
                  <a:srgbClr val="8DA6B8"/>
                </a:solidFill>
              </a:rPr>
              <a:t>Built right, from the start.</a:t>
            </a:r>
            <a:endParaRPr lang="en-US" sz="1600" dirty="0"/>
          </a:p>
        </p:txBody>
      </p:sp>
      <p:pic>
        <p:nvPicPr>
          <p:cNvPr id="5" name="Image 0" descr="preencoded.png">    </p:cNvPr>
          <p:cNvPicPr>
            <a:picLocks noChangeAspect="1"/>
          </p:cNvPicPr>
          <p:nvPr/>
        </p:nvPicPr>
        <p:blipFill>
          <a:blip r:embed="rId1"/>
          <a:stretch>
            <a:fillRect/>
          </a:stretch>
        </p:blipFill>
        <p:spPr>
          <a:xfrm>
            <a:off x="457200" y="2697480"/>
            <a:ext cx="219456" cy="219456"/>
          </a:xfrm>
          <a:prstGeom prst="rect">
            <a:avLst/>
          </a:prstGeom>
        </p:spPr>
      </p:pic>
      <p:sp>
        <p:nvSpPr>
          <p:cNvPr id="6" name="Text 3"/>
          <p:cNvSpPr/>
          <p:nvPr/>
        </p:nvSpPr>
        <p:spPr>
          <a:xfrm>
            <a:off x="777240" y="2679192"/>
            <a:ext cx="8046720" cy="274320"/>
          </a:xfrm>
          <a:prstGeom prst="rect">
            <a:avLst/>
          </a:prstGeom>
          <a:noFill/>
          <a:ln/>
        </p:spPr>
        <p:txBody>
          <a:bodyPr wrap="square" rtlCol="0" anchor="ctr"/>
          <a:lstStyle/>
          <a:p>
            <a:pPr indent="0" marL="0">
              <a:buNone/>
            </a:pPr>
            <a:r>
              <a:rPr lang="en-US" sz="1100" dirty="0">
                <a:solidFill>
                  <a:srgbClr val="FFFFFF"/>
                </a:solidFill>
              </a:rPr>
              <a:t>POUR framework: Perceivable · Operable · Understandable · Robust</a:t>
            </a:r>
            <a:endParaRPr lang="en-US" sz="1100" dirty="0"/>
          </a:p>
        </p:txBody>
      </p:sp>
      <p:pic>
        <p:nvPicPr>
          <p:cNvPr id="7" name="Image 1" descr="preencoded.png">    </p:cNvPr>
          <p:cNvPicPr>
            <a:picLocks noChangeAspect="1"/>
          </p:cNvPicPr>
          <p:nvPr/>
        </p:nvPicPr>
        <p:blipFill>
          <a:blip r:embed="rId2"/>
          <a:stretch>
            <a:fillRect/>
          </a:stretch>
        </p:blipFill>
        <p:spPr>
          <a:xfrm>
            <a:off x="457200" y="3081528"/>
            <a:ext cx="219456" cy="219456"/>
          </a:xfrm>
          <a:prstGeom prst="rect">
            <a:avLst/>
          </a:prstGeom>
        </p:spPr>
      </p:pic>
      <p:sp>
        <p:nvSpPr>
          <p:cNvPr id="8" name="Text 4"/>
          <p:cNvSpPr/>
          <p:nvPr/>
        </p:nvSpPr>
        <p:spPr>
          <a:xfrm>
            <a:off x="777240" y="3063240"/>
            <a:ext cx="8046720" cy="274320"/>
          </a:xfrm>
          <a:prstGeom prst="rect">
            <a:avLst/>
          </a:prstGeom>
          <a:noFill/>
          <a:ln/>
        </p:spPr>
        <p:txBody>
          <a:bodyPr wrap="square" rtlCol="0" anchor="ctr"/>
          <a:lstStyle/>
          <a:p>
            <a:pPr indent="0" marL="0">
              <a:buNone/>
            </a:pPr>
            <a:r>
              <a:rPr lang="en-US" sz="1100" dirty="0">
                <a:solidFill>
                  <a:srgbClr val="FFFFFF"/>
                </a:solidFill>
              </a:rPr>
              <a:t>WCAG 2.1 AA + 2.2 new criteria (Focus Not Obscured, 2.4.11)</a:t>
            </a:r>
            <a:endParaRPr lang="en-US" sz="1100" dirty="0"/>
          </a:p>
        </p:txBody>
      </p:sp>
      <p:pic>
        <p:nvPicPr>
          <p:cNvPr id="9" name="Image 2" descr="preencoded.png">    </p:cNvPr>
          <p:cNvPicPr>
            <a:picLocks noChangeAspect="1"/>
          </p:cNvPicPr>
          <p:nvPr/>
        </p:nvPicPr>
        <p:blipFill>
          <a:blip r:embed="rId3"/>
          <a:stretch>
            <a:fillRect/>
          </a:stretch>
        </p:blipFill>
        <p:spPr>
          <a:xfrm>
            <a:off x="457200" y="3465576"/>
            <a:ext cx="219456" cy="219456"/>
          </a:xfrm>
          <a:prstGeom prst="rect">
            <a:avLst/>
          </a:prstGeom>
        </p:spPr>
      </p:pic>
      <p:sp>
        <p:nvSpPr>
          <p:cNvPr id="10" name="Text 5"/>
          <p:cNvSpPr/>
          <p:nvPr/>
        </p:nvSpPr>
        <p:spPr>
          <a:xfrm>
            <a:off x="777240" y="3447288"/>
            <a:ext cx="8046720" cy="274320"/>
          </a:xfrm>
          <a:prstGeom prst="rect">
            <a:avLst/>
          </a:prstGeom>
          <a:noFill/>
          <a:ln/>
        </p:spPr>
        <p:txBody>
          <a:bodyPr wrap="square" rtlCol="0" anchor="ctr"/>
          <a:lstStyle/>
          <a:p>
            <a:pPr indent="0" marL="0">
              <a:buNone/>
            </a:pPr>
            <a:r>
              <a:rPr lang="en-US" sz="1100" dirty="0">
                <a:solidFill>
                  <a:srgbClr val="FFFFFF"/>
                </a:solidFill>
              </a:rPr>
              <a:t>Semantic HTML: &lt;section&gt;, &lt;button&gt;, &lt;h2&gt; — not &lt;div&gt; everything</a:t>
            </a:r>
            <a:endParaRPr lang="en-US" sz="1100" dirty="0"/>
          </a:p>
        </p:txBody>
      </p:sp>
      <p:pic>
        <p:nvPicPr>
          <p:cNvPr id="11" name="Image 3" descr="preencoded.png">    </p:cNvPr>
          <p:cNvPicPr>
            <a:picLocks noChangeAspect="1"/>
          </p:cNvPicPr>
          <p:nvPr/>
        </p:nvPicPr>
        <p:blipFill>
          <a:blip r:embed="rId4"/>
          <a:stretch>
            <a:fillRect/>
          </a:stretch>
        </p:blipFill>
        <p:spPr>
          <a:xfrm>
            <a:off x="457200" y="3849624"/>
            <a:ext cx="219456" cy="219456"/>
          </a:xfrm>
          <a:prstGeom prst="rect">
            <a:avLst/>
          </a:prstGeom>
        </p:spPr>
      </p:pic>
      <p:sp>
        <p:nvSpPr>
          <p:cNvPr id="12" name="Text 6"/>
          <p:cNvSpPr/>
          <p:nvPr/>
        </p:nvSpPr>
        <p:spPr>
          <a:xfrm>
            <a:off x="777240" y="3831336"/>
            <a:ext cx="8046720" cy="274320"/>
          </a:xfrm>
          <a:prstGeom prst="rect">
            <a:avLst/>
          </a:prstGeom>
          <a:noFill/>
          <a:ln/>
        </p:spPr>
        <p:txBody>
          <a:bodyPr wrap="square" rtlCol="0" anchor="ctr"/>
          <a:lstStyle/>
          <a:p>
            <a:pPr indent="0" marL="0">
              <a:buNone/>
            </a:pPr>
            <a:r>
              <a:rPr lang="en-US" sz="1100" dirty="0">
                <a:solidFill>
                  <a:srgbClr val="FFFFFF"/>
                </a:solidFill>
              </a:rPr>
              <a:t>ARIA: role, aria-label, aria-live, aria-hidden — used correctly</a:t>
            </a:r>
            <a:endParaRPr lang="en-US" sz="1100" dirty="0"/>
          </a:p>
        </p:txBody>
      </p:sp>
      <p:pic>
        <p:nvPicPr>
          <p:cNvPr id="13" name="Image 4" descr="preencoded.png">    </p:cNvPr>
          <p:cNvPicPr>
            <a:picLocks noChangeAspect="1"/>
          </p:cNvPicPr>
          <p:nvPr/>
        </p:nvPicPr>
        <p:blipFill>
          <a:blip r:embed="rId5"/>
          <a:stretch>
            <a:fillRect/>
          </a:stretch>
        </p:blipFill>
        <p:spPr>
          <a:xfrm>
            <a:off x="457200" y="4233672"/>
            <a:ext cx="219456" cy="219456"/>
          </a:xfrm>
          <a:prstGeom prst="rect">
            <a:avLst/>
          </a:prstGeom>
        </p:spPr>
      </p:pic>
      <p:sp>
        <p:nvSpPr>
          <p:cNvPr id="14" name="Text 7"/>
          <p:cNvSpPr/>
          <p:nvPr/>
        </p:nvSpPr>
        <p:spPr>
          <a:xfrm>
            <a:off x="777240" y="4215384"/>
            <a:ext cx="8046720" cy="274320"/>
          </a:xfrm>
          <a:prstGeom prst="rect">
            <a:avLst/>
          </a:prstGeom>
          <a:noFill/>
          <a:ln/>
        </p:spPr>
        <p:txBody>
          <a:bodyPr wrap="square" rtlCol="0" anchor="ctr"/>
          <a:lstStyle/>
          <a:p>
            <a:pPr indent="0" marL="0">
              <a:buNone/>
            </a:pPr>
            <a:r>
              <a:rPr lang="en-US" sz="1100" dirty="0">
                <a:solidFill>
                  <a:srgbClr val="FFFFFF"/>
                </a:solidFill>
              </a:rPr>
              <a:t>Colour contrast 4.5:1, colour independence, focus visible</a:t>
            </a:r>
            <a:endParaRPr lang="en-US" sz="1100" dirty="0"/>
          </a:p>
        </p:txBody>
      </p:sp>
      <p:pic>
        <p:nvPicPr>
          <p:cNvPr id="15" name="Image 5" descr="preencoded.png">    </p:cNvPr>
          <p:cNvPicPr>
            <a:picLocks noChangeAspect="1"/>
          </p:cNvPicPr>
          <p:nvPr/>
        </p:nvPicPr>
        <p:blipFill>
          <a:blip r:embed="rId6"/>
          <a:stretch>
            <a:fillRect/>
          </a:stretch>
        </p:blipFill>
        <p:spPr>
          <a:xfrm>
            <a:off x="457200" y="4617720"/>
            <a:ext cx="219456" cy="219456"/>
          </a:xfrm>
          <a:prstGeom prst="rect">
            <a:avLst/>
          </a:prstGeom>
        </p:spPr>
      </p:pic>
      <p:sp>
        <p:nvSpPr>
          <p:cNvPr id="16" name="Text 8"/>
          <p:cNvSpPr/>
          <p:nvPr/>
        </p:nvSpPr>
        <p:spPr>
          <a:xfrm>
            <a:off x="777240" y="4599432"/>
            <a:ext cx="8046720" cy="274320"/>
          </a:xfrm>
          <a:prstGeom prst="rect">
            <a:avLst/>
          </a:prstGeom>
          <a:noFill/>
          <a:ln/>
        </p:spPr>
        <p:txBody>
          <a:bodyPr wrap="square" rtlCol="0" anchor="ctr"/>
          <a:lstStyle/>
          <a:p>
            <a:pPr indent="0" marL="0">
              <a:buNone/>
            </a:pPr>
            <a:r>
              <a:rPr lang="en-US" sz="1100" dirty="0">
                <a:solidFill>
                  <a:srgbClr val="FFFFFF"/>
                </a:solidFill>
              </a:rPr>
              <a:t>Tested with axe DevTools, keyboard navigation, screen reader</a:t>
            </a:r>
            <a:endParaRPr lang="en-US" sz="1100" dirty="0"/>
          </a:p>
        </p:txBody>
      </p:sp>
      <p:sp>
        <p:nvSpPr>
          <p:cNvPr id="17" name="Text 9"/>
          <p:cNvSpPr/>
          <p:nvPr/>
        </p:nvSpPr>
        <p:spPr>
          <a:xfrm>
            <a:off x="411480" y="4754880"/>
            <a:ext cx="8321040" cy="201168"/>
          </a:xfrm>
          <a:prstGeom prst="rect">
            <a:avLst/>
          </a:prstGeom>
          <a:noFill/>
          <a:ln/>
        </p:spPr>
        <p:txBody>
          <a:bodyPr wrap="square" rtlCol="0" anchor="ctr"/>
          <a:lstStyle/>
          <a:p>
            <a:pPr indent="0" marL="0">
              <a:buNone/>
            </a:pPr>
            <a:r>
              <a:rPr lang="en-US" sz="850" dirty="0">
                <a:solidFill>
                  <a:srgbClr val="8DA6B8"/>
                </a:solidFill>
              </a:rPr>
              <a:t>Resources → developer.wordpress.org/block-editor/  ·  webaim.org  ·  a11yproject.com  ·  www.w3.org/WAI/</a:t>
            </a:r>
            <a:endParaRPr lang="en-US" sz="850" dirty="0"/>
          </a:p>
        </p:txBody>
      </p:sp>
      <p:sp>
        <p:nvSpPr>
          <p:cNvPr id="18" name="Text 10"/>
          <p:cNvSpPr/>
          <p:nvPr/>
        </p:nvSpPr>
        <p:spPr>
          <a:xfrm>
            <a:off x="8641080" y="4823460"/>
            <a:ext cx="320040" cy="182880"/>
          </a:xfrm>
          <a:prstGeom prst="rect">
            <a:avLst/>
          </a:prstGeom>
          <a:noFill/>
          <a:ln/>
        </p:spPr>
        <p:txBody>
          <a:bodyPr wrap="square" rtlCol="0" anchor="ctr"/>
          <a:lstStyle/>
          <a:p>
            <a:pPr algn="r" indent="0" marL="0">
              <a:buNone/>
            </a:pPr>
            <a:r>
              <a:rPr lang="en-US" sz="900" dirty="0">
                <a:solidFill>
                  <a:srgbClr val="8DA6B8"/>
                </a:solidFill>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Your First Accessible Gutenberg Block — Accessibility Day 2026</dc:title>
  <dc:subject>PptxGenJS Presentation</dc:subject>
  <dc:creator>Emilio Dominguez</dc:creator>
  <cp:lastModifiedBy>Emilio Dominguez</cp:lastModifiedBy>
  <cp:revision>1</cp:revision>
  <dcterms:created xsi:type="dcterms:W3CDTF">2026-06-16T02:22:07Z</dcterms:created>
  <dcterms:modified xsi:type="dcterms:W3CDTF">2026-06-16T02:22:07Z</dcterms:modified>
</cp:coreProperties>
</file>